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9" r:id="rId2"/>
    <p:sldId id="270" r:id="rId3"/>
    <p:sldId id="271" r:id="rId4"/>
    <p:sldId id="272" r:id="rId5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orient="horz" pos="6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3DCE6"/>
    <a:srgbClr val="EFF6FF"/>
    <a:srgbClr val="333333"/>
    <a:srgbClr val="E0E0E0"/>
    <a:srgbClr val="F5F5F5"/>
    <a:srgbClr val="F9FBFC"/>
    <a:srgbClr val="F8FAF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598" autoAdjust="0"/>
    <p:restoredTop sz="94660"/>
  </p:normalViewPr>
  <p:slideViewPr>
    <p:cSldViewPr snapToGrid="0" showGuides="1">
      <p:cViewPr varScale="1">
        <p:scale>
          <a:sx n="66" d="100"/>
          <a:sy n="66" d="100"/>
        </p:scale>
        <p:origin x="76" y="884"/>
      </p:cViewPr>
      <p:guideLst>
        <p:guide orient="horz" pos="2160"/>
        <p:guide pos="3840"/>
        <p:guide orient="horz" pos="6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409CCD3A-AEFA-40D6-9A05-5E50EDBF10FF}"/>
              </a:ext>
            </a:extLst>
          </p:cNvPr>
          <p:cNvCxnSpPr>
            <a:cxnSpLocks/>
          </p:cNvCxnSpPr>
          <p:nvPr userDrawn="1"/>
        </p:nvCxnSpPr>
        <p:spPr>
          <a:xfrm>
            <a:off x="650471" y="0"/>
            <a:ext cx="0" cy="685800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435266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1121117D-B88A-4A41-89B1-ADE554ED215A}"/>
              </a:ext>
            </a:extLst>
          </p:cNvPr>
          <p:cNvCxnSpPr>
            <a:cxnSpLocks/>
          </p:cNvCxnSpPr>
          <p:nvPr userDrawn="1"/>
        </p:nvCxnSpPr>
        <p:spPr>
          <a:xfrm>
            <a:off x="548640" y="432262"/>
            <a:ext cx="798022" cy="0"/>
          </a:xfrm>
          <a:prstGeom prst="line">
            <a:avLst/>
          </a:prstGeom>
          <a:ln w="28575">
            <a:solidFill>
              <a:schemeClr val="tx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267808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제목 및 내용">
    <p:bg>
      <p:bgPr>
        <a:solidFill>
          <a:srgbClr val="F8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1121117D-B88A-4A41-89B1-ADE554ED215A}"/>
              </a:ext>
            </a:extLst>
          </p:cNvPr>
          <p:cNvCxnSpPr>
            <a:cxnSpLocks/>
          </p:cNvCxnSpPr>
          <p:nvPr userDrawn="1"/>
        </p:nvCxnSpPr>
        <p:spPr>
          <a:xfrm>
            <a:off x="548640" y="432262"/>
            <a:ext cx="798022" cy="0"/>
          </a:xfrm>
          <a:prstGeom prst="line">
            <a:avLst/>
          </a:prstGeom>
          <a:ln w="28575">
            <a:solidFill>
              <a:schemeClr val="tx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065052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D298B65-F4CB-4775-966C-7872B5CEA4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C82CF15-065A-4E86-98D6-6B4B8F538F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526CBE9-B69B-4656-B712-F462D22321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F1FBC4-7606-4365-936D-FA197F527325}" type="datetimeFigureOut">
              <a:rPr lang="ko-KR" altLang="en-US" smtClean="0"/>
              <a:t>2026-03-24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E7FE517-7134-4F0A-B4D4-C7270D8003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E3DFE51-2A71-472E-8549-0DAC288044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196E50-242B-4D51-B40C-EA1808E5B14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035296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1BBB7F5-13A7-459E-B2D6-A06A84825D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DDA95DE-6D2D-418A-9521-FD35A464722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28EA2360-CBAA-4A4C-AB96-6CAF7DAB657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673769A9-7C97-4F4A-AE99-4B069B07D4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F1FBC4-7606-4365-936D-FA197F527325}" type="datetimeFigureOut">
              <a:rPr lang="ko-KR" altLang="en-US" smtClean="0"/>
              <a:t>2026-03-24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F75B0818-745B-461D-AB35-3691F188D3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372600C-4A42-4BAD-AF29-D16E0F73AD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196E50-242B-4D51-B40C-EA1808E5B14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609580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1D2B54E-9514-48BB-80C8-06CE73E0F5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1E9F7CD-81AF-405C-9337-3B53A3EE29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43892E1-A7B3-413C-9B04-FBA7DFC5BFD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0BBAD67B-9ADD-43D5-BAFA-6CAF29CB6A1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EE0402B9-4588-46FF-808B-E3B2BFEA218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E8EEF440-0DF3-44BF-B0EC-2233B00F1F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F1FBC4-7606-4365-936D-FA197F527325}" type="datetimeFigureOut">
              <a:rPr lang="ko-KR" altLang="en-US" smtClean="0"/>
              <a:t>2026-03-24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FE7DF248-0F94-4C77-A8D0-6553317320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48A0661E-5051-4F8D-B67A-D105C68E32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196E50-242B-4D51-B40C-EA1808E5B14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141726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7FCAE28-A7F4-4602-882D-3F448BE15F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67FD5CD8-A9E6-472B-8A59-3655D75B1D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F1FBC4-7606-4365-936D-FA197F527325}" type="datetimeFigureOut">
              <a:rPr lang="ko-KR" altLang="en-US" smtClean="0"/>
              <a:t>2026-03-24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1D86C6FA-9644-4139-81E9-5D35BC3305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12F01F6B-F18C-4AD4-A26B-E57C261D98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196E50-242B-4D51-B40C-EA1808E5B14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038967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7DFFD921-A994-42F0-A43B-0F74D11BFF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F1FBC4-7606-4365-936D-FA197F527325}" type="datetimeFigureOut">
              <a:rPr lang="ko-KR" altLang="en-US" smtClean="0"/>
              <a:t>2026-03-24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232D510B-92E5-4598-A4CE-E818491A42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85D3E6D-BEAA-4A86-BDD3-0EBFEBABF2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196E50-242B-4D51-B40C-EA1808E5B14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303425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F42E319-B42B-4713-A473-FE70BB233E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AF6CDA2-3ACF-4C5C-A16F-8ADE379FCD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906C05C4-B73F-4E72-ADEE-D9190B48CAD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D1BF957-2981-4A07-BD29-E98CAE0411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F1FBC4-7606-4365-936D-FA197F527325}" type="datetimeFigureOut">
              <a:rPr lang="ko-KR" altLang="en-US" smtClean="0"/>
              <a:t>2026-03-24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F244B6C-A6BD-447E-A94F-3A31A44FE0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C94776DD-A3EB-4192-BD3D-AA51576718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196E50-242B-4D51-B40C-EA1808E5B14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433311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CFF7E3E-658B-4B52-AC00-272F825666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74AA7F5C-1BF2-463A-900A-E018ECCF251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E79A50FB-57FD-4543-9D76-5AB191E3D32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6C7D4DF-48CA-4319-91F1-5A493488B9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F1FBC4-7606-4365-936D-FA197F527325}" type="datetimeFigureOut">
              <a:rPr lang="ko-KR" altLang="en-US" smtClean="0"/>
              <a:t>2026-03-24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58669EDA-9065-4702-981C-63016C3E6C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523D31E-F3B1-4EEB-9795-1C2D0A08E9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196E50-242B-4D51-B40C-EA1808E5B14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05892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67C54A5-14B2-4291-A863-73823A1A89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826842BE-4F5F-4B74-AF95-DA9ACDEC98C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F37454E-8FE0-45E3-B2E3-C826A13F52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F1FBC4-7606-4365-936D-FA197F527325}" type="datetimeFigureOut">
              <a:rPr lang="ko-KR" altLang="en-US" smtClean="0"/>
              <a:t>2026-03-24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17E775C-597D-443B-854D-669B59A0F6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2F96C04-3DB6-480A-B5E6-FF8686C3DA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196E50-242B-4D51-B40C-EA1808E5B14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0070158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2053F94E-8567-4C33-9AB4-A6E8CCEE857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C4A2845A-22F8-41D6-BFCB-08804FB797C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455E065-89AB-4DED-A937-D1E6107F02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F1FBC4-7606-4365-936D-FA197F527325}" type="datetimeFigureOut">
              <a:rPr lang="ko-KR" altLang="en-US" smtClean="0"/>
              <a:t>2026-03-24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710EA28-3F79-4129-89BB-9B4F348114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3AF2A2C-DCBF-4E05-91E9-E92A284111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196E50-242B-4D51-B40C-EA1808E5B14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177855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5051C4B5-CA61-4910-B10C-1C0982732F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DB36EE4-4BF2-40DD-8668-A75C525A63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815CE2E-315A-4BAC-9725-6A067A28932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FF1FBC4-7606-4365-936D-FA197F527325}" type="datetimeFigureOut">
              <a:rPr lang="ko-KR" altLang="en-US" smtClean="0"/>
              <a:t>2026-03-24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61B9479-A290-4A37-BE6F-BADF5422108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630BC4E-1098-4A08-8E69-617DE655339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D196E50-242B-4D51-B40C-EA1808E5B14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123193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6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제목 1">
            <a:extLst>
              <a:ext uri="{FF2B5EF4-FFF2-40B4-BE49-F238E27FC236}">
                <a16:creationId xmlns:a16="http://schemas.microsoft.com/office/drawing/2014/main" id="{05BCAF62-D4BF-460D-8135-96EB901E9318}"/>
              </a:ext>
            </a:extLst>
          </p:cNvPr>
          <p:cNvSpPr txBox="1">
            <a:spLocks/>
          </p:cNvSpPr>
          <p:nvPr/>
        </p:nvSpPr>
        <p:spPr>
          <a:xfrm>
            <a:off x="3517179" y="4890134"/>
            <a:ext cx="5157642" cy="113326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ko-KR" altLang="en-US" sz="2400" dirty="0">
                <a:latin typeface="a시월구일3" panose="02020600000000000000" pitchFamily="18" charset="-127"/>
                <a:ea typeface="a시월구일3" panose="02020600000000000000" pitchFamily="18" charset="-127"/>
              </a:rPr>
              <a:t>생성형 </a:t>
            </a:r>
            <a:r>
              <a:rPr lang="en-US" altLang="ko-KR" sz="2400" dirty="0">
                <a:latin typeface="a시월구일3" panose="02020600000000000000" pitchFamily="18" charset="-127"/>
                <a:ea typeface="a시월구일3" panose="02020600000000000000" pitchFamily="18" charset="-127"/>
              </a:rPr>
              <a:t>AI </a:t>
            </a:r>
            <a:r>
              <a:rPr lang="ko-KR" altLang="en-US" sz="2400" dirty="0">
                <a:latin typeface="a시월구일3" panose="02020600000000000000" pitchFamily="18" charset="-127"/>
                <a:ea typeface="a시월구일3" panose="02020600000000000000" pitchFamily="18" charset="-127"/>
              </a:rPr>
              <a:t>개발자 양성과정 </a:t>
            </a:r>
            <a:r>
              <a:rPr lang="en-US" altLang="ko-KR" sz="2400" dirty="0">
                <a:latin typeface="a시월구일3" panose="02020600000000000000" pitchFamily="18" charset="-127"/>
                <a:ea typeface="a시월구일3" panose="02020600000000000000" pitchFamily="18" charset="-127"/>
              </a:rPr>
              <a:t>| </a:t>
            </a:r>
            <a:r>
              <a:rPr lang="ko-KR" altLang="en-US" sz="2400" dirty="0" err="1">
                <a:latin typeface="a시월구일3" panose="02020600000000000000" pitchFamily="18" charset="-127"/>
                <a:ea typeface="a시월구일3" panose="02020600000000000000" pitchFamily="18" charset="-127"/>
              </a:rPr>
              <a:t>진성욱</a:t>
            </a:r>
            <a:endParaRPr lang="ko-KR" altLang="en-US" sz="2400" dirty="0">
              <a:latin typeface="a시월구일3" panose="02020600000000000000" pitchFamily="18" charset="-127"/>
              <a:ea typeface="a시월구일3" panose="02020600000000000000" pitchFamily="18" charset="-127"/>
            </a:endParaRP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D9342C96-386D-9C78-6D4B-C876C6E36523}"/>
              </a:ext>
            </a:extLst>
          </p:cNvPr>
          <p:cNvSpPr txBox="1">
            <a:spLocks/>
          </p:cNvSpPr>
          <p:nvPr/>
        </p:nvSpPr>
        <p:spPr>
          <a:xfrm>
            <a:off x="816208" y="834597"/>
            <a:ext cx="10559584" cy="1717828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lang="ko-KR" altLang="en-US" sz="3600" spc="300" dirty="0">
                <a:latin typeface="a시월구일4" panose="02020600000000000000" pitchFamily="18" charset="-127"/>
                <a:ea typeface="a시월구일4" panose="02020600000000000000" pitchFamily="18" charset="-127"/>
              </a:rPr>
              <a:t>생성형 </a:t>
            </a:r>
            <a:r>
              <a:rPr lang="en-US" altLang="ko-KR" sz="3600" spc="300" dirty="0">
                <a:latin typeface="a시월구일4" panose="02020600000000000000" pitchFamily="18" charset="-127"/>
                <a:ea typeface="a시월구일4" panose="02020600000000000000" pitchFamily="18" charset="-127"/>
              </a:rPr>
              <a:t>AI </a:t>
            </a:r>
            <a:r>
              <a:rPr lang="ko-KR" altLang="en-US" sz="3600" spc="300" dirty="0">
                <a:latin typeface="a시월구일4" panose="02020600000000000000" pitchFamily="18" charset="-127"/>
                <a:ea typeface="a시월구일4" panose="02020600000000000000" pitchFamily="18" charset="-127"/>
              </a:rPr>
              <a:t>기반 자치구별 보건 취약 유형 분석 및 정책 지원 서비스</a:t>
            </a:r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F9EBE895-42F4-09C4-9D7A-062FBA1DE154}"/>
              </a:ext>
            </a:extLst>
          </p:cNvPr>
          <p:cNvSpPr txBox="1">
            <a:spLocks/>
          </p:cNvSpPr>
          <p:nvPr/>
        </p:nvSpPr>
        <p:spPr>
          <a:xfrm>
            <a:off x="3517179" y="4460836"/>
            <a:ext cx="5157642" cy="56663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ko-KR" sz="2400" dirty="0">
                <a:latin typeface="a시월구일3" panose="02020600000000000000" pitchFamily="18" charset="-127"/>
                <a:ea typeface="a시월구일3" panose="02020600000000000000" pitchFamily="18" charset="-127"/>
              </a:rPr>
              <a:t>2026.03.24</a:t>
            </a:r>
            <a:endParaRPr lang="ko-KR" altLang="en-US" sz="2400" dirty="0">
              <a:latin typeface="a시월구일3" panose="02020600000000000000" pitchFamily="18" charset="-127"/>
              <a:ea typeface="a시월구일3" panose="02020600000000000000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7999359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16C09D-105C-15CB-53B0-392CCA3EC2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TextBox 32">
            <a:extLst>
              <a:ext uri="{FF2B5EF4-FFF2-40B4-BE49-F238E27FC236}">
                <a16:creationId xmlns:a16="http://schemas.microsoft.com/office/drawing/2014/main" id="{FE452065-003A-C266-7A7C-34BEA9EED900}"/>
              </a:ext>
            </a:extLst>
          </p:cNvPr>
          <p:cNvSpPr txBox="1"/>
          <p:nvPr/>
        </p:nvSpPr>
        <p:spPr>
          <a:xfrm>
            <a:off x="516749" y="379988"/>
            <a:ext cx="2192908" cy="489365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400" dirty="0">
                <a:latin typeface="a시월구일3" panose="02020600000000000000" pitchFamily="18" charset="-127"/>
                <a:ea typeface="a시월구일3" panose="02020600000000000000" pitchFamily="18" charset="-127"/>
                <a:cs typeface="+mj-cs"/>
              </a:rPr>
              <a:t>2. </a:t>
            </a:r>
            <a:r>
              <a:rPr lang="ko-KR" altLang="en-US" sz="2400" dirty="0">
                <a:latin typeface="a시월구일3" panose="02020600000000000000" pitchFamily="18" charset="-127"/>
                <a:ea typeface="a시월구일3" panose="02020600000000000000" pitchFamily="18" charset="-127"/>
                <a:cs typeface="+mj-cs"/>
              </a:rPr>
              <a:t>기획 의도</a:t>
            </a:r>
            <a:r>
              <a:rPr lang="en-US" altLang="ko-KR" dirty="0">
                <a:latin typeface="a시월구일3" panose="02020600000000000000" pitchFamily="18" charset="-127"/>
                <a:ea typeface="a시월구일3" panose="02020600000000000000" pitchFamily="18" charset="-127"/>
                <a:cs typeface="+mj-cs"/>
              </a:rPr>
              <a:t>(1/2)</a:t>
            </a:r>
            <a:endParaRPr lang="en-US" altLang="ko-KR" sz="2400" dirty="0">
              <a:latin typeface="a시월구일3" panose="02020600000000000000" pitchFamily="18" charset="-127"/>
              <a:ea typeface="a시월구일3" panose="02020600000000000000" pitchFamily="18" charset="-127"/>
              <a:cs typeface="+mj-cs"/>
            </a:endParaRPr>
          </a:p>
        </p:txBody>
      </p:sp>
      <p:grpSp>
        <p:nvGrpSpPr>
          <p:cNvPr id="44" name="그룹 43">
            <a:extLst>
              <a:ext uri="{FF2B5EF4-FFF2-40B4-BE49-F238E27FC236}">
                <a16:creationId xmlns:a16="http://schemas.microsoft.com/office/drawing/2014/main" id="{1B004BA2-90C2-0783-4768-530CC51F1823}"/>
              </a:ext>
            </a:extLst>
          </p:cNvPr>
          <p:cNvGrpSpPr/>
          <p:nvPr/>
        </p:nvGrpSpPr>
        <p:grpSpPr>
          <a:xfrm>
            <a:off x="1550279" y="1223846"/>
            <a:ext cx="2628886" cy="2708893"/>
            <a:chOff x="120622" y="1253507"/>
            <a:chExt cx="3940178" cy="4060093"/>
          </a:xfrm>
        </p:grpSpPr>
        <p:sp>
          <p:nvSpPr>
            <p:cNvPr id="11" name="사각형: 둥근 모서리 10">
              <a:extLst>
                <a:ext uri="{FF2B5EF4-FFF2-40B4-BE49-F238E27FC236}">
                  <a16:creationId xmlns:a16="http://schemas.microsoft.com/office/drawing/2014/main" id="{81CC2694-595C-43BB-0EF0-F51171050528}"/>
                </a:ext>
              </a:extLst>
            </p:cNvPr>
            <p:cNvSpPr/>
            <p:nvPr/>
          </p:nvSpPr>
          <p:spPr>
            <a:xfrm>
              <a:off x="120622" y="1253507"/>
              <a:ext cx="3940178" cy="4060093"/>
            </a:xfrm>
            <a:prstGeom prst="roundRect">
              <a:avLst>
                <a:gd name="adj" fmla="val 3177"/>
              </a:avLst>
            </a:prstGeom>
            <a:solidFill>
              <a:schemeClr val="bg1"/>
            </a:solidFill>
            <a:ln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pic>
          <p:nvPicPr>
            <p:cNvPr id="32" name="그림 31">
              <a:extLst>
                <a:ext uri="{FF2B5EF4-FFF2-40B4-BE49-F238E27FC236}">
                  <a16:creationId xmlns:a16="http://schemas.microsoft.com/office/drawing/2014/main" id="{DB7C4280-FAB1-551E-199C-1F6B350E223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29694" y="1361576"/>
              <a:ext cx="3722035" cy="3843955"/>
            </a:xfrm>
            <a:prstGeom prst="rect">
              <a:avLst/>
            </a:prstGeom>
          </p:spPr>
        </p:pic>
      </p:grpSp>
      <p:grpSp>
        <p:nvGrpSpPr>
          <p:cNvPr id="58" name="그룹 57">
            <a:extLst>
              <a:ext uri="{FF2B5EF4-FFF2-40B4-BE49-F238E27FC236}">
                <a16:creationId xmlns:a16="http://schemas.microsoft.com/office/drawing/2014/main" id="{945D88BB-A6B2-3633-9033-CDB0640ED4DD}"/>
              </a:ext>
            </a:extLst>
          </p:cNvPr>
          <p:cNvGrpSpPr/>
          <p:nvPr/>
        </p:nvGrpSpPr>
        <p:grpSpPr>
          <a:xfrm>
            <a:off x="4716635" y="1223846"/>
            <a:ext cx="2628885" cy="2708892"/>
            <a:chOff x="4155472" y="1253507"/>
            <a:chExt cx="3940178" cy="4060093"/>
          </a:xfrm>
        </p:grpSpPr>
        <p:sp>
          <p:nvSpPr>
            <p:cNvPr id="37" name="사각형: 둥근 모서리 36">
              <a:extLst>
                <a:ext uri="{FF2B5EF4-FFF2-40B4-BE49-F238E27FC236}">
                  <a16:creationId xmlns:a16="http://schemas.microsoft.com/office/drawing/2014/main" id="{731E81FC-5095-5AC3-2326-10ED8860FE6A}"/>
                </a:ext>
              </a:extLst>
            </p:cNvPr>
            <p:cNvSpPr/>
            <p:nvPr/>
          </p:nvSpPr>
          <p:spPr>
            <a:xfrm>
              <a:off x="4155472" y="1253507"/>
              <a:ext cx="3940178" cy="4060093"/>
            </a:xfrm>
            <a:prstGeom prst="roundRect">
              <a:avLst>
                <a:gd name="adj" fmla="val 3177"/>
              </a:avLst>
            </a:prstGeom>
            <a:solidFill>
              <a:schemeClr val="bg1"/>
            </a:solidFill>
            <a:ln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pic>
          <p:nvPicPr>
            <p:cNvPr id="48" name="그림 47">
              <a:extLst>
                <a:ext uri="{FF2B5EF4-FFF2-40B4-BE49-F238E27FC236}">
                  <a16:creationId xmlns:a16="http://schemas.microsoft.com/office/drawing/2014/main" id="{394F3956-612D-9DF1-23CE-F7AF30B4DF7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256192" y="1361576"/>
              <a:ext cx="3738739" cy="3899853"/>
            </a:xfrm>
            <a:prstGeom prst="rect">
              <a:avLst/>
            </a:prstGeom>
          </p:spPr>
        </p:pic>
      </p:grpSp>
      <p:grpSp>
        <p:nvGrpSpPr>
          <p:cNvPr id="55" name="그룹 54">
            <a:extLst>
              <a:ext uri="{FF2B5EF4-FFF2-40B4-BE49-F238E27FC236}">
                <a16:creationId xmlns:a16="http://schemas.microsoft.com/office/drawing/2014/main" id="{2C5B0208-E249-E2E1-4679-AF57FBE0089E}"/>
              </a:ext>
            </a:extLst>
          </p:cNvPr>
          <p:cNvGrpSpPr/>
          <p:nvPr/>
        </p:nvGrpSpPr>
        <p:grpSpPr>
          <a:xfrm>
            <a:off x="7882990" y="1218645"/>
            <a:ext cx="2628885" cy="2708892"/>
            <a:chOff x="8180533" y="1253507"/>
            <a:chExt cx="3940178" cy="4060093"/>
          </a:xfrm>
        </p:grpSpPr>
        <p:sp>
          <p:nvSpPr>
            <p:cNvPr id="39" name="사각형: 둥근 모서리 38">
              <a:extLst>
                <a:ext uri="{FF2B5EF4-FFF2-40B4-BE49-F238E27FC236}">
                  <a16:creationId xmlns:a16="http://schemas.microsoft.com/office/drawing/2014/main" id="{069B4B55-2385-E48F-6766-5AD91DC2D9F8}"/>
                </a:ext>
              </a:extLst>
            </p:cNvPr>
            <p:cNvSpPr/>
            <p:nvPr/>
          </p:nvSpPr>
          <p:spPr>
            <a:xfrm>
              <a:off x="8180533" y="1253507"/>
              <a:ext cx="3940178" cy="4060093"/>
            </a:xfrm>
            <a:prstGeom prst="roundRect">
              <a:avLst>
                <a:gd name="adj" fmla="val 3177"/>
              </a:avLst>
            </a:prstGeom>
            <a:solidFill>
              <a:schemeClr val="bg1"/>
            </a:solidFill>
            <a:ln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pic>
          <p:nvPicPr>
            <p:cNvPr id="54" name="그림 53">
              <a:extLst>
                <a:ext uri="{FF2B5EF4-FFF2-40B4-BE49-F238E27FC236}">
                  <a16:creationId xmlns:a16="http://schemas.microsoft.com/office/drawing/2014/main" id="{F22BA3A0-E4B1-E841-8D7F-5ED8245D05E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8315237" y="1361576"/>
              <a:ext cx="3670770" cy="3843955"/>
            </a:xfrm>
            <a:prstGeom prst="rect">
              <a:avLst/>
            </a:prstGeom>
          </p:spPr>
        </p:pic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F636A844-655A-C650-6D10-15EADA4FA1D0}"/>
              </a:ext>
            </a:extLst>
          </p:cNvPr>
          <p:cNvSpPr txBox="1"/>
          <p:nvPr/>
        </p:nvSpPr>
        <p:spPr>
          <a:xfrm>
            <a:off x="1482653" y="5510849"/>
            <a:ext cx="9299720" cy="43396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lang="en-US" altLang="ko-KR" dirty="0">
                <a:latin typeface="a시월구일3" panose="02020600000000000000" pitchFamily="18" charset="-127"/>
                <a:ea typeface="a시월구일3" panose="02020600000000000000" pitchFamily="18" charset="-127"/>
                <a:cs typeface="+mj-cs"/>
              </a:rPr>
              <a:t>“</a:t>
            </a:r>
            <a:r>
              <a:rPr lang="ko-KR" altLang="en-US" dirty="0">
                <a:latin typeface="a시월구일3" panose="02020600000000000000" pitchFamily="18" charset="-127"/>
                <a:ea typeface="a시월구일3" panose="02020600000000000000" pitchFamily="18" charset="-127"/>
                <a:cs typeface="+mj-cs"/>
              </a:rPr>
              <a:t>단순 미세먼지 정보 제공을 넘어</a:t>
            </a:r>
            <a:r>
              <a:rPr lang="en-US" altLang="ko-KR" dirty="0">
                <a:latin typeface="a시월구일3" panose="02020600000000000000" pitchFamily="18" charset="-127"/>
                <a:ea typeface="a시월구일3" panose="02020600000000000000" pitchFamily="18" charset="-127"/>
                <a:cs typeface="+mj-cs"/>
              </a:rPr>
              <a:t>, </a:t>
            </a:r>
            <a:r>
              <a:rPr lang="ko-KR" altLang="en-US" sz="2400" dirty="0">
                <a:solidFill>
                  <a:srgbClr val="0070C0"/>
                </a:solidFill>
                <a:latin typeface="a시월구일3" panose="02020600000000000000" pitchFamily="18" charset="-127"/>
                <a:ea typeface="a시월구일3" panose="02020600000000000000" pitchFamily="18" charset="-127"/>
                <a:cs typeface="+mj-cs"/>
              </a:rPr>
              <a:t>실제 건강 위험도를 반영한 분석 </a:t>
            </a:r>
            <a:r>
              <a:rPr lang="ko-KR" altLang="en-US" sz="2400" dirty="0">
                <a:latin typeface="a시월구일3" panose="02020600000000000000" pitchFamily="18" charset="-127"/>
                <a:ea typeface="a시월구일3" panose="02020600000000000000" pitchFamily="18" charset="-127"/>
                <a:cs typeface="+mj-cs"/>
              </a:rPr>
              <a:t>필요</a:t>
            </a:r>
            <a:r>
              <a:rPr lang="en-US" altLang="ko-KR" dirty="0">
                <a:latin typeface="a시월구일3" panose="02020600000000000000" pitchFamily="18" charset="-127"/>
                <a:ea typeface="a시월구일3" panose="02020600000000000000" pitchFamily="18" charset="-127"/>
                <a:cs typeface="+mj-cs"/>
              </a:rPr>
              <a:t>”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61913DCD-39D1-333C-1C02-6AC0D32D110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4260952" y="3705954"/>
            <a:ext cx="3641686" cy="1700414"/>
          </a:xfrm>
          <a:prstGeom prst="rect">
            <a:avLst/>
          </a:prstGeom>
        </p:spPr>
      </p:pic>
      <p:sp>
        <p:nvSpPr>
          <p:cNvPr id="34" name="TextBox 33">
            <a:extLst>
              <a:ext uri="{FF2B5EF4-FFF2-40B4-BE49-F238E27FC236}">
                <a16:creationId xmlns:a16="http://schemas.microsoft.com/office/drawing/2014/main" id="{F9322F45-8C92-821D-0A8D-E9C71B58E605}"/>
              </a:ext>
            </a:extLst>
          </p:cNvPr>
          <p:cNvSpPr txBox="1"/>
          <p:nvPr/>
        </p:nvSpPr>
        <p:spPr>
          <a:xfrm>
            <a:off x="2435080" y="4165965"/>
            <a:ext cx="7293429" cy="325474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dirty="0">
                <a:latin typeface="a시월구일3" panose="02020600000000000000" pitchFamily="18" charset="-127"/>
                <a:ea typeface="a시월구일3" panose="02020600000000000000" pitchFamily="18" charset="-127"/>
                <a:cs typeface="+mj-cs"/>
              </a:rPr>
              <a:t>“</a:t>
            </a:r>
            <a:r>
              <a:rPr lang="ko-KR" altLang="en-US" dirty="0">
                <a:latin typeface="a시월구일3" panose="02020600000000000000" pitchFamily="18" charset="-127"/>
                <a:ea typeface="a시월구일3" panose="02020600000000000000" pitchFamily="18" charset="-127"/>
                <a:cs typeface="+mj-cs"/>
              </a:rPr>
              <a:t>미세먼지는 단순 환경 문제가 아닌 </a:t>
            </a:r>
            <a:r>
              <a:rPr lang="ko-KR" altLang="en-US" dirty="0">
                <a:solidFill>
                  <a:srgbClr val="0070C0"/>
                </a:solidFill>
                <a:latin typeface="a시월구일3" panose="02020600000000000000" pitchFamily="18" charset="-127"/>
                <a:ea typeface="a시월구일3" panose="02020600000000000000" pitchFamily="18" charset="-127"/>
                <a:cs typeface="+mj-cs"/>
              </a:rPr>
              <a:t>건강 위험 문제로 확대</a:t>
            </a:r>
            <a:r>
              <a:rPr lang="ko-KR" altLang="en-US" dirty="0">
                <a:latin typeface="a시월구일3" panose="02020600000000000000" pitchFamily="18" charset="-127"/>
                <a:ea typeface="a시월구일3" panose="02020600000000000000" pitchFamily="18" charset="-127"/>
                <a:cs typeface="+mj-cs"/>
              </a:rPr>
              <a:t>되고 있음</a:t>
            </a:r>
            <a:r>
              <a:rPr lang="en-US" altLang="ko-KR" dirty="0">
                <a:latin typeface="a시월구일3" panose="02020600000000000000" pitchFamily="18" charset="-127"/>
                <a:ea typeface="a시월구일3" panose="02020600000000000000" pitchFamily="18" charset="-127"/>
                <a:cs typeface="+mj-cs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556588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29DA71-1CFD-6F3D-30DB-0FE057E5C0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TextBox 32">
            <a:extLst>
              <a:ext uri="{FF2B5EF4-FFF2-40B4-BE49-F238E27FC236}">
                <a16:creationId xmlns:a16="http://schemas.microsoft.com/office/drawing/2014/main" id="{540071BF-3309-773D-0644-E72B9F968EBA}"/>
              </a:ext>
            </a:extLst>
          </p:cNvPr>
          <p:cNvSpPr txBox="1"/>
          <p:nvPr/>
        </p:nvSpPr>
        <p:spPr>
          <a:xfrm>
            <a:off x="516749" y="379988"/>
            <a:ext cx="2292294" cy="489365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400" dirty="0">
                <a:latin typeface="a시월구일3" panose="02020600000000000000" pitchFamily="18" charset="-127"/>
                <a:ea typeface="a시월구일3" panose="02020600000000000000" pitchFamily="18" charset="-127"/>
                <a:cs typeface="+mj-cs"/>
              </a:rPr>
              <a:t>2. </a:t>
            </a:r>
            <a:r>
              <a:rPr lang="ko-KR" altLang="en-US" sz="2400" dirty="0">
                <a:latin typeface="a시월구일3" panose="02020600000000000000" pitchFamily="18" charset="-127"/>
                <a:ea typeface="a시월구일3" panose="02020600000000000000" pitchFamily="18" charset="-127"/>
                <a:cs typeface="+mj-cs"/>
              </a:rPr>
              <a:t>기획 의도</a:t>
            </a:r>
            <a:r>
              <a:rPr lang="en-US" altLang="ko-KR" sz="2000" dirty="0">
                <a:latin typeface="a시월구일3" panose="02020600000000000000" pitchFamily="18" charset="-127"/>
                <a:ea typeface="a시월구일3" panose="02020600000000000000" pitchFamily="18" charset="-127"/>
                <a:cs typeface="+mj-cs"/>
              </a:rPr>
              <a:t>(2/2)</a:t>
            </a:r>
            <a:endParaRPr lang="en-US" altLang="ko-KR" sz="2400" dirty="0">
              <a:latin typeface="a시월구일3" panose="02020600000000000000" pitchFamily="18" charset="-127"/>
              <a:ea typeface="a시월구일3" panose="02020600000000000000" pitchFamily="18" charset="-127"/>
              <a:cs typeface="+mj-cs"/>
            </a:endParaRPr>
          </a:p>
        </p:txBody>
      </p:sp>
      <p:sp>
        <p:nvSpPr>
          <p:cNvPr id="92" name="사각형: 둥근 모서리 91">
            <a:extLst>
              <a:ext uri="{FF2B5EF4-FFF2-40B4-BE49-F238E27FC236}">
                <a16:creationId xmlns:a16="http://schemas.microsoft.com/office/drawing/2014/main" id="{B9FA1556-5324-C635-0515-B3C06AA449F2}"/>
              </a:ext>
            </a:extLst>
          </p:cNvPr>
          <p:cNvSpPr/>
          <p:nvPr/>
        </p:nvSpPr>
        <p:spPr>
          <a:xfrm>
            <a:off x="2000478" y="5405481"/>
            <a:ext cx="8294989" cy="1204782"/>
          </a:xfrm>
          <a:prstGeom prst="roundRect">
            <a:avLst>
              <a:gd name="adj" fmla="val 9116"/>
            </a:avLst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ko-KR" altLang="en-US" sz="2400" dirty="0">
                <a:solidFill>
                  <a:schemeClr val="tx1"/>
                </a:solidFill>
                <a:latin typeface="a시월구일3" panose="02020600000000000000" pitchFamily="18" charset="-127"/>
                <a:ea typeface="a시월구일3" panose="02020600000000000000" pitchFamily="18" charset="-127"/>
                <a:cs typeface="+mj-cs"/>
              </a:rPr>
              <a:t>자치구별 </a:t>
            </a:r>
            <a:r>
              <a:rPr lang="ko-KR" altLang="en-US" sz="2400" dirty="0">
                <a:solidFill>
                  <a:srgbClr val="0070C0"/>
                </a:solidFill>
                <a:latin typeface="a시월구일3" panose="02020600000000000000" pitchFamily="18" charset="-127"/>
                <a:ea typeface="a시월구일3" panose="02020600000000000000" pitchFamily="18" charset="-127"/>
                <a:cs typeface="+mj-cs"/>
              </a:rPr>
              <a:t>보건 취약 유형 분석</a:t>
            </a:r>
            <a:r>
              <a:rPr lang="ko-KR" altLang="en-US" sz="2400" dirty="0">
                <a:solidFill>
                  <a:schemeClr val="tx1"/>
                </a:solidFill>
                <a:latin typeface="a시월구일3" panose="02020600000000000000" pitchFamily="18" charset="-127"/>
                <a:ea typeface="a시월구일3" panose="02020600000000000000" pitchFamily="18" charset="-127"/>
                <a:cs typeface="+mj-cs"/>
              </a:rPr>
              <a:t> 및 </a:t>
            </a:r>
            <a:r>
              <a:rPr lang="ko-KR" altLang="en-US" sz="2400" dirty="0">
                <a:solidFill>
                  <a:srgbClr val="0070C0"/>
                </a:solidFill>
                <a:latin typeface="a시월구일3" panose="02020600000000000000" pitchFamily="18" charset="-127"/>
                <a:ea typeface="a시월구일3" panose="02020600000000000000" pitchFamily="18" charset="-127"/>
                <a:cs typeface="+mj-cs"/>
              </a:rPr>
              <a:t>정책 지원 서비스 제공</a:t>
            </a:r>
          </a:p>
        </p:txBody>
      </p:sp>
      <p:grpSp>
        <p:nvGrpSpPr>
          <p:cNvPr id="37" name="그룹 36">
            <a:extLst>
              <a:ext uri="{FF2B5EF4-FFF2-40B4-BE49-F238E27FC236}">
                <a16:creationId xmlns:a16="http://schemas.microsoft.com/office/drawing/2014/main" id="{A41B1EE0-F7E9-9CD2-A4CC-270043739B70}"/>
              </a:ext>
            </a:extLst>
          </p:cNvPr>
          <p:cNvGrpSpPr/>
          <p:nvPr/>
        </p:nvGrpSpPr>
        <p:grpSpPr>
          <a:xfrm>
            <a:off x="774256" y="1143290"/>
            <a:ext cx="10643488" cy="1790927"/>
            <a:chOff x="357021" y="1239884"/>
            <a:chExt cx="10967281" cy="1845410"/>
          </a:xfrm>
        </p:grpSpPr>
        <p:pic>
          <p:nvPicPr>
            <p:cNvPr id="27" name="그림 26">
              <a:extLst>
                <a:ext uri="{FF2B5EF4-FFF2-40B4-BE49-F238E27FC236}">
                  <a16:creationId xmlns:a16="http://schemas.microsoft.com/office/drawing/2014/main" id="{EFAE2A4D-EA72-669B-E97F-C60BBDE44B5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duotone>
                <a:schemeClr val="bg2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5400000">
              <a:off x="4710489" y="1612908"/>
              <a:ext cx="1845410" cy="1099362"/>
            </a:xfrm>
            <a:prstGeom prst="rect">
              <a:avLst/>
            </a:prstGeom>
          </p:spPr>
        </p:pic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BFF83841-2299-B836-B60A-AB629BC5F828}"/>
                </a:ext>
              </a:extLst>
            </p:cNvPr>
            <p:cNvSpPr txBox="1"/>
            <p:nvPr/>
          </p:nvSpPr>
          <p:spPr>
            <a:xfrm>
              <a:off x="6316225" y="1765557"/>
              <a:ext cx="5008077" cy="794064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ct val="130000"/>
                </a:lnSpc>
              </a:pPr>
              <a:r>
                <a:rPr lang="en-US" altLang="ko-KR" dirty="0">
                  <a:latin typeface="a시월구일3" panose="02020600000000000000" pitchFamily="18" charset="-127"/>
                  <a:ea typeface="a시월구일3" panose="02020600000000000000" pitchFamily="18" charset="-127"/>
                  <a:cs typeface="+mj-cs"/>
                </a:rPr>
                <a:t>“</a:t>
              </a:r>
              <a:r>
                <a:rPr lang="ko-KR" altLang="en-US" dirty="0">
                  <a:latin typeface="a시월구일3" panose="02020600000000000000" pitchFamily="18" charset="-127"/>
                  <a:ea typeface="a시월구일3" panose="02020600000000000000" pitchFamily="18" charset="-127"/>
                  <a:cs typeface="+mj-cs"/>
                </a:rPr>
                <a:t>미세먼지 농도 중심 정보는 </a:t>
              </a:r>
              <a:endParaRPr lang="en-US" altLang="ko-KR" dirty="0">
                <a:latin typeface="a시월구일3" panose="02020600000000000000" pitchFamily="18" charset="-127"/>
                <a:ea typeface="a시월구일3" panose="02020600000000000000" pitchFamily="18" charset="-127"/>
                <a:cs typeface="+mj-cs"/>
              </a:endParaRPr>
            </a:p>
            <a:p>
              <a:pPr algn="ctr">
                <a:lnSpc>
                  <a:spcPct val="130000"/>
                </a:lnSpc>
              </a:pPr>
              <a:r>
                <a:rPr lang="ko-KR" altLang="en-US" dirty="0">
                  <a:solidFill>
                    <a:schemeClr val="accent1"/>
                  </a:solidFill>
                  <a:latin typeface="a시월구일3" panose="02020600000000000000" pitchFamily="18" charset="-127"/>
                  <a:ea typeface="a시월구일3" panose="02020600000000000000" pitchFamily="18" charset="-127"/>
                  <a:cs typeface="+mj-cs"/>
                </a:rPr>
                <a:t>실제 건강 위험도를 설명하기에</a:t>
              </a:r>
              <a:r>
                <a:rPr lang="ko-KR" altLang="en-US" dirty="0">
                  <a:latin typeface="a시월구일3" panose="02020600000000000000" pitchFamily="18" charset="-127"/>
                  <a:ea typeface="a시월구일3" panose="02020600000000000000" pitchFamily="18" charset="-127"/>
                  <a:cs typeface="+mj-cs"/>
                </a:rPr>
                <a:t> </a:t>
              </a:r>
              <a:r>
                <a:rPr lang="ko-KR" altLang="en-US" sz="2400" dirty="0">
                  <a:solidFill>
                    <a:srgbClr val="FF0000"/>
                  </a:solidFill>
                  <a:latin typeface="a시월구일3" panose="02020600000000000000" pitchFamily="18" charset="-127"/>
                  <a:ea typeface="a시월구일3" panose="02020600000000000000" pitchFamily="18" charset="-127"/>
                  <a:cs typeface="+mj-cs"/>
                </a:rPr>
                <a:t>한계가 있음</a:t>
              </a:r>
              <a:r>
                <a:rPr lang="en-US" altLang="ko-KR" dirty="0">
                  <a:latin typeface="a시월구일3" panose="02020600000000000000" pitchFamily="18" charset="-127"/>
                  <a:ea typeface="a시월구일3" panose="02020600000000000000" pitchFamily="18" charset="-127"/>
                  <a:cs typeface="+mj-cs"/>
                </a:rPr>
                <a:t>”</a:t>
              </a:r>
            </a:p>
          </p:txBody>
        </p:sp>
        <p:grpSp>
          <p:nvGrpSpPr>
            <p:cNvPr id="36" name="그룹 35">
              <a:extLst>
                <a:ext uri="{FF2B5EF4-FFF2-40B4-BE49-F238E27FC236}">
                  <a16:creationId xmlns:a16="http://schemas.microsoft.com/office/drawing/2014/main" id="{2800D669-598B-AB0C-14B0-85A3BE5ADDD9}"/>
                </a:ext>
              </a:extLst>
            </p:cNvPr>
            <p:cNvGrpSpPr/>
            <p:nvPr/>
          </p:nvGrpSpPr>
          <p:grpSpPr>
            <a:xfrm>
              <a:off x="357021" y="1249006"/>
              <a:ext cx="5062878" cy="1827166"/>
              <a:chOff x="357021" y="1239884"/>
              <a:chExt cx="5062878" cy="1827166"/>
            </a:xfrm>
          </p:grpSpPr>
          <p:grpSp>
            <p:nvGrpSpPr>
              <p:cNvPr id="28" name="그룹 27">
                <a:extLst>
                  <a:ext uri="{FF2B5EF4-FFF2-40B4-BE49-F238E27FC236}">
                    <a16:creationId xmlns:a16="http://schemas.microsoft.com/office/drawing/2014/main" id="{FBE71439-8579-F712-B81B-3D74A706CECA}"/>
                  </a:ext>
                </a:extLst>
              </p:cNvPr>
              <p:cNvGrpSpPr/>
              <p:nvPr/>
            </p:nvGrpSpPr>
            <p:grpSpPr>
              <a:xfrm>
                <a:off x="357021" y="1239884"/>
                <a:ext cx="5062878" cy="1827166"/>
                <a:chOff x="439047" y="1265803"/>
                <a:chExt cx="5587103" cy="2062211"/>
              </a:xfrm>
            </p:grpSpPr>
            <p:pic>
              <p:nvPicPr>
                <p:cNvPr id="26" name="그림 25">
                  <a:extLst>
                    <a:ext uri="{FF2B5EF4-FFF2-40B4-BE49-F238E27FC236}">
                      <a16:creationId xmlns:a16="http://schemas.microsoft.com/office/drawing/2014/main" id="{82FC5BDB-2B3A-9351-83C8-E213D1911590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439047" y="1265803"/>
                  <a:ext cx="5587103" cy="1335426"/>
                </a:xfrm>
                <a:prstGeom prst="rect">
                  <a:avLst/>
                </a:prstGeom>
                <a:ln>
                  <a:noFill/>
                </a:ln>
                <a:effectLst>
                  <a:outerShdw blurRad="292100" dist="139700" dir="2700000" algn="tl" rotWithShape="0">
                    <a:srgbClr val="333333">
                      <a:alpha val="65000"/>
                    </a:srgbClr>
                  </a:outerShdw>
                </a:effectLst>
              </p:spPr>
            </p:pic>
            <p:pic>
              <p:nvPicPr>
                <p:cNvPr id="22" name="그림 21">
                  <a:extLst>
                    <a:ext uri="{FF2B5EF4-FFF2-40B4-BE49-F238E27FC236}">
                      <a16:creationId xmlns:a16="http://schemas.microsoft.com/office/drawing/2014/main" id="{097320AA-71CE-186C-CF90-02C48F7281C0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439047" y="2593925"/>
                  <a:ext cx="5587103" cy="734089"/>
                </a:xfrm>
                <a:prstGeom prst="rect">
                  <a:avLst/>
                </a:prstGeom>
                <a:ln>
                  <a:noFill/>
                </a:ln>
                <a:effectLst>
                  <a:outerShdw blurRad="292100" dist="139700" dir="2700000" algn="tl" rotWithShape="0">
                    <a:srgbClr val="333333">
                      <a:alpha val="65000"/>
                    </a:srgbClr>
                  </a:outerShdw>
                </a:effectLst>
              </p:spPr>
            </p:pic>
          </p:grpSp>
          <p:cxnSp>
            <p:nvCxnSpPr>
              <p:cNvPr id="34" name="직선 연결선 33">
                <a:extLst>
                  <a:ext uri="{FF2B5EF4-FFF2-40B4-BE49-F238E27FC236}">
                    <a16:creationId xmlns:a16="http://schemas.microsoft.com/office/drawing/2014/main" id="{905B7E18-B6E4-4879-F9FB-63C62CF1E84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44500" y="1755775"/>
                <a:ext cx="3313198" cy="0"/>
              </a:xfrm>
              <a:prstGeom prst="line">
                <a:avLst/>
              </a:prstGeom>
              <a:ln w="28575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60" name="그룹 59">
            <a:extLst>
              <a:ext uri="{FF2B5EF4-FFF2-40B4-BE49-F238E27FC236}">
                <a16:creationId xmlns:a16="http://schemas.microsoft.com/office/drawing/2014/main" id="{CA68AEFE-275D-674D-6C5D-16BB7AC9E5E8}"/>
              </a:ext>
            </a:extLst>
          </p:cNvPr>
          <p:cNvGrpSpPr/>
          <p:nvPr/>
        </p:nvGrpSpPr>
        <p:grpSpPr>
          <a:xfrm>
            <a:off x="2167175" y="3157945"/>
            <a:ext cx="7961595" cy="2294134"/>
            <a:chOff x="2000478" y="3274808"/>
            <a:chExt cx="7961595" cy="2294134"/>
          </a:xfrm>
        </p:grpSpPr>
        <p:pic>
          <p:nvPicPr>
            <p:cNvPr id="18" name="그림 17">
              <a:extLst>
                <a:ext uri="{FF2B5EF4-FFF2-40B4-BE49-F238E27FC236}">
                  <a16:creationId xmlns:a16="http://schemas.microsoft.com/office/drawing/2014/main" id="{E90BC241-2770-08CD-B3EC-45915D980DB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duotone>
                <a:schemeClr val="bg2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0800000">
              <a:off x="3477237" y="4112452"/>
              <a:ext cx="5008076" cy="1456490"/>
            </a:xfrm>
            <a:prstGeom prst="rect">
              <a:avLst/>
            </a:prstGeom>
          </p:spPr>
        </p:pic>
        <p:grpSp>
          <p:nvGrpSpPr>
            <p:cNvPr id="59" name="그룹 58">
              <a:extLst>
                <a:ext uri="{FF2B5EF4-FFF2-40B4-BE49-F238E27FC236}">
                  <a16:creationId xmlns:a16="http://schemas.microsoft.com/office/drawing/2014/main" id="{8B6BE83D-2554-5475-6A7B-CE0AD8F2B87C}"/>
                </a:ext>
              </a:extLst>
            </p:cNvPr>
            <p:cNvGrpSpPr/>
            <p:nvPr/>
          </p:nvGrpSpPr>
          <p:grpSpPr>
            <a:xfrm>
              <a:off x="2000478" y="3274808"/>
              <a:ext cx="7961595" cy="1574856"/>
              <a:chOff x="2000478" y="3274808"/>
              <a:chExt cx="7961595" cy="1574856"/>
            </a:xfrm>
          </p:grpSpPr>
          <p:grpSp>
            <p:nvGrpSpPr>
              <p:cNvPr id="56" name="그룹 55">
                <a:extLst>
                  <a:ext uri="{FF2B5EF4-FFF2-40B4-BE49-F238E27FC236}">
                    <a16:creationId xmlns:a16="http://schemas.microsoft.com/office/drawing/2014/main" id="{40BC1789-84DD-2607-A2E9-771D96F06F51}"/>
                  </a:ext>
                </a:extLst>
              </p:cNvPr>
              <p:cNvGrpSpPr/>
              <p:nvPr/>
            </p:nvGrpSpPr>
            <p:grpSpPr>
              <a:xfrm>
                <a:off x="2000478" y="3274808"/>
                <a:ext cx="2374157" cy="1574856"/>
                <a:chOff x="714565" y="3665569"/>
                <a:chExt cx="2374157" cy="1574856"/>
              </a:xfrm>
            </p:grpSpPr>
            <p:sp>
              <p:nvSpPr>
                <p:cNvPr id="40" name="사각형: 둥근 모서리 39">
                  <a:extLst>
                    <a:ext uri="{FF2B5EF4-FFF2-40B4-BE49-F238E27FC236}">
                      <a16:creationId xmlns:a16="http://schemas.microsoft.com/office/drawing/2014/main" id="{A205D2FD-058B-25C0-D69B-89D41D54EA5E}"/>
                    </a:ext>
                  </a:extLst>
                </p:cNvPr>
                <p:cNvSpPr/>
                <p:nvPr/>
              </p:nvSpPr>
              <p:spPr>
                <a:xfrm>
                  <a:off x="714565" y="3665569"/>
                  <a:ext cx="2374157" cy="1574856"/>
                </a:xfrm>
                <a:prstGeom prst="round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b="1" dirty="0">
                    <a:solidFill>
                      <a:schemeClr val="tx1"/>
                    </a:solidFill>
                    <a:latin typeface="a시월구일3" panose="02020600000000000000" pitchFamily="18" charset="-127"/>
                    <a:ea typeface="a시월구일3" panose="02020600000000000000" pitchFamily="18" charset="-127"/>
                    <a:cs typeface="Noto Sans Disp ExtBd" panose="020B0902040504020204" pitchFamily="34"/>
                  </a:endParaRPr>
                </a:p>
              </p:txBody>
            </p:sp>
            <p:sp>
              <p:nvSpPr>
                <p:cNvPr id="49" name="TextBox 48">
                  <a:extLst>
                    <a:ext uri="{FF2B5EF4-FFF2-40B4-BE49-F238E27FC236}">
                      <a16:creationId xmlns:a16="http://schemas.microsoft.com/office/drawing/2014/main" id="{D4D710EA-2717-316D-F0C3-DFC3EE7E8651}"/>
                    </a:ext>
                  </a:extLst>
                </p:cNvPr>
                <p:cNvSpPr txBox="1"/>
                <p:nvPr/>
              </p:nvSpPr>
              <p:spPr>
                <a:xfrm>
                  <a:off x="1184644" y="3858190"/>
                  <a:ext cx="1433999" cy="27699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 anchor="t">
                  <a:spAutoFit/>
                </a:bodyPr>
                <a:lstStyle/>
                <a:p>
                  <a:pPr algn="ctr"/>
                  <a:r>
                    <a:rPr lang="ko-KR" altLang="en-US" b="1" dirty="0">
                      <a:latin typeface="a시월구일3" panose="02020600000000000000" pitchFamily="18" charset="-127"/>
                      <a:ea typeface="a시월구일3" panose="02020600000000000000" pitchFamily="18" charset="-127"/>
                      <a:cs typeface="Noto Sans Disp ExtBd" panose="020B0902040504020204" pitchFamily="34"/>
                    </a:rPr>
                    <a:t>데이터 통합</a:t>
                  </a:r>
                </a:p>
              </p:txBody>
            </p:sp>
            <p:sp>
              <p:nvSpPr>
                <p:cNvPr id="93" name="TextBox 92">
                  <a:extLst>
                    <a:ext uri="{FF2B5EF4-FFF2-40B4-BE49-F238E27FC236}">
                      <a16:creationId xmlns:a16="http://schemas.microsoft.com/office/drawing/2014/main" id="{10FFAE1C-350D-B34F-FD78-1FB5150EFF3F}"/>
                    </a:ext>
                  </a:extLst>
                </p:cNvPr>
                <p:cNvSpPr txBox="1"/>
                <p:nvPr/>
              </p:nvSpPr>
              <p:spPr>
                <a:xfrm>
                  <a:off x="1055679" y="4349199"/>
                  <a:ext cx="1691928" cy="609398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 anchor="t">
                  <a:spAutoFit/>
                </a:bodyPr>
                <a:lstStyle/>
                <a:p>
                  <a:pPr algn="ctr">
                    <a:lnSpc>
                      <a:spcPct val="130000"/>
                    </a:lnSpc>
                  </a:pPr>
                  <a:r>
                    <a:rPr lang="ko-KR" altLang="en-US" sz="1600" b="1" dirty="0">
                      <a:latin typeface="a시월구일1" panose="02020600000000000000" pitchFamily="18" charset="-127"/>
                      <a:ea typeface="a시월구일1" panose="02020600000000000000" pitchFamily="18" charset="-127"/>
                      <a:cs typeface="Noto Sans Disp ExtBd" panose="020B0902040504020204" pitchFamily="34"/>
                    </a:rPr>
                    <a:t>환경 </a:t>
                  </a:r>
                  <a:r>
                    <a:rPr lang="en-US" altLang="ko-KR" sz="1600" b="1" dirty="0">
                      <a:latin typeface="a시월구일1" panose="02020600000000000000" pitchFamily="18" charset="-127"/>
                      <a:ea typeface="a시월구일1" panose="02020600000000000000" pitchFamily="18" charset="-127"/>
                      <a:cs typeface="Noto Sans Disp ExtBd" panose="020B0902040504020204" pitchFamily="34"/>
                    </a:rPr>
                    <a:t>+ </a:t>
                  </a:r>
                  <a:r>
                    <a:rPr lang="ko-KR" altLang="en-US" sz="1600" b="1" dirty="0">
                      <a:latin typeface="a시월구일1" panose="02020600000000000000" pitchFamily="18" charset="-127"/>
                      <a:ea typeface="a시월구일1" panose="02020600000000000000" pitchFamily="18" charset="-127"/>
                      <a:cs typeface="Noto Sans Disp ExtBd" panose="020B0902040504020204" pitchFamily="34"/>
                    </a:rPr>
                    <a:t>보건 </a:t>
                  </a:r>
                  <a:r>
                    <a:rPr lang="en-US" altLang="ko-KR" sz="1600" b="1" dirty="0">
                      <a:latin typeface="a시월구일1" panose="02020600000000000000" pitchFamily="18" charset="-127"/>
                      <a:ea typeface="a시월구일1" panose="02020600000000000000" pitchFamily="18" charset="-127"/>
                      <a:cs typeface="Noto Sans Disp ExtBd" panose="020B0902040504020204" pitchFamily="34"/>
                    </a:rPr>
                    <a:t>+ </a:t>
                  </a:r>
                  <a:r>
                    <a:rPr lang="ko-KR" altLang="en-US" sz="1600" b="1" dirty="0">
                      <a:latin typeface="a시월구일1" panose="02020600000000000000" pitchFamily="18" charset="-127"/>
                      <a:ea typeface="a시월구일1" panose="02020600000000000000" pitchFamily="18" charset="-127"/>
                      <a:cs typeface="Noto Sans Disp ExtBd" panose="020B0902040504020204" pitchFamily="34"/>
                    </a:rPr>
                    <a:t>인구 </a:t>
                  </a:r>
                  <a:endParaRPr lang="en-US" altLang="ko-KR" sz="1600" b="1" dirty="0">
                    <a:latin typeface="a시월구일1" panose="02020600000000000000" pitchFamily="18" charset="-127"/>
                    <a:ea typeface="a시월구일1" panose="02020600000000000000" pitchFamily="18" charset="-127"/>
                    <a:cs typeface="Noto Sans Disp ExtBd" panose="020B0902040504020204" pitchFamily="34"/>
                  </a:endParaRPr>
                </a:p>
                <a:p>
                  <a:pPr algn="ctr">
                    <a:lnSpc>
                      <a:spcPct val="130000"/>
                    </a:lnSpc>
                  </a:pPr>
                  <a:r>
                    <a:rPr lang="ko-KR" altLang="en-US" sz="1600" b="1" dirty="0">
                      <a:latin typeface="a시월구일1" panose="02020600000000000000" pitchFamily="18" charset="-127"/>
                      <a:ea typeface="a시월구일1" panose="02020600000000000000" pitchFamily="18" charset="-127"/>
                      <a:cs typeface="Noto Sans Disp ExtBd" panose="020B0902040504020204" pitchFamily="34"/>
                    </a:rPr>
                    <a:t>데이터 결합</a:t>
                  </a:r>
                  <a:endParaRPr lang="en-US" altLang="ko-KR" sz="1600" b="1" dirty="0">
                    <a:latin typeface="a시월구일1" panose="02020600000000000000" pitchFamily="18" charset="-127"/>
                    <a:ea typeface="a시월구일1" panose="02020600000000000000" pitchFamily="18" charset="-127"/>
                    <a:cs typeface="Noto Sans Disp ExtBd" panose="020B0902040504020204" pitchFamily="34"/>
                  </a:endParaRPr>
                </a:p>
              </p:txBody>
            </p:sp>
          </p:grpSp>
          <p:grpSp>
            <p:nvGrpSpPr>
              <p:cNvPr id="57" name="그룹 56">
                <a:extLst>
                  <a:ext uri="{FF2B5EF4-FFF2-40B4-BE49-F238E27FC236}">
                    <a16:creationId xmlns:a16="http://schemas.microsoft.com/office/drawing/2014/main" id="{1413A556-4684-F6BC-61AD-2AD509F77D53}"/>
                  </a:ext>
                </a:extLst>
              </p:cNvPr>
              <p:cNvGrpSpPr/>
              <p:nvPr/>
            </p:nvGrpSpPr>
            <p:grpSpPr>
              <a:xfrm>
                <a:off x="4808082" y="3274808"/>
                <a:ext cx="2374157" cy="1574856"/>
                <a:chOff x="4174126" y="3665569"/>
                <a:chExt cx="2374157" cy="1574856"/>
              </a:xfrm>
            </p:grpSpPr>
            <p:sp>
              <p:nvSpPr>
                <p:cNvPr id="50" name="사각형: 둥근 모서리 49">
                  <a:extLst>
                    <a:ext uri="{FF2B5EF4-FFF2-40B4-BE49-F238E27FC236}">
                      <a16:creationId xmlns:a16="http://schemas.microsoft.com/office/drawing/2014/main" id="{47DC521F-1B07-3446-DE1F-62D404BFB41B}"/>
                    </a:ext>
                  </a:extLst>
                </p:cNvPr>
                <p:cNvSpPr/>
                <p:nvPr/>
              </p:nvSpPr>
              <p:spPr>
                <a:xfrm>
                  <a:off x="4174126" y="3665569"/>
                  <a:ext cx="2374157" cy="1574856"/>
                </a:xfrm>
                <a:prstGeom prst="round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dirty="0">
                    <a:solidFill>
                      <a:schemeClr val="tx1"/>
                    </a:solidFill>
                    <a:latin typeface="a시월구일3" panose="02020600000000000000" pitchFamily="18" charset="-127"/>
                    <a:ea typeface="a시월구일3" panose="02020600000000000000" pitchFamily="18" charset="-127"/>
                    <a:cs typeface="Noto Sans Disp ExtBd" panose="020B0902040504020204" pitchFamily="34"/>
                  </a:endParaRPr>
                </a:p>
              </p:txBody>
            </p:sp>
            <p:sp>
              <p:nvSpPr>
                <p:cNvPr id="51" name="TextBox 50">
                  <a:extLst>
                    <a:ext uri="{FF2B5EF4-FFF2-40B4-BE49-F238E27FC236}">
                      <a16:creationId xmlns:a16="http://schemas.microsoft.com/office/drawing/2014/main" id="{AAC2A739-1C7C-B59C-F1A8-98A18716CCEA}"/>
                    </a:ext>
                  </a:extLst>
                </p:cNvPr>
                <p:cNvSpPr txBox="1"/>
                <p:nvPr/>
              </p:nvSpPr>
              <p:spPr>
                <a:xfrm>
                  <a:off x="4644205" y="3858190"/>
                  <a:ext cx="1433999" cy="27699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 anchor="t">
                  <a:spAutoFit/>
                </a:bodyPr>
                <a:lstStyle/>
                <a:p>
                  <a:pPr algn="ctr"/>
                  <a:r>
                    <a:rPr lang="ko-KR" altLang="en-US" dirty="0">
                      <a:latin typeface="a시월구일3" panose="02020600000000000000" pitchFamily="18" charset="-127"/>
                      <a:ea typeface="a시월구일3" panose="02020600000000000000" pitchFamily="18" charset="-127"/>
                      <a:cs typeface="Noto Sans Disp ExtBd" panose="020B0902040504020204" pitchFamily="34"/>
                    </a:rPr>
                    <a:t>지역 분석</a:t>
                  </a:r>
                </a:p>
              </p:txBody>
            </p:sp>
            <p:sp>
              <p:nvSpPr>
                <p:cNvPr id="52" name="TextBox 51">
                  <a:extLst>
                    <a:ext uri="{FF2B5EF4-FFF2-40B4-BE49-F238E27FC236}">
                      <a16:creationId xmlns:a16="http://schemas.microsoft.com/office/drawing/2014/main" id="{A2EBD648-449B-DCBD-AF4C-C35A3A0C09FB}"/>
                    </a:ext>
                  </a:extLst>
                </p:cNvPr>
                <p:cNvSpPr txBox="1"/>
                <p:nvPr/>
              </p:nvSpPr>
              <p:spPr>
                <a:xfrm>
                  <a:off x="4515240" y="4349199"/>
                  <a:ext cx="1691928" cy="609398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 anchor="t">
                  <a:spAutoFit/>
                </a:bodyPr>
                <a:lstStyle/>
                <a:p>
                  <a:pPr algn="ctr">
                    <a:lnSpc>
                      <a:spcPct val="130000"/>
                    </a:lnSpc>
                  </a:pPr>
                  <a:r>
                    <a:rPr lang="ko-KR" altLang="en-US" sz="1600" dirty="0">
                      <a:latin typeface="a시월구일1" panose="02020600000000000000" pitchFamily="18" charset="-127"/>
                      <a:ea typeface="a시월구일1" panose="02020600000000000000" pitchFamily="18" charset="-127"/>
                      <a:cs typeface="Noto Sans Disp ExtBd" panose="020B0902040504020204" pitchFamily="34"/>
                    </a:rPr>
                    <a:t>자치구별 </a:t>
                  </a:r>
                  <a:endParaRPr lang="en-US" altLang="ko-KR" sz="1600" dirty="0">
                    <a:latin typeface="a시월구일1" panose="02020600000000000000" pitchFamily="18" charset="-127"/>
                    <a:ea typeface="a시월구일1" panose="02020600000000000000" pitchFamily="18" charset="-127"/>
                    <a:cs typeface="Noto Sans Disp ExtBd" panose="020B0902040504020204" pitchFamily="34"/>
                  </a:endParaRPr>
                </a:p>
                <a:p>
                  <a:pPr algn="ctr">
                    <a:lnSpc>
                      <a:spcPct val="130000"/>
                    </a:lnSpc>
                  </a:pPr>
                  <a:r>
                    <a:rPr lang="ko-KR" altLang="en-US" sz="1600" dirty="0">
                      <a:latin typeface="a시월구일1" panose="02020600000000000000" pitchFamily="18" charset="-127"/>
                      <a:ea typeface="a시월구일1" panose="02020600000000000000" pitchFamily="18" charset="-127"/>
                      <a:cs typeface="Noto Sans Disp ExtBd" panose="020B0902040504020204" pitchFamily="34"/>
                    </a:rPr>
                    <a:t>건강 특성 반영</a:t>
                  </a:r>
                  <a:endParaRPr lang="en-US" altLang="ko-KR" sz="1600" dirty="0">
                    <a:latin typeface="a시월구일1" panose="02020600000000000000" pitchFamily="18" charset="-127"/>
                    <a:ea typeface="a시월구일1" panose="02020600000000000000" pitchFamily="18" charset="-127"/>
                    <a:cs typeface="Noto Sans Disp ExtBd" panose="020B0902040504020204" pitchFamily="34"/>
                  </a:endParaRPr>
                </a:p>
              </p:txBody>
            </p:sp>
          </p:grpSp>
          <p:grpSp>
            <p:nvGrpSpPr>
              <p:cNvPr id="58" name="그룹 57">
                <a:extLst>
                  <a:ext uri="{FF2B5EF4-FFF2-40B4-BE49-F238E27FC236}">
                    <a16:creationId xmlns:a16="http://schemas.microsoft.com/office/drawing/2014/main" id="{8F520D37-128A-19B6-B554-8AF628DDC9E5}"/>
                  </a:ext>
                </a:extLst>
              </p:cNvPr>
              <p:cNvGrpSpPr/>
              <p:nvPr/>
            </p:nvGrpSpPr>
            <p:grpSpPr>
              <a:xfrm>
                <a:off x="7587916" y="3274808"/>
                <a:ext cx="2374157" cy="1574856"/>
                <a:chOff x="7012481" y="3665569"/>
                <a:chExt cx="2374157" cy="1574856"/>
              </a:xfrm>
            </p:grpSpPr>
            <p:sp>
              <p:nvSpPr>
                <p:cNvPr id="53" name="사각형: 둥근 모서리 52">
                  <a:extLst>
                    <a:ext uri="{FF2B5EF4-FFF2-40B4-BE49-F238E27FC236}">
                      <a16:creationId xmlns:a16="http://schemas.microsoft.com/office/drawing/2014/main" id="{A68440D5-1A01-E193-B3D4-5D1CCC0C31A9}"/>
                    </a:ext>
                  </a:extLst>
                </p:cNvPr>
                <p:cNvSpPr/>
                <p:nvPr/>
              </p:nvSpPr>
              <p:spPr>
                <a:xfrm>
                  <a:off x="7012481" y="3665569"/>
                  <a:ext cx="2374157" cy="1574856"/>
                </a:xfrm>
                <a:prstGeom prst="round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dirty="0">
                    <a:solidFill>
                      <a:schemeClr val="tx1"/>
                    </a:solidFill>
                    <a:latin typeface="a시월구일3" panose="02020600000000000000" pitchFamily="18" charset="-127"/>
                    <a:ea typeface="a시월구일3" panose="02020600000000000000" pitchFamily="18" charset="-127"/>
                    <a:cs typeface="Noto Sans Disp ExtBd" panose="020B0902040504020204" pitchFamily="34"/>
                  </a:endParaRPr>
                </a:p>
              </p:txBody>
            </p:sp>
            <p:sp>
              <p:nvSpPr>
                <p:cNvPr id="54" name="TextBox 53">
                  <a:extLst>
                    <a:ext uri="{FF2B5EF4-FFF2-40B4-BE49-F238E27FC236}">
                      <a16:creationId xmlns:a16="http://schemas.microsoft.com/office/drawing/2014/main" id="{B8C58EB1-AD3F-069B-15FB-843CD456F85D}"/>
                    </a:ext>
                  </a:extLst>
                </p:cNvPr>
                <p:cNvSpPr txBox="1"/>
                <p:nvPr/>
              </p:nvSpPr>
              <p:spPr>
                <a:xfrm>
                  <a:off x="7482560" y="3858190"/>
                  <a:ext cx="1433999" cy="27699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 anchor="t">
                  <a:spAutoFit/>
                </a:bodyPr>
                <a:lstStyle/>
                <a:p>
                  <a:pPr algn="ctr"/>
                  <a:r>
                    <a:rPr lang="ko-KR" altLang="en-US" dirty="0">
                      <a:latin typeface="a시월구일3" panose="02020600000000000000" pitchFamily="18" charset="-127"/>
                      <a:ea typeface="a시월구일3" panose="02020600000000000000" pitchFamily="18" charset="-127"/>
                      <a:cs typeface="Noto Sans Disp ExtBd" panose="020B0902040504020204" pitchFamily="34"/>
                    </a:rPr>
                    <a:t>위험도 분석</a:t>
                  </a:r>
                </a:p>
              </p:txBody>
            </p:sp>
            <p:sp>
              <p:nvSpPr>
                <p:cNvPr id="55" name="TextBox 54">
                  <a:extLst>
                    <a:ext uri="{FF2B5EF4-FFF2-40B4-BE49-F238E27FC236}">
                      <a16:creationId xmlns:a16="http://schemas.microsoft.com/office/drawing/2014/main" id="{FFA87F61-D0D4-C8D3-D62D-BF1A70BABCAA}"/>
                    </a:ext>
                  </a:extLst>
                </p:cNvPr>
                <p:cNvSpPr txBox="1"/>
                <p:nvPr/>
              </p:nvSpPr>
              <p:spPr>
                <a:xfrm>
                  <a:off x="7278070" y="4349199"/>
                  <a:ext cx="1842979" cy="609398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 anchor="t">
                  <a:spAutoFit/>
                </a:bodyPr>
                <a:lstStyle/>
                <a:p>
                  <a:pPr algn="ctr">
                    <a:lnSpc>
                      <a:spcPct val="130000"/>
                    </a:lnSpc>
                  </a:pPr>
                  <a:r>
                    <a:rPr lang="ko-KR" altLang="en-US" sz="1600" dirty="0">
                      <a:latin typeface="a시월구일1" panose="02020600000000000000" pitchFamily="18" charset="-127"/>
                      <a:ea typeface="a시월구일1" panose="02020600000000000000" pitchFamily="18" charset="-127"/>
                      <a:cs typeface="Noto Sans Disp ExtBd" panose="020B0902040504020204" pitchFamily="34"/>
                    </a:rPr>
                    <a:t>실질적 건강 위험도 산출</a:t>
                  </a:r>
                  <a:endParaRPr lang="en-US" altLang="ko-KR" sz="1600" dirty="0">
                    <a:latin typeface="a시월구일1" panose="02020600000000000000" pitchFamily="18" charset="-127"/>
                    <a:ea typeface="a시월구일1" panose="02020600000000000000" pitchFamily="18" charset="-127"/>
                    <a:cs typeface="Noto Sans Disp ExtBd" panose="020B0902040504020204" pitchFamily="34"/>
                  </a:endParaRPr>
                </a:p>
              </p:txBody>
            </p:sp>
          </p:grpSp>
        </p:grpSp>
      </p:grpSp>
    </p:spTree>
    <p:extLst>
      <p:ext uri="{BB962C8B-B14F-4D97-AF65-F5344CB8AC3E}">
        <p14:creationId xmlns:p14="http://schemas.microsoft.com/office/powerpoint/2010/main" val="37218349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48D418-6C4B-403C-297F-7563D074A8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" name="그림 41">
            <a:extLst>
              <a:ext uri="{FF2B5EF4-FFF2-40B4-BE49-F238E27FC236}">
                <a16:creationId xmlns:a16="http://schemas.microsoft.com/office/drawing/2014/main" id="{BBACB6E4-D523-02D8-9358-4DC4D26C3E60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3607111" y="3516380"/>
            <a:ext cx="5008076" cy="1456490"/>
          </a:xfrm>
          <a:prstGeom prst="rect">
            <a:avLst/>
          </a:prstGeom>
        </p:spPr>
      </p:pic>
      <p:grpSp>
        <p:nvGrpSpPr>
          <p:cNvPr id="19" name="그룹 18">
            <a:extLst>
              <a:ext uri="{FF2B5EF4-FFF2-40B4-BE49-F238E27FC236}">
                <a16:creationId xmlns:a16="http://schemas.microsoft.com/office/drawing/2014/main" id="{6D676991-536F-16C6-7317-924B248399E3}"/>
              </a:ext>
            </a:extLst>
          </p:cNvPr>
          <p:cNvGrpSpPr/>
          <p:nvPr/>
        </p:nvGrpSpPr>
        <p:grpSpPr>
          <a:xfrm>
            <a:off x="-6607749" y="1233365"/>
            <a:ext cx="6321157" cy="1371582"/>
            <a:chOff x="137242" y="1222829"/>
            <a:chExt cx="6321157" cy="1371582"/>
          </a:xfrm>
        </p:grpSpPr>
        <p:sp>
          <p:nvSpPr>
            <p:cNvPr id="20" name="사각형: 둥근 모서리 19">
              <a:extLst>
                <a:ext uri="{FF2B5EF4-FFF2-40B4-BE49-F238E27FC236}">
                  <a16:creationId xmlns:a16="http://schemas.microsoft.com/office/drawing/2014/main" id="{6B1293FF-D960-94C3-47F5-93E102BE1766}"/>
                </a:ext>
              </a:extLst>
            </p:cNvPr>
            <p:cNvSpPr/>
            <p:nvPr/>
          </p:nvSpPr>
          <p:spPr>
            <a:xfrm>
              <a:off x="137242" y="1411495"/>
              <a:ext cx="6321157" cy="1182916"/>
            </a:xfrm>
            <a:prstGeom prst="roundRect">
              <a:avLst>
                <a:gd name="adj" fmla="val 0"/>
              </a:avLst>
            </a:prstGeom>
            <a:solidFill>
              <a:schemeClr val="bg1"/>
            </a:solidFill>
            <a:ln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789A24E5-D3DD-3FB8-43D4-DB995F49C246}"/>
                </a:ext>
              </a:extLst>
            </p:cNvPr>
            <p:cNvSpPr txBox="1"/>
            <p:nvPr/>
          </p:nvSpPr>
          <p:spPr>
            <a:xfrm>
              <a:off x="259635" y="1714024"/>
              <a:ext cx="5841145" cy="533223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/>
            <a:p>
              <a:pPr marL="85725" indent="-85725" latinLnBrk="0">
                <a:lnSpc>
                  <a:spcPct val="130000"/>
                </a:lnSpc>
                <a:buFont typeface="Arial" panose="020B0604020202020204" pitchFamily="34" charset="0"/>
                <a:buChar char="•"/>
              </a:pPr>
              <a:r>
                <a:rPr kumimoji="1" lang="en-US" altLang="ko-KR" sz="1400" dirty="0">
                  <a:ln w="12700">
                    <a:solidFill>
                      <a:schemeClr val="tx1">
                        <a:alpha val="500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a시월구일3" panose="02020600000000000000" pitchFamily="18" charset="-127"/>
                  <a:ea typeface="a시월구일3" panose="02020600000000000000" pitchFamily="18" charset="-127"/>
                  <a:cs typeface="Pretendard" panose="02000503000000020004" pitchFamily="2" charset="-127"/>
                </a:rPr>
                <a:t>K-Means </a:t>
              </a:r>
              <a:r>
                <a:rPr kumimoji="1" lang="ko-KR" altLang="en-US" sz="1400" dirty="0">
                  <a:ln w="12700">
                    <a:solidFill>
                      <a:schemeClr val="tx1">
                        <a:alpha val="500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a시월구일3" panose="02020600000000000000" pitchFamily="18" charset="-127"/>
                  <a:ea typeface="a시월구일3" panose="02020600000000000000" pitchFamily="18" charset="-127"/>
                  <a:cs typeface="Pretendard" panose="02000503000000020004" pitchFamily="2" charset="-127"/>
                </a:rPr>
                <a:t>군집화를 적용</a:t>
              </a:r>
              <a:r>
                <a:rPr kumimoji="1" lang="ko-KR" altLang="en-US" sz="1400" dirty="0">
                  <a:ln w="12700">
                    <a:solidFill>
                      <a:schemeClr val="tx1">
                        <a:alpha val="500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a시월구일1" panose="02020600000000000000" pitchFamily="18" charset="-127"/>
                  <a:ea typeface="a시월구일1" panose="02020600000000000000" pitchFamily="18" charset="-127"/>
                  <a:cs typeface="Pretendard" panose="02000503000000020004" pitchFamily="2" charset="-127"/>
                </a:rPr>
                <a:t>하여 자치구별 보건 취약 유형을 분류</a:t>
              </a:r>
              <a:endParaRPr kumimoji="1" lang="en-US" altLang="ko-KR" sz="1400" dirty="0">
                <a:ln w="12700">
                  <a:solidFill>
                    <a:schemeClr val="tx1">
                      <a:alpha val="500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시월구일1" panose="02020600000000000000" pitchFamily="18" charset="-127"/>
                <a:ea typeface="a시월구일1" panose="02020600000000000000" pitchFamily="18" charset="-127"/>
                <a:cs typeface="Pretendard" panose="02000503000000020004" pitchFamily="2" charset="-127"/>
              </a:endParaRPr>
            </a:p>
            <a:p>
              <a:pPr marL="85725" indent="-85725" latinLnBrk="0">
                <a:lnSpc>
                  <a:spcPct val="130000"/>
                </a:lnSpc>
                <a:buFont typeface="Arial" panose="020B0604020202020204" pitchFamily="34" charset="0"/>
                <a:buChar char="•"/>
              </a:pPr>
              <a:endParaRPr kumimoji="1" lang="en-US" altLang="ko-KR" sz="1400" dirty="0">
                <a:ln w="12700">
                  <a:solidFill>
                    <a:schemeClr val="tx1">
                      <a:alpha val="500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시월구일1" panose="02020600000000000000" pitchFamily="18" charset="-127"/>
                <a:ea typeface="a시월구일1" panose="02020600000000000000" pitchFamily="18" charset="-127"/>
                <a:cs typeface="Pretendard" panose="02000503000000020004" pitchFamily="2" charset="-127"/>
              </a:endParaRPr>
            </a:p>
          </p:txBody>
        </p:sp>
        <p:sp>
          <p:nvSpPr>
            <p:cNvPr id="22" name="사각형: 둥근 모서리 21">
              <a:extLst>
                <a:ext uri="{FF2B5EF4-FFF2-40B4-BE49-F238E27FC236}">
                  <a16:creationId xmlns:a16="http://schemas.microsoft.com/office/drawing/2014/main" id="{4172CA15-130D-3235-8782-EDAAC6A57288}"/>
                </a:ext>
              </a:extLst>
            </p:cNvPr>
            <p:cNvSpPr/>
            <p:nvPr/>
          </p:nvSpPr>
          <p:spPr>
            <a:xfrm>
              <a:off x="137242" y="1222829"/>
              <a:ext cx="1953717" cy="377331"/>
            </a:xfrm>
            <a:prstGeom prst="roundRect">
              <a:avLst>
                <a:gd name="adj" fmla="val 16564"/>
              </a:avLst>
            </a:prstGeom>
            <a:solidFill>
              <a:schemeClr val="bg1">
                <a:lumMod val="95000"/>
              </a:schemeClr>
            </a:solidFill>
            <a:ln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2000">
                  <a:solidFill>
                    <a:schemeClr val="tx1"/>
                  </a:solidFill>
                  <a:latin typeface="a시월구일3" panose="02020600000000000000" pitchFamily="18" charset="-127"/>
                  <a:ea typeface="a시월구일3" panose="02020600000000000000" pitchFamily="18" charset="-127"/>
                  <a:cs typeface="Noto Sans Disp ExtBd" panose="020B0902040504020204" pitchFamily="34"/>
                </a:rPr>
                <a:t>Modeling(ML)</a:t>
              </a:r>
              <a:endParaRPr lang="ko-KR" altLang="en-US" sz="2000" dirty="0">
                <a:solidFill>
                  <a:schemeClr val="tx1"/>
                </a:solidFill>
                <a:latin typeface="a시월구일3" panose="02020600000000000000" pitchFamily="18" charset="-127"/>
                <a:ea typeface="a시월구일3" panose="02020600000000000000" pitchFamily="18" charset="-127"/>
                <a:cs typeface="Noto Sans Disp ExtBd" panose="020B0902040504020204" pitchFamily="34"/>
              </a:endParaRPr>
            </a:p>
          </p:txBody>
        </p:sp>
      </p:grpSp>
      <p:grpSp>
        <p:nvGrpSpPr>
          <p:cNvPr id="23" name="그룹 22">
            <a:extLst>
              <a:ext uri="{FF2B5EF4-FFF2-40B4-BE49-F238E27FC236}">
                <a16:creationId xmlns:a16="http://schemas.microsoft.com/office/drawing/2014/main" id="{29C870CB-0BBC-8CB3-AF57-ECA34C0B41EC}"/>
              </a:ext>
            </a:extLst>
          </p:cNvPr>
          <p:cNvGrpSpPr/>
          <p:nvPr/>
        </p:nvGrpSpPr>
        <p:grpSpPr>
          <a:xfrm>
            <a:off x="-6607749" y="3013907"/>
            <a:ext cx="6443549" cy="1215027"/>
            <a:chOff x="137242" y="3098748"/>
            <a:chExt cx="6443549" cy="1215027"/>
          </a:xfrm>
        </p:grpSpPr>
        <p:sp>
          <p:nvSpPr>
            <p:cNvPr id="24" name="사각형: 둥근 모서리 23">
              <a:extLst>
                <a:ext uri="{FF2B5EF4-FFF2-40B4-BE49-F238E27FC236}">
                  <a16:creationId xmlns:a16="http://schemas.microsoft.com/office/drawing/2014/main" id="{4AB9B18C-B247-D507-AFED-D97FA0CE7357}"/>
                </a:ext>
              </a:extLst>
            </p:cNvPr>
            <p:cNvSpPr/>
            <p:nvPr/>
          </p:nvSpPr>
          <p:spPr>
            <a:xfrm>
              <a:off x="137242" y="3098748"/>
              <a:ext cx="6321157" cy="1182916"/>
            </a:xfrm>
            <a:prstGeom prst="roundRect">
              <a:avLst>
                <a:gd name="adj" fmla="val 0"/>
              </a:avLst>
            </a:prstGeom>
            <a:solidFill>
              <a:schemeClr val="bg1"/>
            </a:solidFill>
            <a:ln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FFE5A52B-6487-837F-610E-9046AB6FB0AF}"/>
                </a:ext>
              </a:extLst>
            </p:cNvPr>
            <p:cNvSpPr txBox="1"/>
            <p:nvPr/>
          </p:nvSpPr>
          <p:spPr>
            <a:xfrm>
              <a:off x="259635" y="3385892"/>
              <a:ext cx="6321156" cy="927883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/>
            <a:p>
              <a:pPr marL="85725" indent="-85725" latinLnBrk="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kumimoji="1" lang="ko-KR" altLang="en-US" sz="1400" dirty="0">
                  <a:ln w="12700">
                    <a:solidFill>
                      <a:schemeClr val="tx1">
                        <a:alpha val="500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a시월구일1" panose="02020600000000000000" pitchFamily="18" charset="-127"/>
                  <a:ea typeface="a시월구일1" panose="02020600000000000000" pitchFamily="18" charset="-127"/>
                  <a:cs typeface="Pretendard" panose="02000503000000020004" pitchFamily="2" charset="-127"/>
                </a:rPr>
                <a:t>자치구별 보건 </a:t>
              </a:r>
              <a:r>
                <a:rPr kumimoji="1" lang="ko-KR" altLang="en-US" sz="1400" dirty="0">
                  <a:ln w="12700">
                    <a:solidFill>
                      <a:schemeClr val="tx1">
                        <a:alpha val="500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a시월구일3" panose="02020600000000000000" pitchFamily="18" charset="-127"/>
                  <a:ea typeface="a시월구일3" panose="02020600000000000000" pitchFamily="18" charset="-127"/>
                  <a:cs typeface="Pretendard" panose="02000503000000020004" pitchFamily="2" charset="-127"/>
                </a:rPr>
                <a:t>취약 유형도</a:t>
              </a:r>
              <a:r>
                <a:rPr kumimoji="1" lang="en-US" altLang="ko-KR" sz="1400" dirty="0">
                  <a:ln w="12700">
                    <a:solidFill>
                      <a:schemeClr val="tx1">
                        <a:alpha val="500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a시월구일3" panose="02020600000000000000" pitchFamily="18" charset="-127"/>
                  <a:ea typeface="a시월구일3" panose="02020600000000000000" pitchFamily="18" charset="-127"/>
                  <a:cs typeface="Pretendard" panose="02000503000000020004" pitchFamily="2" charset="-127"/>
                </a:rPr>
                <a:t> </a:t>
              </a:r>
              <a:r>
                <a:rPr kumimoji="1" lang="ko-KR" altLang="en-US" sz="1400" dirty="0">
                  <a:ln w="12700">
                    <a:solidFill>
                      <a:schemeClr val="tx1">
                        <a:alpha val="500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a시월구일3" panose="02020600000000000000" pitchFamily="18" charset="-127"/>
                  <a:ea typeface="a시월구일3" panose="02020600000000000000" pitchFamily="18" charset="-127"/>
                  <a:cs typeface="Pretendard" panose="02000503000000020004" pitchFamily="2" charset="-127"/>
                </a:rPr>
                <a:t>분석</a:t>
              </a:r>
              <a:endParaRPr kumimoji="1" lang="en-US" altLang="ko-KR" sz="1400" dirty="0">
                <a:ln w="12700">
                  <a:solidFill>
                    <a:schemeClr val="tx1">
                      <a:alpha val="500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시월구일3" panose="02020600000000000000" pitchFamily="18" charset="-127"/>
                <a:ea typeface="a시월구일3" panose="02020600000000000000" pitchFamily="18" charset="-127"/>
                <a:cs typeface="Pretendard" panose="02000503000000020004" pitchFamily="2" charset="-127"/>
              </a:endParaRPr>
            </a:p>
            <a:p>
              <a:pPr marL="85725" indent="-85725" latinLnBrk="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kumimoji="1" lang="ko-KR" altLang="en-US" sz="1400" dirty="0">
                  <a:ln w="12700">
                    <a:solidFill>
                      <a:schemeClr val="tx1">
                        <a:alpha val="500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a시월구일3" panose="02020600000000000000" pitchFamily="18" charset="-127"/>
                  <a:ea typeface="a시월구일3" panose="02020600000000000000" pitchFamily="18" charset="-127"/>
                  <a:cs typeface="Pretendard" panose="02000503000000020004" pitchFamily="2" charset="-127"/>
                </a:rPr>
                <a:t>위험도를 직관적으로 확인</a:t>
              </a:r>
              <a:r>
                <a:rPr kumimoji="1" lang="ko-KR" altLang="en-US" sz="1400" dirty="0">
                  <a:ln w="12700">
                    <a:solidFill>
                      <a:schemeClr val="tx1">
                        <a:alpha val="500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a시월구일1" panose="02020600000000000000" pitchFamily="18" charset="-127"/>
                  <a:ea typeface="a시월구일1" panose="02020600000000000000" pitchFamily="18" charset="-127"/>
                  <a:cs typeface="Pretendard" panose="02000503000000020004" pitchFamily="2" charset="-127"/>
                </a:rPr>
                <a:t>할 수 있는 서비스 제공 </a:t>
              </a:r>
              <a:endParaRPr kumimoji="1" lang="en-US" altLang="ko-KR" sz="1400" dirty="0">
                <a:ln w="12700">
                  <a:solidFill>
                    <a:schemeClr val="tx1">
                      <a:alpha val="500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시월구일1" panose="02020600000000000000" pitchFamily="18" charset="-127"/>
                <a:ea typeface="a시월구일1" panose="02020600000000000000" pitchFamily="18" charset="-127"/>
                <a:cs typeface="Pretendard" panose="02000503000000020004" pitchFamily="2" charset="-127"/>
              </a:endParaRPr>
            </a:p>
            <a:p>
              <a:pPr marL="85725" indent="-85725" latinLnBrk="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kumimoji="1" lang="ko-KR" altLang="en-US" sz="1400" dirty="0">
                  <a:ln w="12700">
                    <a:solidFill>
                      <a:schemeClr val="tx1">
                        <a:alpha val="500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a시월구일1" panose="02020600000000000000" pitchFamily="18" charset="-127"/>
                  <a:ea typeface="a시월구일1" panose="02020600000000000000" pitchFamily="18" charset="-127"/>
                  <a:cs typeface="Pretendard" panose="02000503000000020004" pitchFamily="2" charset="-127"/>
                </a:rPr>
                <a:t>지역별 상세 분석 및 원인 정보를 사용자가 쉽게 탐색할 수 있는 서비스</a:t>
              </a:r>
              <a:endParaRPr kumimoji="1" lang="en-US" altLang="ko-KR" sz="1400" dirty="0">
                <a:ln w="12700">
                  <a:solidFill>
                    <a:schemeClr val="tx1">
                      <a:alpha val="500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시월구일1" panose="02020600000000000000" pitchFamily="18" charset="-127"/>
                <a:ea typeface="a시월구일1" panose="02020600000000000000" pitchFamily="18" charset="-127"/>
                <a:cs typeface="Pretendard" panose="02000503000000020004" pitchFamily="2" charset="-127"/>
              </a:endParaRPr>
            </a:p>
          </p:txBody>
        </p:sp>
      </p:grpSp>
      <p:grpSp>
        <p:nvGrpSpPr>
          <p:cNvPr id="26" name="그룹 25">
            <a:extLst>
              <a:ext uri="{FF2B5EF4-FFF2-40B4-BE49-F238E27FC236}">
                <a16:creationId xmlns:a16="http://schemas.microsoft.com/office/drawing/2014/main" id="{53B2A28C-27B2-057E-872C-43F2942FC1B6}"/>
              </a:ext>
            </a:extLst>
          </p:cNvPr>
          <p:cNvGrpSpPr/>
          <p:nvPr/>
        </p:nvGrpSpPr>
        <p:grpSpPr>
          <a:xfrm>
            <a:off x="-6607749" y="901128"/>
            <a:ext cx="6443550" cy="5034560"/>
            <a:chOff x="137242" y="1065420"/>
            <a:chExt cx="6443550" cy="5034560"/>
          </a:xfrm>
        </p:grpSpPr>
        <p:sp>
          <p:nvSpPr>
            <p:cNvPr id="29" name="사각형: 둥근 모서리 28">
              <a:extLst>
                <a:ext uri="{FF2B5EF4-FFF2-40B4-BE49-F238E27FC236}">
                  <a16:creationId xmlns:a16="http://schemas.microsoft.com/office/drawing/2014/main" id="{13E709D8-BC38-95A1-55FB-BEBDCC8B6C6F}"/>
                </a:ext>
              </a:extLst>
            </p:cNvPr>
            <p:cNvSpPr/>
            <p:nvPr/>
          </p:nvSpPr>
          <p:spPr>
            <a:xfrm>
              <a:off x="137242" y="4917064"/>
              <a:ext cx="6321157" cy="1182916"/>
            </a:xfrm>
            <a:prstGeom prst="roundRect">
              <a:avLst>
                <a:gd name="adj" fmla="val 0"/>
              </a:avLst>
            </a:prstGeom>
            <a:solidFill>
              <a:schemeClr val="bg1"/>
            </a:solidFill>
            <a:ln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31" name="사각형: 둥근 모서리 30">
              <a:extLst>
                <a:ext uri="{FF2B5EF4-FFF2-40B4-BE49-F238E27FC236}">
                  <a16:creationId xmlns:a16="http://schemas.microsoft.com/office/drawing/2014/main" id="{04DDC4BB-0D7C-EC42-0423-1AB27DDAF2CE}"/>
                </a:ext>
              </a:extLst>
            </p:cNvPr>
            <p:cNvSpPr/>
            <p:nvPr/>
          </p:nvSpPr>
          <p:spPr>
            <a:xfrm>
              <a:off x="2954334" y="1065420"/>
              <a:ext cx="1643400" cy="377331"/>
            </a:xfrm>
            <a:prstGeom prst="roundRect">
              <a:avLst>
                <a:gd name="adj" fmla="val 16564"/>
              </a:avLst>
            </a:prstGeom>
            <a:solidFill>
              <a:schemeClr val="bg1">
                <a:lumMod val="95000"/>
              </a:schemeClr>
            </a:solidFill>
            <a:ln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2000" dirty="0">
                  <a:solidFill>
                    <a:schemeClr val="tx1"/>
                  </a:solidFill>
                  <a:latin typeface="a시월구일3" panose="02020600000000000000" pitchFamily="18" charset="-127"/>
                  <a:ea typeface="a시월구일3" panose="02020600000000000000" pitchFamily="18" charset="-127"/>
                  <a:cs typeface="Noto Sans Disp ExtBd" panose="020B0902040504020204" pitchFamily="34"/>
                </a:rPr>
                <a:t>Service</a:t>
              </a:r>
              <a:endParaRPr lang="ko-KR" altLang="en-US" sz="2000" dirty="0">
                <a:solidFill>
                  <a:schemeClr val="tx1"/>
                </a:solidFill>
                <a:latin typeface="a시월구일3" panose="02020600000000000000" pitchFamily="18" charset="-127"/>
                <a:ea typeface="a시월구일3" panose="02020600000000000000" pitchFamily="18" charset="-127"/>
                <a:cs typeface="Noto Sans Disp ExtBd" panose="020B0902040504020204" pitchFamily="34"/>
              </a:endParaRPr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6DFAA7C1-ED14-C505-0927-E64511B7F1EF}"/>
                </a:ext>
              </a:extLst>
            </p:cNvPr>
            <p:cNvSpPr txBox="1"/>
            <p:nvPr/>
          </p:nvSpPr>
          <p:spPr>
            <a:xfrm>
              <a:off x="259635" y="5248149"/>
              <a:ext cx="6321157" cy="608628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/>
            <a:p>
              <a:pPr marL="85725" indent="-85725" latinLnBrk="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kumimoji="1" lang="ko-KR" altLang="en-US" sz="1400" dirty="0">
                  <a:ln w="12700">
                    <a:solidFill>
                      <a:schemeClr val="tx1">
                        <a:alpha val="500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a시월구일1" panose="02020600000000000000" pitchFamily="18" charset="-127"/>
                  <a:ea typeface="a시월구일1" panose="02020600000000000000" pitchFamily="18" charset="-127"/>
                  <a:cs typeface="Pretendard" panose="02000503000000020004" pitchFamily="2" charset="-127"/>
                </a:rPr>
                <a:t>분석 결과를 기반으로  자치구별 보건 정책 의사결정을 지원하는 시스템 구현</a:t>
              </a:r>
              <a:endParaRPr kumimoji="1" lang="en-US" altLang="ko-KR" sz="1400" dirty="0">
                <a:ln w="12700">
                  <a:solidFill>
                    <a:schemeClr val="tx1">
                      <a:alpha val="500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시월구일1" panose="02020600000000000000" pitchFamily="18" charset="-127"/>
                <a:ea typeface="a시월구일1" panose="02020600000000000000" pitchFamily="18" charset="-127"/>
                <a:cs typeface="Pretendard" panose="02000503000000020004" pitchFamily="2" charset="-127"/>
              </a:endParaRPr>
            </a:p>
            <a:p>
              <a:pPr marL="85725" indent="-85725" latinLnBrk="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kumimoji="1" lang="ko-KR" altLang="en-US" sz="1400" dirty="0">
                  <a:ln w="12700">
                    <a:solidFill>
                      <a:schemeClr val="tx1">
                        <a:alpha val="500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a시월구일1" panose="02020600000000000000" pitchFamily="18" charset="-127"/>
                  <a:ea typeface="a시월구일1" panose="02020600000000000000" pitchFamily="18" charset="-127"/>
                  <a:cs typeface="Pretendard" panose="02000503000000020004" pitchFamily="2" charset="-127"/>
                </a:rPr>
                <a:t>지역 특성에 따른 맞춤형 정책 방향 제공</a:t>
              </a:r>
              <a:endParaRPr kumimoji="1" lang="en-US" altLang="ko-KR" sz="1400" dirty="0">
                <a:ln w="12700">
                  <a:solidFill>
                    <a:schemeClr val="tx1">
                      <a:alpha val="500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시월구일1" panose="02020600000000000000" pitchFamily="18" charset="-127"/>
                <a:ea typeface="a시월구일1" panose="02020600000000000000" pitchFamily="18" charset="-127"/>
                <a:cs typeface="Pretendard" panose="02000503000000020004" pitchFamily="2" charset="-127"/>
              </a:endParaRPr>
            </a:p>
          </p:txBody>
        </p:sp>
      </p:grp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526F15C7-FC8C-6E3A-3AC1-44529CA09A18}"/>
              </a:ext>
            </a:extLst>
          </p:cNvPr>
          <p:cNvSpPr/>
          <p:nvPr/>
        </p:nvSpPr>
        <p:spPr>
          <a:xfrm>
            <a:off x="186421" y="2752004"/>
            <a:ext cx="5850000" cy="1528752"/>
          </a:xfrm>
          <a:prstGeom prst="roundRect">
            <a:avLst>
              <a:gd name="adj" fmla="val 6065"/>
            </a:avLst>
          </a:prstGeom>
          <a:solidFill>
            <a:schemeClr val="bg1"/>
          </a:solidFill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4BF99FE8-A02D-11AE-E40C-DA29BF8B4CA4}"/>
              </a:ext>
            </a:extLst>
          </p:cNvPr>
          <p:cNvSpPr/>
          <p:nvPr/>
        </p:nvSpPr>
        <p:spPr>
          <a:xfrm>
            <a:off x="186420" y="2511137"/>
            <a:ext cx="1953717" cy="383569"/>
          </a:xfrm>
          <a:prstGeom prst="roundRect">
            <a:avLst>
              <a:gd name="adj" fmla="val 16564"/>
            </a:avLst>
          </a:prstGeom>
          <a:solidFill>
            <a:schemeClr val="bg1">
              <a:lumMod val="95000"/>
            </a:schemeClr>
          </a:solidFill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000" dirty="0">
                <a:solidFill>
                  <a:schemeClr val="tx1"/>
                </a:solidFill>
                <a:latin typeface="a시월구일3" panose="02020600000000000000" pitchFamily="18" charset="-127"/>
                <a:ea typeface="a시월구일3" panose="02020600000000000000" pitchFamily="18" charset="-127"/>
                <a:cs typeface="Noto Sans Disp ExtBd" panose="020B0902040504020204" pitchFamily="34"/>
              </a:rPr>
              <a:t>Modeling(ML)</a:t>
            </a:r>
            <a:endParaRPr lang="ko-KR" altLang="en-US" sz="2000" dirty="0">
              <a:solidFill>
                <a:schemeClr val="tx1"/>
              </a:solidFill>
              <a:latin typeface="a시월구일3" panose="02020600000000000000" pitchFamily="18" charset="-127"/>
              <a:ea typeface="a시월구일3" panose="02020600000000000000" pitchFamily="18" charset="-127"/>
              <a:cs typeface="Noto Sans Disp ExtBd" panose="020B0902040504020204" pitchFamily="34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94C8AC2A-0665-706E-362A-04FB222F17C9}"/>
              </a:ext>
            </a:extLst>
          </p:cNvPr>
          <p:cNvSpPr txBox="1"/>
          <p:nvPr/>
        </p:nvSpPr>
        <p:spPr>
          <a:xfrm>
            <a:off x="509769" y="411763"/>
            <a:ext cx="1671933" cy="489365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400" dirty="0">
                <a:latin typeface="a시월구일3" panose="02020600000000000000" pitchFamily="18" charset="-127"/>
                <a:ea typeface="a시월구일3" panose="02020600000000000000" pitchFamily="18" charset="-127"/>
                <a:cs typeface="+mj-cs"/>
              </a:rPr>
              <a:t>3. </a:t>
            </a:r>
            <a:r>
              <a:rPr lang="ko-KR" altLang="en-US" sz="2400" dirty="0">
                <a:latin typeface="a시월구일3" panose="02020600000000000000" pitchFamily="18" charset="-127"/>
                <a:ea typeface="a시월구일3" panose="02020600000000000000" pitchFamily="18" charset="-127"/>
                <a:cs typeface="+mj-cs"/>
              </a:rPr>
              <a:t>개발 목표</a:t>
            </a:r>
            <a:endParaRPr lang="en-US" altLang="ko-KR" sz="2400" dirty="0">
              <a:latin typeface="a시월구일3" panose="02020600000000000000" pitchFamily="18" charset="-127"/>
              <a:ea typeface="a시월구일3" panose="02020600000000000000" pitchFamily="18" charset="-127"/>
              <a:cs typeface="+mj-cs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63224FB8-B737-D457-16C7-5E3F5EA31015}"/>
              </a:ext>
            </a:extLst>
          </p:cNvPr>
          <p:cNvSpPr txBox="1"/>
          <p:nvPr/>
        </p:nvSpPr>
        <p:spPr>
          <a:xfrm>
            <a:off x="278994" y="3129335"/>
            <a:ext cx="5255532" cy="533223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85725" indent="-85725" latinLnBrk="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kumimoji="1" lang="en-US" altLang="ko-KR" sz="1400" dirty="0">
                <a:ln w="12700">
                  <a:solidFill>
                    <a:schemeClr val="tx1">
                      <a:alpha val="500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시월구일3" panose="02020600000000000000" pitchFamily="18" charset="-127"/>
                <a:ea typeface="a시월구일3" panose="02020600000000000000" pitchFamily="18" charset="-127"/>
                <a:cs typeface="Pretendard" panose="02000503000000020004" pitchFamily="2" charset="-127"/>
              </a:rPr>
              <a:t>K-Means </a:t>
            </a:r>
            <a:r>
              <a:rPr kumimoji="1" lang="ko-KR" altLang="en-US" sz="1400" dirty="0">
                <a:ln w="12700">
                  <a:solidFill>
                    <a:schemeClr val="tx1">
                      <a:alpha val="500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시월구일3" panose="02020600000000000000" pitchFamily="18" charset="-127"/>
                <a:ea typeface="a시월구일3" panose="02020600000000000000" pitchFamily="18" charset="-127"/>
                <a:cs typeface="Pretendard" panose="02000503000000020004" pitchFamily="2" charset="-127"/>
              </a:rPr>
              <a:t>군집화를 적용</a:t>
            </a:r>
            <a:r>
              <a:rPr kumimoji="1" lang="ko-KR" altLang="en-US" sz="1400" dirty="0">
                <a:ln w="12700">
                  <a:solidFill>
                    <a:schemeClr val="tx1">
                      <a:alpha val="500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시월구일1" panose="02020600000000000000" pitchFamily="18" charset="-127"/>
                <a:ea typeface="a시월구일1" panose="02020600000000000000" pitchFamily="18" charset="-127"/>
                <a:cs typeface="Pretendard" panose="02000503000000020004" pitchFamily="2" charset="-127"/>
              </a:rPr>
              <a:t>하여 자치구별 보건 취약 유형을 분류</a:t>
            </a:r>
            <a:endParaRPr kumimoji="1" lang="en-US" altLang="ko-KR" sz="1400" dirty="0">
              <a:ln w="12700">
                <a:solidFill>
                  <a:schemeClr val="tx1">
                    <a:alpha val="500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a시월구일1" panose="02020600000000000000" pitchFamily="18" charset="-127"/>
              <a:ea typeface="a시월구일1" panose="02020600000000000000" pitchFamily="18" charset="-127"/>
              <a:cs typeface="Pretendard" panose="02000503000000020004" pitchFamily="2" charset="-127"/>
            </a:endParaRPr>
          </a:p>
          <a:p>
            <a:pPr marL="85725" indent="-85725" latinLnBrk="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kumimoji="1" lang="ko-KR" altLang="en-US" sz="1400" dirty="0">
                <a:ln w="12700">
                  <a:solidFill>
                    <a:schemeClr val="tx1">
                      <a:alpha val="500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시월구일1" panose="02020600000000000000" pitchFamily="18" charset="-127"/>
                <a:ea typeface="a시월구일1" panose="02020600000000000000" pitchFamily="18" charset="-127"/>
                <a:cs typeface="Pretendard" panose="02000503000000020004" pitchFamily="2" charset="-127"/>
              </a:rPr>
              <a:t>군집 결과 평가 지표 기반 모델 성능 검증</a:t>
            </a:r>
            <a:endParaRPr kumimoji="1" lang="en-US" altLang="ko-KR" sz="1400" dirty="0">
              <a:ln w="12700">
                <a:solidFill>
                  <a:schemeClr val="tx1">
                    <a:alpha val="500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a시월구일1" panose="02020600000000000000" pitchFamily="18" charset="-127"/>
              <a:ea typeface="a시월구일1" panose="02020600000000000000" pitchFamily="18" charset="-127"/>
              <a:cs typeface="Pretendard" panose="02000503000000020004" pitchFamily="2" charset="-127"/>
            </a:endParaRPr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DBE9AFA4-325B-7375-3CE1-5582B581B2C9}"/>
              </a:ext>
            </a:extLst>
          </p:cNvPr>
          <p:cNvSpPr/>
          <p:nvPr/>
        </p:nvSpPr>
        <p:spPr>
          <a:xfrm>
            <a:off x="126842" y="5160963"/>
            <a:ext cx="11819158" cy="1285274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63C4746A-D0C8-C495-1420-FBD9C2E9D18A}"/>
              </a:ext>
            </a:extLst>
          </p:cNvPr>
          <p:cNvSpPr txBox="1"/>
          <p:nvPr/>
        </p:nvSpPr>
        <p:spPr>
          <a:xfrm>
            <a:off x="876087" y="1128668"/>
            <a:ext cx="10587780" cy="914096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algn="ctr" latinLnBrk="0">
              <a:lnSpc>
                <a:spcPct val="130000"/>
              </a:lnSpc>
            </a:pPr>
            <a:r>
              <a:rPr kumimoji="1" lang="ko-KR" altLang="en-US" dirty="0">
                <a:ln w="12700">
                  <a:solidFill>
                    <a:schemeClr val="tx1">
                      <a:alpha val="500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시월구일3" panose="02020600000000000000" pitchFamily="18" charset="-127"/>
                <a:ea typeface="a시월구일3" panose="02020600000000000000" pitchFamily="18" charset="-127"/>
                <a:cs typeface="Pretendard" panose="02000503000000020004" pitchFamily="2" charset="-127"/>
              </a:rPr>
              <a:t>데이터 기반 분석을 통해 </a:t>
            </a:r>
            <a:r>
              <a:rPr kumimoji="1" lang="ko-KR" altLang="en-US" sz="2400" dirty="0">
                <a:ln w="12700">
                  <a:solidFill>
                    <a:schemeClr val="tx1">
                      <a:alpha val="5000"/>
                    </a:schemeClr>
                  </a:solidFill>
                </a:ln>
                <a:solidFill>
                  <a:srgbClr val="0070C0"/>
                </a:solidFill>
                <a:latin typeface="a시월구일3" panose="02020600000000000000" pitchFamily="18" charset="-127"/>
                <a:ea typeface="a시월구일3" panose="02020600000000000000" pitchFamily="18" charset="-127"/>
                <a:cs typeface="Pretendard" panose="02000503000000020004" pitchFamily="2" charset="-127"/>
              </a:rPr>
              <a:t>자치구별 보건 취약 유형을 도출</a:t>
            </a:r>
            <a:r>
              <a:rPr kumimoji="1" lang="ko-KR" altLang="en-US" dirty="0">
                <a:ln w="12700">
                  <a:solidFill>
                    <a:schemeClr val="tx1">
                      <a:alpha val="500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시월구일3" panose="02020600000000000000" pitchFamily="18" charset="-127"/>
                <a:ea typeface="a시월구일3" panose="02020600000000000000" pitchFamily="18" charset="-127"/>
                <a:cs typeface="Pretendard" panose="02000503000000020004" pitchFamily="2" charset="-127"/>
              </a:rPr>
              <a:t>하고</a:t>
            </a:r>
            <a:r>
              <a:rPr kumimoji="1" lang="en-US" altLang="ko-KR" dirty="0">
                <a:ln w="12700">
                  <a:solidFill>
                    <a:schemeClr val="tx1">
                      <a:alpha val="500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시월구일3" panose="02020600000000000000" pitchFamily="18" charset="-127"/>
                <a:ea typeface="a시월구일3" panose="02020600000000000000" pitchFamily="18" charset="-127"/>
                <a:cs typeface="Pretendard" panose="02000503000000020004" pitchFamily="2" charset="-127"/>
              </a:rPr>
              <a:t>, </a:t>
            </a:r>
          </a:p>
          <a:p>
            <a:pPr algn="ctr" latinLnBrk="0">
              <a:lnSpc>
                <a:spcPct val="130000"/>
              </a:lnSpc>
            </a:pPr>
            <a:r>
              <a:rPr kumimoji="1" lang="ko-KR" altLang="en-US" sz="2400" dirty="0">
                <a:ln w="12700">
                  <a:solidFill>
                    <a:schemeClr val="tx1">
                      <a:alpha val="5000"/>
                    </a:schemeClr>
                  </a:solidFill>
                </a:ln>
                <a:solidFill>
                  <a:srgbClr val="0070C0"/>
                </a:solidFill>
                <a:latin typeface="a시월구일3" panose="02020600000000000000" pitchFamily="18" charset="-127"/>
                <a:ea typeface="a시월구일3" panose="02020600000000000000" pitchFamily="18" charset="-127"/>
                <a:cs typeface="Pretendard" panose="02000503000000020004" pitchFamily="2" charset="-127"/>
              </a:rPr>
              <a:t>정책 의사결정을 지원 하는 서비스</a:t>
            </a:r>
            <a:r>
              <a:rPr kumimoji="1" lang="ko-KR" altLang="en-US" sz="2400" dirty="0">
                <a:ln w="12700">
                  <a:solidFill>
                    <a:schemeClr val="tx1">
                      <a:alpha val="500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시월구일3" panose="02020600000000000000" pitchFamily="18" charset="-127"/>
                <a:ea typeface="a시월구일3" panose="02020600000000000000" pitchFamily="18" charset="-127"/>
                <a:cs typeface="Pretendard" panose="02000503000000020004" pitchFamily="2" charset="-127"/>
              </a:rPr>
              <a:t> </a:t>
            </a:r>
            <a:r>
              <a:rPr kumimoji="1" lang="ko-KR" altLang="en-US" dirty="0">
                <a:ln w="12700">
                  <a:solidFill>
                    <a:schemeClr val="tx1">
                      <a:alpha val="500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시월구일3" panose="02020600000000000000" pitchFamily="18" charset="-127"/>
                <a:ea typeface="a시월구일3" panose="02020600000000000000" pitchFamily="18" charset="-127"/>
                <a:cs typeface="Pretendard" panose="02000503000000020004" pitchFamily="2" charset="-127"/>
              </a:rPr>
              <a:t>제공</a:t>
            </a:r>
            <a:endParaRPr kumimoji="1" lang="en-US" altLang="ko-KR" dirty="0">
              <a:ln w="12700">
                <a:solidFill>
                  <a:schemeClr val="tx1">
                    <a:alpha val="500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a시월구일3" panose="02020600000000000000" pitchFamily="18" charset="-127"/>
              <a:ea typeface="a시월구일3" panose="02020600000000000000" pitchFamily="18" charset="-127"/>
              <a:cs typeface="Pretendard" panose="02000503000000020004" pitchFamily="2" charset="-127"/>
            </a:endParaRPr>
          </a:p>
        </p:txBody>
      </p:sp>
      <p:sp>
        <p:nvSpPr>
          <p:cNvPr id="38" name="사각형: 둥근 모서리 37">
            <a:extLst>
              <a:ext uri="{FF2B5EF4-FFF2-40B4-BE49-F238E27FC236}">
                <a16:creationId xmlns:a16="http://schemas.microsoft.com/office/drawing/2014/main" id="{30F34EB7-4480-D167-A449-09B324D8B2A5}"/>
              </a:ext>
            </a:extLst>
          </p:cNvPr>
          <p:cNvSpPr/>
          <p:nvPr/>
        </p:nvSpPr>
        <p:spPr>
          <a:xfrm>
            <a:off x="6157435" y="2752004"/>
            <a:ext cx="5848143" cy="1528752"/>
          </a:xfrm>
          <a:prstGeom prst="roundRect">
            <a:avLst>
              <a:gd name="adj" fmla="val 6065"/>
            </a:avLst>
          </a:prstGeom>
          <a:solidFill>
            <a:schemeClr val="bg1"/>
          </a:solidFill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9" name="사각형: 둥근 모서리 38">
            <a:extLst>
              <a:ext uri="{FF2B5EF4-FFF2-40B4-BE49-F238E27FC236}">
                <a16:creationId xmlns:a16="http://schemas.microsoft.com/office/drawing/2014/main" id="{F05573C4-86BD-0B8B-C30F-FD0C277AB349}"/>
              </a:ext>
            </a:extLst>
          </p:cNvPr>
          <p:cNvSpPr/>
          <p:nvPr/>
        </p:nvSpPr>
        <p:spPr>
          <a:xfrm>
            <a:off x="6157435" y="2517375"/>
            <a:ext cx="1953717" cy="377331"/>
          </a:xfrm>
          <a:prstGeom prst="roundRect">
            <a:avLst>
              <a:gd name="adj" fmla="val 16564"/>
            </a:avLst>
          </a:prstGeom>
          <a:solidFill>
            <a:schemeClr val="bg1">
              <a:lumMod val="95000"/>
            </a:schemeClr>
          </a:solidFill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000" dirty="0">
                <a:solidFill>
                  <a:schemeClr val="tx1"/>
                </a:solidFill>
                <a:latin typeface="a시월구일3" panose="02020600000000000000" pitchFamily="18" charset="-127"/>
                <a:ea typeface="a시월구일3" panose="02020600000000000000" pitchFamily="18" charset="-127"/>
                <a:cs typeface="Noto Sans Disp ExtBd" panose="020B0902040504020204" pitchFamily="34"/>
              </a:rPr>
              <a:t>Service</a:t>
            </a:r>
            <a:endParaRPr lang="ko-KR" altLang="en-US" sz="2000" dirty="0">
              <a:solidFill>
                <a:schemeClr val="tx1"/>
              </a:solidFill>
              <a:latin typeface="a시월구일3" panose="02020600000000000000" pitchFamily="18" charset="-127"/>
              <a:ea typeface="a시월구일3" panose="02020600000000000000" pitchFamily="18" charset="-127"/>
              <a:cs typeface="Noto Sans Disp ExtBd" panose="020B0902040504020204" pitchFamily="34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F86B8AC5-B36E-63D2-174F-4DCC8D9E3A82}"/>
              </a:ext>
            </a:extLst>
          </p:cNvPr>
          <p:cNvSpPr txBox="1"/>
          <p:nvPr/>
        </p:nvSpPr>
        <p:spPr>
          <a:xfrm>
            <a:off x="6250008" y="3013907"/>
            <a:ext cx="5755571" cy="931794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85725" indent="-85725" latinLnBrk="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ko-KR" altLang="en-US" sz="1400" dirty="0">
                <a:ln w="12700">
                  <a:solidFill>
                    <a:schemeClr val="tx1">
                      <a:alpha val="500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시월구일1" panose="02020600000000000000" pitchFamily="18" charset="-127"/>
                <a:ea typeface="a시월구일1" panose="02020600000000000000" pitchFamily="18" charset="-127"/>
                <a:cs typeface="Pretendard" panose="02000503000000020004" pitchFamily="2" charset="-127"/>
              </a:rPr>
              <a:t>자치구별 보건 </a:t>
            </a:r>
            <a:r>
              <a:rPr kumimoji="1" lang="ko-KR" altLang="en-US" sz="1400" dirty="0">
                <a:ln w="12700">
                  <a:solidFill>
                    <a:schemeClr val="tx1">
                      <a:alpha val="500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시월구일3" panose="02020600000000000000" pitchFamily="18" charset="-127"/>
                <a:ea typeface="a시월구일3" panose="02020600000000000000" pitchFamily="18" charset="-127"/>
                <a:cs typeface="Pretendard" panose="02000503000000020004" pitchFamily="2" charset="-127"/>
              </a:rPr>
              <a:t>취약 유형도</a:t>
            </a:r>
            <a:r>
              <a:rPr kumimoji="1" lang="en-US" altLang="ko-KR" sz="1400" dirty="0">
                <a:ln w="12700">
                  <a:solidFill>
                    <a:schemeClr val="tx1">
                      <a:alpha val="500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시월구일3" panose="02020600000000000000" pitchFamily="18" charset="-127"/>
                <a:ea typeface="a시월구일3" panose="02020600000000000000" pitchFamily="18" charset="-127"/>
                <a:cs typeface="Pretendard" panose="02000503000000020004" pitchFamily="2" charset="-127"/>
              </a:rPr>
              <a:t> </a:t>
            </a:r>
            <a:r>
              <a:rPr kumimoji="1" lang="ko-KR" altLang="en-US" sz="1400" dirty="0">
                <a:ln w="12700">
                  <a:solidFill>
                    <a:schemeClr val="tx1">
                      <a:alpha val="500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시월구일3" panose="02020600000000000000" pitchFamily="18" charset="-127"/>
                <a:ea typeface="a시월구일3" panose="02020600000000000000" pitchFamily="18" charset="-127"/>
                <a:cs typeface="Pretendard" panose="02000503000000020004" pitchFamily="2" charset="-127"/>
              </a:rPr>
              <a:t>분석</a:t>
            </a:r>
            <a:endParaRPr kumimoji="1" lang="en-US" altLang="ko-KR" sz="1400" dirty="0">
              <a:ln w="12700">
                <a:solidFill>
                  <a:schemeClr val="tx1">
                    <a:alpha val="500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a시월구일3" panose="02020600000000000000" pitchFamily="18" charset="-127"/>
              <a:ea typeface="a시월구일3" panose="02020600000000000000" pitchFamily="18" charset="-127"/>
              <a:cs typeface="Pretendard" panose="02000503000000020004" pitchFamily="2" charset="-127"/>
            </a:endParaRPr>
          </a:p>
          <a:p>
            <a:pPr marL="85725" indent="-85725" latinLnBrk="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ko-KR" altLang="en-US" sz="1400" dirty="0">
                <a:ln w="12700">
                  <a:solidFill>
                    <a:schemeClr val="tx1">
                      <a:alpha val="500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시월구일3" panose="02020600000000000000" pitchFamily="18" charset="-127"/>
                <a:ea typeface="a시월구일3" panose="02020600000000000000" pitchFamily="18" charset="-127"/>
                <a:cs typeface="Pretendard" panose="02000503000000020004" pitchFamily="2" charset="-127"/>
              </a:rPr>
              <a:t>위험도를 직관적으로 확인</a:t>
            </a:r>
            <a:r>
              <a:rPr kumimoji="1" lang="ko-KR" altLang="en-US" sz="1400" dirty="0">
                <a:ln w="12700">
                  <a:solidFill>
                    <a:schemeClr val="tx1">
                      <a:alpha val="500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시월구일1" panose="02020600000000000000" pitchFamily="18" charset="-127"/>
                <a:ea typeface="a시월구일1" panose="02020600000000000000" pitchFamily="18" charset="-127"/>
                <a:cs typeface="Pretendard" panose="02000503000000020004" pitchFamily="2" charset="-127"/>
              </a:rPr>
              <a:t>할 수 있는 서비스 제공 </a:t>
            </a:r>
            <a:endParaRPr kumimoji="1" lang="en-US" altLang="ko-KR" sz="1400" dirty="0">
              <a:ln w="12700">
                <a:solidFill>
                  <a:schemeClr val="tx1">
                    <a:alpha val="500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a시월구일1" panose="02020600000000000000" pitchFamily="18" charset="-127"/>
              <a:ea typeface="a시월구일1" panose="02020600000000000000" pitchFamily="18" charset="-127"/>
              <a:cs typeface="Pretendard" panose="02000503000000020004" pitchFamily="2" charset="-127"/>
            </a:endParaRPr>
          </a:p>
          <a:p>
            <a:pPr marL="85725" indent="-85725" latinLnBrk="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ko-KR" altLang="en-US" sz="1400" dirty="0">
                <a:ln w="12700">
                  <a:solidFill>
                    <a:schemeClr val="tx1">
                      <a:alpha val="500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시월구일1" panose="02020600000000000000" pitchFamily="18" charset="-127"/>
                <a:ea typeface="a시월구일1" panose="02020600000000000000" pitchFamily="18" charset="-127"/>
                <a:cs typeface="Pretendard" panose="02000503000000020004" pitchFamily="2" charset="-127"/>
              </a:rPr>
              <a:t>지역별 상세 분석 및 원인 정보를 사용자가 쉽게 탐색할 수 있는 서비스</a:t>
            </a:r>
            <a:endParaRPr kumimoji="1" lang="en-US" altLang="ko-KR" sz="1400" dirty="0">
              <a:ln w="12700">
                <a:solidFill>
                  <a:schemeClr val="tx1">
                    <a:alpha val="500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a시월구일1" panose="02020600000000000000" pitchFamily="18" charset="-127"/>
              <a:ea typeface="a시월구일1" panose="02020600000000000000" pitchFamily="18" charset="-127"/>
              <a:cs typeface="Pretendard" panose="02000503000000020004" pitchFamily="2" charset="-127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E992E3DE-9EFD-8C27-6FB7-FFA999B81E34}"/>
              </a:ext>
            </a:extLst>
          </p:cNvPr>
          <p:cNvSpPr txBox="1"/>
          <p:nvPr/>
        </p:nvSpPr>
        <p:spPr>
          <a:xfrm>
            <a:off x="446532" y="5548764"/>
            <a:ext cx="6321157" cy="608628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85725" indent="-85725" latinLnBrk="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ko-KR" altLang="en-US" sz="1400" dirty="0">
                <a:ln w="12700">
                  <a:solidFill>
                    <a:schemeClr val="tx1">
                      <a:alpha val="500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시월구일1" panose="02020600000000000000" pitchFamily="18" charset="-127"/>
                <a:ea typeface="a시월구일1" panose="02020600000000000000" pitchFamily="18" charset="-127"/>
                <a:cs typeface="Pretendard" panose="02000503000000020004" pitchFamily="2" charset="-127"/>
              </a:rPr>
              <a:t>분석 결과를 기반으로 자치구별 보건 정책 의사결정을 지원하는 시스템 구현</a:t>
            </a:r>
            <a:endParaRPr kumimoji="1" lang="en-US" altLang="ko-KR" sz="1400" dirty="0">
              <a:ln w="12700">
                <a:solidFill>
                  <a:schemeClr val="tx1">
                    <a:alpha val="500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a시월구일1" panose="02020600000000000000" pitchFamily="18" charset="-127"/>
              <a:ea typeface="a시월구일1" panose="02020600000000000000" pitchFamily="18" charset="-127"/>
              <a:cs typeface="Pretendard" panose="02000503000000020004" pitchFamily="2" charset="-127"/>
            </a:endParaRPr>
          </a:p>
          <a:p>
            <a:pPr marL="85725" indent="-85725" latinLnBrk="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ko-KR" altLang="en-US" sz="1400" dirty="0">
                <a:ln w="12700">
                  <a:solidFill>
                    <a:schemeClr val="tx1">
                      <a:alpha val="500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시월구일1" panose="02020600000000000000" pitchFamily="18" charset="-127"/>
                <a:ea typeface="a시월구일1" panose="02020600000000000000" pitchFamily="18" charset="-127"/>
                <a:cs typeface="Pretendard" panose="02000503000000020004" pitchFamily="2" charset="-127"/>
              </a:rPr>
              <a:t>지역 특성에 따른 맞춤형 정책 방향 제공</a:t>
            </a:r>
            <a:endParaRPr kumimoji="1" lang="en-US" altLang="ko-KR" sz="1400" dirty="0">
              <a:ln w="12700">
                <a:solidFill>
                  <a:schemeClr val="tx1">
                    <a:alpha val="500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a시월구일1" panose="02020600000000000000" pitchFamily="18" charset="-127"/>
              <a:ea typeface="a시월구일1" panose="02020600000000000000" pitchFamily="18" charset="-127"/>
              <a:cs typeface="Pretendard" panose="02000503000000020004" pitchFamily="2" charset="-127"/>
            </a:endParaRPr>
          </a:p>
        </p:txBody>
      </p:sp>
      <p:sp>
        <p:nvSpPr>
          <p:cNvPr id="43" name="사각형: 둥근 모서리 42">
            <a:extLst>
              <a:ext uri="{FF2B5EF4-FFF2-40B4-BE49-F238E27FC236}">
                <a16:creationId xmlns:a16="http://schemas.microsoft.com/office/drawing/2014/main" id="{FA1D4FA5-10F6-175D-E0E2-FDC117A36B24}"/>
              </a:ext>
            </a:extLst>
          </p:cNvPr>
          <p:cNvSpPr/>
          <p:nvPr/>
        </p:nvSpPr>
        <p:spPr>
          <a:xfrm>
            <a:off x="4896904" y="4997489"/>
            <a:ext cx="2398191" cy="463174"/>
          </a:xfrm>
          <a:prstGeom prst="roundRect">
            <a:avLst>
              <a:gd name="adj" fmla="val 16564"/>
            </a:avLst>
          </a:prstGeom>
          <a:solidFill>
            <a:schemeClr val="bg1">
              <a:lumMod val="95000"/>
            </a:schemeClr>
          </a:solidFill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000" dirty="0">
                <a:solidFill>
                  <a:schemeClr val="tx1"/>
                </a:solidFill>
                <a:latin typeface="a시월구일3" panose="02020600000000000000" pitchFamily="18" charset="-127"/>
                <a:ea typeface="a시월구일3" panose="02020600000000000000" pitchFamily="18" charset="-127"/>
                <a:cs typeface="Noto Sans Disp ExtBd" panose="020B0902040504020204" pitchFamily="34"/>
              </a:rPr>
              <a:t>System / Goal</a:t>
            </a:r>
            <a:endParaRPr lang="ko-KR" altLang="en-US" sz="2000" dirty="0">
              <a:solidFill>
                <a:schemeClr val="tx1"/>
              </a:solidFill>
              <a:latin typeface="a시월구일3" panose="02020600000000000000" pitchFamily="18" charset="-127"/>
              <a:ea typeface="a시월구일3" panose="02020600000000000000" pitchFamily="18" charset="-127"/>
              <a:cs typeface="Noto Sans Disp ExtBd" panose="020B0902040504020204" pitchFamily="34"/>
            </a:endParaRPr>
          </a:p>
        </p:txBody>
      </p:sp>
    </p:spTree>
    <p:extLst>
      <p:ext uri="{BB962C8B-B14F-4D97-AF65-F5344CB8AC3E}">
        <p14:creationId xmlns:p14="http://schemas.microsoft.com/office/powerpoint/2010/main" val="376712677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1597</TotalTime>
  <Words>241</Words>
  <Application>Microsoft Office PowerPoint</Application>
  <PresentationFormat>와이드스크린</PresentationFormat>
  <Paragraphs>39</Paragraphs>
  <Slides>4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10" baseType="lpstr">
      <vt:lpstr>a시월구일1</vt:lpstr>
      <vt:lpstr>a시월구일3</vt:lpstr>
      <vt:lpstr>a시월구일4</vt:lpstr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성욱 진</dc:creator>
  <cp:lastModifiedBy>성욱 진</cp:lastModifiedBy>
  <cp:revision>40</cp:revision>
  <dcterms:created xsi:type="dcterms:W3CDTF">2026-03-15T03:06:37Z</dcterms:created>
  <dcterms:modified xsi:type="dcterms:W3CDTF">2026-03-24T08:30:32Z</dcterms:modified>
</cp:coreProperties>
</file>