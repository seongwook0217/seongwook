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6" r:id="rId4"/>
    <p:sldId id="263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DCE6"/>
    <a:srgbClr val="EFF6FF"/>
    <a:srgbClr val="333333"/>
    <a:srgbClr val="E0E0E0"/>
    <a:srgbClr val="F5F5F5"/>
    <a:srgbClr val="F9FBFC"/>
    <a:srgbClr val="F8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713" y="274"/>
      </p:cViewPr>
      <p:guideLst>
        <p:guide orient="horz" pos="2160"/>
        <p:guide pos="3840"/>
        <p:guide orient="horz" pos="6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욱 진" userId="f47a80d7871cb125" providerId="LiveId" clId="{FDCBA572-350E-4C39-BF59-3626AC33FF79}"/>
    <pc:docChg chg="custSel delSld modSld">
      <pc:chgData name="성욱 진" userId="f47a80d7871cb125" providerId="LiveId" clId="{FDCBA572-350E-4C39-BF59-3626AC33FF79}" dt="2026-03-19T05:56:01.480" v="7" actId="47"/>
      <pc:docMkLst>
        <pc:docMk/>
      </pc:docMkLst>
      <pc:sldChg chg="delSp modSp mod">
        <pc:chgData name="성욱 진" userId="f47a80d7871cb125" providerId="LiveId" clId="{FDCBA572-350E-4C39-BF59-3626AC33FF79}" dt="2026-03-19T05:51:26.562" v="5" actId="478"/>
        <pc:sldMkLst>
          <pc:docMk/>
          <pc:sldMk cId="687017097" sldId="256"/>
        </pc:sldMkLst>
        <pc:spChg chg="del mod">
          <ac:chgData name="성욱 진" userId="f47a80d7871cb125" providerId="LiveId" clId="{FDCBA572-350E-4C39-BF59-3626AC33FF79}" dt="2026-03-19T05:50:44.358" v="2" actId="478"/>
          <ac:spMkLst>
            <pc:docMk/>
            <pc:sldMk cId="687017097" sldId="256"/>
            <ac:spMk id="8" creationId="{2C2E5547-8B93-4929-A4AD-0D273BF17DC5}"/>
          </ac:spMkLst>
        </pc:spChg>
        <pc:spChg chg="del">
          <ac:chgData name="성욱 진" userId="f47a80d7871cb125" providerId="LiveId" clId="{FDCBA572-350E-4C39-BF59-3626AC33FF79}" dt="2026-03-19T05:51:22.789" v="4" actId="478"/>
          <ac:spMkLst>
            <pc:docMk/>
            <pc:sldMk cId="687017097" sldId="256"/>
            <ac:spMk id="10" creationId="{5963AA9B-179B-4820-BEDE-45A0E81B1DD5}"/>
          </ac:spMkLst>
        </pc:spChg>
        <pc:spChg chg="del topLvl">
          <ac:chgData name="성욱 진" userId="f47a80d7871cb125" providerId="LiveId" clId="{FDCBA572-350E-4C39-BF59-3626AC33FF79}" dt="2026-03-19T05:51:26.562" v="5" actId="478"/>
          <ac:spMkLst>
            <pc:docMk/>
            <pc:sldMk cId="687017097" sldId="256"/>
            <ac:spMk id="12" creationId="{558FE02F-E547-4FCD-AD02-0B8DB31EDA64}"/>
          </ac:spMkLst>
        </pc:spChg>
        <pc:spChg chg="del">
          <ac:chgData name="성욱 진" userId="f47a80d7871cb125" providerId="LiveId" clId="{FDCBA572-350E-4C39-BF59-3626AC33FF79}" dt="2026-03-19T05:51:17.673" v="3" actId="478"/>
          <ac:spMkLst>
            <pc:docMk/>
            <pc:sldMk cId="687017097" sldId="256"/>
            <ac:spMk id="13" creationId="{6DCD28C2-F01E-47E4-9A35-385BE5944A69}"/>
          </ac:spMkLst>
        </pc:spChg>
        <pc:spChg chg="topLvl">
          <ac:chgData name="성욱 진" userId="f47a80d7871cb125" providerId="LiveId" clId="{FDCBA572-350E-4C39-BF59-3626AC33FF79}" dt="2026-03-19T05:51:26.562" v="5" actId="478"/>
          <ac:spMkLst>
            <pc:docMk/>
            <pc:sldMk cId="687017097" sldId="256"/>
            <ac:spMk id="14" creationId="{05BCAF62-D4BF-460D-8135-96EB901E9318}"/>
          </ac:spMkLst>
        </pc:spChg>
        <pc:grpChg chg="del">
          <ac:chgData name="성욱 진" userId="f47a80d7871cb125" providerId="LiveId" clId="{FDCBA572-350E-4C39-BF59-3626AC33FF79}" dt="2026-03-19T05:51:26.562" v="5" actId="478"/>
          <ac:grpSpMkLst>
            <pc:docMk/>
            <pc:sldMk cId="687017097" sldId="256"/>
            <ac:grpSpMk id="15" creationId="{7ED67502-7674-4AEC-9490-BE720DDDB019}"/>
          </ac:grpSpMkLst>
        </pc:grpChg>
      </pc:sldChg>
      <pc:sldChg chg="del">
        <pc:chgData name="성욱 진" userId="f47a80d7871cb125" providerId="LiveId" clId="{FDCBA572-350E-4C39-BF59-3626AC33FF79}" dt="2026-03-19T05:51:37.410" v="6" actId="47"/>
        <pc:sldMkLst>
          <pc:docMk/>
          <pc:sldMk cId="368021184" sldId="257"/>
        </pc:sldMkLst>
      </pc:sldChg>
      <pc:sldChg chg="del">
        <pc:chgData name="성욱 진" userId="f47a80d7871cb125" providerId="LiveId" clId="{FDCBA572-350E-4C39-BF59-3626AC33FF79}" dt="2026-03-19T05:56:01.480" v="7" actId="47"/>
        <pc:sldMkLst>
          <pc:docMk/>
          <pc:sldMk cId="3501440110" sldId="260"/>
        </pc:sldMkLst>
      </pc:sldChg>
      <pc:sldChg chg="del">
        <pc:chgData name="성욱 진" userId="f47a80d7871cb125" providerId="LiveId" clId="{FDCBA572-350E-4C39-BF59-3626AC33FF79}" dt="2026-03-19T05:56:01.480" v="7" actId="47"/>
        <pc:sldMkLst>
          <pc:docMk/>
          <pc:sldMk cId="2388758371" sldId="261"/>
        </pc:sldMkLst>
      </pc:sldChg>
      <pc:sldChg chg="del mod modShow">
        <pc:chgData name="성욱 진" userId="f47a80d7871cb125" providerId="LiveId" clId="{FDCBA572-350E-4C39-BF59-3626AC33FF79}" dt="2026-03-19T05:56:01.480" v="7" actId="47"/>
        <pc:sldMkLst>
          <pc:docMk/>
          <pc:sldMk cId="2289482787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09CCD3A-AEFA-40D6-9A05-5E50EDBF10FF}"/>
              </a:ext>
            </a:extLst>
          </p:cNvPr>
          <p:cNvCxnSpPr>
            <a:cxnSpLocks/>
          </p:cNvCxnSpPr>
          <p:nvPr userDrawn="1"/>
        </p:nvCxnSpPr>
        <p:spPr>
          <a:xfrm>
            <a:off x="650471" y="0"/>
            <a:ext cx="0" cy="685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526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121117D-B88A-4A41-89B1-ADE554ED215A}"/>
              </a:ext>
            </a:extLst>
          </p:cNvPr>
          <p:cNvCxnSpPr>
            <a:cxnSpLocks/>
          </p:cNvCxnSpPr>
          <p:nvPr userDrawn="1"/>
        </p:nvCxnSpPr>
        <p:spPr>
          <a:xfrm>
            <a:off x="548640" y="432262"/>
            <a:ext cx="798022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780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121117D-B88A-4A41-89B1-ADE554ED215A}"/>
              </a:ext>
            </a:extLst>
          </p:cNvPr>
          <p:cNvCxnSpPr>
            <a:cxnSpLocks/>
          </p:cNvCxnSpPr>
          <p:nvPr userDrawn="1"/>
        </p:nvCxnSpPr>
        <p:spPr>
          <a:xfrm>
            <a:off x="548640" y="432262"/>
            <a:ext cx="798022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505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98B65-F4CB-4775-966C-7872B5CEA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82CF15-065A-4E86-98D6-6B4B8F538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26CBE9-B69B-4656-B712-F462D223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7FE517-7134-4F0A-B4D4-C7270D80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3DFE51-2A71-472E-8549-0DAC2880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529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BB7F5-13A7-459E-B2D6-A06A8482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DA95DE-6D2D-418A-9521-FD35A4647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EA2360-CBAA-4A4C-AB96-6CAF7DAB6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3769A9-7C97-4F4A-AE99-4B069B07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5B0818-745B-461D-AB35-3691F188D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72600C-4A42-4BAD-AF29-D16E0F73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58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D2B54E-9514-48BB-80C8-06CE73E0F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E9F7CD-81AF-405C-9337-3B53A3EE2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3892E1-A7B3-413C-9B04-FBA7DFC5B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BAD67B-9ADD-43D5-BAFA-6CAF29CB6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0402B9-4588-46FF-808B-E3B2BFEA2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EEF440-0DF3-44BF-B0EC-2233B00F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E7DF248-0F94-4C77-A8D0-655331732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A0661E-5051-4F8D-B67A-D105C68E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172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CAE28-A7F4-4602-882D-3F448BE15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FD5CD8-A9E6-472B-8A59-3655D75B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86C6FA-9644-4139-81E9-5D35BC33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F01F6B-F18C-4AD4-A26B-E57C261D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89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FFD921-A994-42F0-A43B-0F74D11B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2D510B-92E5-4598-A4CE-E818491A4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5D3E6D-BEAA-4A86-BDD3-0EBFEBAB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342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2E319-B42B-4713-A473-FE70BB233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6CDA2-3ACF-4C5C-A16F-8ADE379FC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6C05C4-B73F-4E72-ADEE-D9190B48C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1BF957-2981-4A07-BD29-E98CAE041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244B6C-A6BD-447E-A94F-3A31A44F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4776DD-A3EB-4192-BD3D-AA515767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331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F7E3E-658B-4B52-AC00-272F82566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AA7F5C-1BF2-463A-900A-E018ECCF2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9A50FB-57FD-4543-9D76-5AB191E3D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C7D4DF-48CA-4319-91F1-5A493488B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669EDA-9065-4702-981C-63016C3E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23D31E-F3B1-4EEB-9795-1C2D0A08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89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C54A5-14B2-4291-A863-73823A1A8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6842BE-4F5F-4B74-AF95-DA9ACDEC9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37454E-8FE0-45E3-B2E3-C826A13F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7E775C-597D-443B-854D-669B59A0F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F96C04-3DB6-480A-B5E6-FF8686C3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701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053F94E-8567-4C33-9AB4-A6E8CCEE8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A2845A-22F8-41D6-BFCB-08804FB79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55E065-89AB-4DED-A937-D1E6107F0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10EA28-3F79-4129-89BB-9B4F3481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AF2A2C-DCBF-4E05-91E9-E92A2841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78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51C4B5-CA61-4910-B10C-1C098273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B36EE4-4BF2-40DD-8668-A75C525A6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15CE2E-315A-4BAC-9725-6A067A289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1FBC4-7606-4365-936D-FA197F527325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B9479-A290-4A37-BE6F-BADF54221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30BC4E-1098-4A08-8E69-617DE6553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31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3A4FB8F-BACC-4713-87B3-DED36C01DB8F}"/>
              </a:ext>
            </a:extLst>
          </p:cNvPr>
          <p:cNvCxnSpPr>
            <a:cxnSpLocks/>
          </p:cNvCxnSpPr>
          <p:nvPr/>
        </p:nvCxnSpPr>
        <p:spPr>
          <a:xfrm>
            <a:off x="906185" y="854306"/>
            <a:ext cx="56759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615DEF0C-95EF-467E-B7EF-6245093BD5CB}"/>
              </a:ext>
            </a:extLst>
          </p:cNvPr>
          <p:cNvSpPr txBox="1">
            <a:spLocks/>
          </p:cNvSpPr>
          <p:nvPr/>
        </p:nvSpPr>
        <p:spPr>
          <a:xfrm>
            <a:off x="3596343" y="3369341"/>
            <a:ext cx="4999315" cy="41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 err="1">
                <a:latin typeface="a시월구일1" panose="02020600000000000000" pitchFamily="18" charset="-127"/>
                <a:ea typeface="a시월구일1" panose="02020600000000000000" pitchFamily="18" charset="-127"/>
              </a:rPr>
              <a:t>머신러닝</a:t>
            </a:r>
            <a:r>
              <a:rPr lang="ko-KR" altLang="en-US" sz="2000" dirty="0">
                <a:latin typeface="a시월구일1" panose="02020600000000000000" pitchFamily="18" charset="-127"/>
                <a:ea typeface="a시월구일1" panose="02020600000000000000" pitchFamily="18" charset="-127"/>
              </a:rPr>
              <a:t> 기반 데이터 분석 및 군집화 모델</a:t>
            </a: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05BCAF62-D4BF-460D-8135-96EB901E9318}"/>
              </a:ext>
            </a:extLst>
          </p:cNvPr>
          <p:cNvSpPr txBox="1">
            <a:spLocks/>
          </p:cNvSpPr>
          <p:nvPr/>
        </p:nvSpPr>
        <p:spPr>
          <a:xfrm>
            <a:off x="4938058" y="4834293"/>
            <a:ext cx="3924300" cy="41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latin typeface="a시월구일1" panose="02020600000000000000" pitchFamily="18" charset="-127"/>
                <a:ea typeface="a시월구일1" panose="02020600000000000000" pitchFamily="18" charset="-127"/>
              </a:rPr>
              <a:t>생성형 </a:t>
            </a:r>
            <a:r>
              <a:rPr lang="en-US" altLang="ko-KR" sz="1400" dirty="0">
                <a:latin typeface="a시월구일1" panose="02020600000000000000" pitchFamily="18" charset="-127"/>
                <a:ea typeface="a시월구일1" panose="02020600000000000000" pitchFamily="18" charset="-127"/>
              </a:rPr>
              <a:t>AI </a:t>
            </a:r>
            <a:r>
              <a:rPr lang="ko-KR" altLang="en-US" sz="1400" dirty="0">
                <a:latin typeface="a시월구일1" panose="02020600000000000000" pitchFamily="18" charset="-127"/>
                <a:ea typeface="a시월구일1" panose="02020600000000000000" pitchFamily="18" charset="-127"/>
              </a:rPr>
              <a:t>개발자 양성과정 </a:t>
            </a:r>
            <a:r>
              <a:rPr lang="en-US" altLang="ko-KR" sz="1400" dirty="0">
                <a:latin typeface="a시월구일1" panose="02020600000000000000" pitchFamily="18" charset="-127"/>
                <a:ea typeface="a시월구일1" panose="02020600000000000000" pitchFamily="18" charset="-127"/>
              </a:rPr>
              <a:t>| </a:t>
            </a:r>
            <a:r>
              <a:rPr lang="ko-KR" altLang="en-US" sz="1400" dirty="0" err="1">
                <a:latin typeface="a시월구일1" panose="02020600000000000000" pitchFamily="18" charset="-127"/>
                <a:ea typeface="a시월구일1" panose="02020600000000000000" pitchFamily="18" charset="-127"/>
              </a:rPr>
              <a:t>진성욱</a:t>
            </a:r>
            <a:endParaRPr lang="ko-KR" altLang="en-US" sz="1400" dirty="0">
              <a:latin typeface="a시월구일1" panose="02020600000000000000" pitchFamily="18" charset="-127"/>
              <a:ea typeface="a시월구일1" panose="02020600000000000000" pitchFamily="18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9342C96-386D-9C78-6D4B-C876C6E36523}"/>
              </a:ext>
            </a:extLst>
          </p:cNvPr>
          <p:cNvSpPr txBox="1">
            <a:spLocks/>
          </p:cNvSpPr>
          <p:nvPr/>
        </p:nvSpPr>
        <p:spPr>
          <a:xfrm>
            <a:off x="1508090" y="1315861"/>
            <a:ext cx="9175820" cy="17178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3600" spc="300" dirty="0">
                <a:latin typeface="a시월구일3" panose="02020600000000000000" pitchFamily="18" charset="-127"/>
                <a:ea typeface="a시월구일3" panose="02020600000000000000" pitchFamily="18" charset="-127"/>
              </a:rPr>
              <a:t>서울시 자치구별 보건 취약 유형 분석 및 정책 지원 시스템 개발</a:t>
            </a:r>
          </a:p>
        </p:txBody>
      </p:sp>
    </p:spTree>
    <p:extLst>
      <p:ext uri="{BB962C8B-B14F-4D97-AF65-F5344CB8AC3E}">
        <p14:creationId xmlns:p14="http://schemas.microsoft.com/office/powerpoint/2010/main" val="68701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6C09D-105C-15CB-53B0-392CCA3EC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FE452065-003A-C266-7A7C-34BEA9EED900}"/>
              </a:ext>
            </a:extLst>
          </p:cNvPr>
          <p:cNvSpPr txBox="1"/>
          <p:nvPr/>
        </p:nvSpPr>
        <p:spPr>
          <a:xfrm>
            <a:off x="516749" y="379988"/>
            <a:ext cx="2266646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2. </a:t>
            </a: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개발 의도</a:t>
            </a: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(1/2)</a:t>
            </a:r>
            <a:endParaRPr lang="en-US" altLang="ko-KR" sz="2400" dirty="0">
              <a:latin typeface="a시월구일3" panose="02020600000000000000" pitchFamily="18" charset="-127"/>
              <a:ea typeface="a시월구일3" panose="02020600000000000000" pitchFamily="18" charset="-127"/>
              <a:cs typeface="+mj-cs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B004BA2-90C2-0783-4768-530CC51F1823}"/>
              </a:ext>
            </a:extLst>
          </p:cNvPr>
          <p:cNvGrpSpPr/>
          <p:nvPr/>
        </p:nvGrpSpPr>
        <p:grpSpPr>
          <a:xfrm>
            <a:off x="1550279" y="1223846"/>
            <a:ext cx="2628886" cy="2708893"/>
            <a:chOff x="120622" y="1253507"/>
            <a:chExt cx="3940178" cy="4060093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1CC2694-595C-43BB-0EF0-F51171050528}"/>
                </a:ext>
              </a:extLst>
            </p:cNvPr>
            <p:cNvSpPr/>
            <p:nvPr/>
          </p:nvSpPr>
          <p:spPr>
            <a:xfrm>
              <a:off x="120622" y="1253507"/>
              <a:ext cx="3940178" cy="4060093"/>
            </a:xfrm>
            <a:prstGeom prst="roundRect">
              <a:avLst>
                <a:gd name="adj" fmla="val 3177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DB7C4280-FAB1-551E-199C-1F6B350E2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9694" y="1361576"/>
              <a:ext cx="3722035" cy="3843955"/>
            </a:xfrm>
            <a:prstGeom prst="rect">
              <a:avLst/>
            </a:prstGeom>
          </p:spPr>
        </p:pic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945D88BB-A6B2-3633-9033-CDB0640ED4DD}"/>
              </a:ext>
            </a:extLst>
          </p:cNvPr>
          <p:cNvGrpSpPr/>
          <p:nvPr/>
        </p:nvGrpSpPr>
        <p:grpSpPr>
          <a:xfrm>
            <a:off x="4716635" y="1223846"/>
            <a:ext cx="2628885" cy="2708892"/>
            <a:chOff x="4155472" y="1253507"/>
            <a:chExt cx="3940178" cy="4060093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731E81FC-5095-5AC3-2326-10ED8860FE6A}"/>
                </a:ext>
              </a:extLst>
            </p:cNvPr>
            <p:cNvSpPr/>
            <p:nvPr/>
          </p:nvSpPr>
          <p:spPr>
            <a:xfrm>
              <a:off x="4155472" y="1253507"/>
              <a:ext cx="3940178" cy="4060093"/>
            </a:xfrm>
            <a:prstGeom prst="roundRect">
              <a:avLst>
                <a:gd name="adj" fmla="val 3177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394F3956-612D-9DF1-23CE-F7AF30B4D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56192" y="1361576"/>
              <a:ext cx="3738739" cy="3899853"/>
            </a:xfrm>
            <a:prstGeom prst="rect">
              <a:avLst/>
            </a:prstGeom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C5B0208-E249-E2E1-4679-AF57FBE0089E}"/>
              </a:ext>
            </a:extLst>
          </p:cNvPr>
          <p:cNvGrpSpPr/>
          <p:nvPr/>
        </p:nvGrpSpPr>
        <p:grpSpPr>
          <a:xfrm>
            <a:off x="7882990" y="1218645"/>
            <a:ext cx="2628885" cy="2708892"/>
            <a:chOff x="8180533" y="1253507"/>
            <a:chExt cx="3940178" cy="4060093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069B4B55-2385-E48F-6766-5AD91DC2D9F8}"/>
                </a:ext>
              </a:extLst>
            </p:cNvPr>
            <p:cNvSpPr/>
            <p:nvPr/>
          </p:nvSpPr>
          <p:spPr>
            <a:xfrm>
              <a:off x="8180533" y="1253507"/>
              <a:ext cx="3940178" cy="4060093"/>
            </a:xfrm>
            <a:prstGeom prst="roundRect">
              <a:avLst>
                <a:gd name="adj" fmla="val 3177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F22BA3A0-E4B1-E841-8D7F-5ED8245D0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15237" y="1361576"/>
              <a:ext cx="3670770" cy="384395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636A844-655A-C650-6D10-15EADA4FA1D0}"/>
              </a:ext>
            </a:extLst>
          </p:cNvPr>
          <p:cNvSpPr txBox="1"/>
          <p:nvPr/>
        </p:nvSpPr>
        <p:spPr>
          <a:xfrm>
            <a:off x="1482653" y="5510849"/>
            <a:ext cx="9299720" cy="4339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“</a:t>
            </a:r>
            <a:r>
              <a:rPr lang="ko-KR" altLang="en-US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단순 미세먼지 정보 제공을 넘어</a:t>
            </a: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실제 건강 위험도를 반영한 분석 </a:t>
            </a: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필요</a:t>
            </a: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1913DCD-39D1-333C-1C02-6AC0D32D11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260952" y="3705954"/>
            <a:ext cx="3641686" cy="170041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9322F45-8C92-821D-0A8D-E9C71B58E605}"/>
              </a:ext>
            </a:extLst>
          </p:cNvPr>
          <p:cNvSpPr txBox="1"/>
          <p:nvPr/>
        </p:nvSpPr>
        <p:spPr>
          <a:xfrm>
            <a:off x="2435080" y="4165965"/>
            <a:ext cx="7293429" cy="32547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“</a:t>
            </a:r>
            <a:r>
              <a:rPr lang="ko-KR" altLang="en-US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미세먼지는 단순 환경 문제가 아닌 </a:t>
            </a:r>
            <a:r>
              <a:rPr lang="ko-KR" altLang="en-US" dirty="0">
                <a:solidFill>
                  <a:srgbClr val="0070C0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건강 위험 문제로 확대</a:t>
            </a:r>
            <a:r>
              <a:rPr lang="ko-KR" altLang="en-US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되고 있음</a:t>
            </a: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8828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9DA71-1CFD-6F3D-30DB-0FE057E5C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E90BC241-2770-08CD-B3EC-45915D980DB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32644" y="3122747"/>
            <a:ext cx="4336782" cy="198287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40071BF-3309-773D-0644-E72B9F968EBA}"/>
              </a:ext>
            </a:extLst>
          </p:cNvPr>
          <p:cNvSpPr txBox="1"/>
          <p:nvPr/>
        </p:nvSpPr>
        <p:spPr>
          <a:xfrm>
            <a:off x="516749" y="379988"/>
            <a:ext cx="2205732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2. </a:t>
            </a: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개발의도</a:t>
            </a:r>
            <a:r>
              <a:rPr lang="en-US" altLang="ko-KR" sz="20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(2/2)</a:t>
            </a:r>
            <a:endParaRPr lang="en-US" altLang="ko-KR" sz="2400" dirty="0">
              <a:latin typeface="a시월구일3" panose="02020600000000000000" pitchFamily="18" charset="-127"/>
              <a:ea typeface="a시월구일3" panose="02020600000000000000" pitchFamily="18" charset="-127"/>
              <a:cs typeface="+mj-cs"/>
            </a:endParaRPr>
          </a:p>
        </p:txBody>
      </p:sp>
      <p:sp>
        <p:nvSpPr>
          <p:cNvPr id="46" name="순서도: 병합 45">
            <a:extLst>
              <a:ext uri="{FF2B5EF4-FFF2-40B4-BE49-F238E27FC236}">
                <a16:creationId xmlns:a16="http://schemas.microsoft.com/office/drawing/2014/main" id="{5D765520-A078-89DB-D504-2018796C7F6D}"/>
              </a:ext>
            </a:extLst>
          </p:cNvPr>
          <p:cNvSpPr/>
          <p:nvPr/>
        </p:nvSpPr>
        <p:spPr>
          <a:xfrm>
            <a:off x="2923772" y="4099806"/>
            <a:ext cx="453600" cy="216000"/>
          </a:xfrm>
          <a:prstGeom prst="flowChartMerg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B9FA1556-5324-C635-0515-B3C06AA449F2}"/>
              </a:ext>
            </a:extLst>
          </p:cNvPr>
          <p:cNvSpPr/>
          <p:nvPr/>
        </p:nvSpPr>
        <p:spPr>
          <a:xfrm>
            <a:off x="6865937" y="2666950"/>
            <a:ext cx="5008077" cy="2865711"/>
          </a:xfrm>
          <a:prstGeom prst="roundRect">
            <a:avLst>
              <a:gd name="adj" fmla="val 9116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자치구별 </a:t>
            </a:r>
            <a:r>
              <a:rPr lang="ko-KR" altLang="en-US" sz="2400" dirty="0">
                <a:solidFill>
                  <a:srgbClr val="0070C0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보건 취약 유형 분석</a:t>
            </a:r>
            <a:r>
              <a:rPr lang="ko-KR" altLang="en-US" sz="24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 및 </a:t>
            </a:r>
            <a:br>
              <a:rPr lang="ko-KR" altLang="en-US" sz="24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</a:br>
            <a:r>
              <a:rPr lang="ko-KR" altLang="en-US" sz="2400" dirty="0">
                <a:solidFill>
                  <a:srgbClr val="0070C0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정책 의사결정 시스템 개발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F83841-2299-B836-B60A-AB629BC5F828}"/>
              </a:ext>
            </a:extLst>
          </p:cNvPr>
          <p:cNvSpPr txBox="1"/>
          <p:nvPr/>
        </p:nvSpPr>
        <p:spPr>
          <a:xfrm>
            <a:off x="1960491" y="1152685"/>
            <a:ext cx="8271019" cy="4339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“</a:t>
            </a:r>
            <a:r>
              <a:rPr lang="ko-KR" altLang="en-US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미세먼지 농도 중심 정보는 </a:t>
            </a:r>
            <a:r>
              <a:rPr lang="ko-KR" altLang="en-US" dirty="0">
                <a:solidFill>
                  <a:schemeClr val="accent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실제 건강 위험도를 설명하기에</a:t>
            </a:r>
            <a:r>
              <a:rPr lang="ko-KR" altLang="en-US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 </a:t>
            </a:r>
            <a:r>
              <a:rPr lang="ko-KR" altLang="en-US" sz="2400" dirty="0">
                <a:solidFill>
                  <a:srgbClr val="FF0000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한계가 있음</a:t>
            </a:r>
            <a:r>
              <a:rPr lang="en-US" altLang="ko-KR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”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0D415C0-B408-AED7-BEB6-63F7F98B2DFC}"/>
              </a:ext>
            </a:extLst>
          </p:cNvPr>
          <p:cNvGrpSpPr/>
          <p:nvPr/>
        </p:nvGrpSpPr>
        <p:grpSpPr>
          <a:xfrm>
            <a:off x="317986" y="1796851"/>
            <a:ext cx="5169527" cy="1396375"/>
            <a:chOff x="317986" y="1667315"/>
            <a:chExt cx="5169527" cy="1396375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B41C2D7F-CFF2-5282-F154-745C5420F526}"/>
                </a:ext>
              </a:extLst>
            </p:cNvPr>
            <p:cNvGrpSpPr/>
            <p:nvPr/>
          </p:nvGrpSpPr>
          <p:grpSpPr>
            <a:xfrm>
              <a:off x="1485901" y="1905371"/>
              <a:ext cx="4001612" cy="877693"/>
              <a:chOff x="147086" y="4430143"/>
              <a:chExt cx="1923374" cy="1496149"/>
            </a:xfrm>
          </p:grpSpPr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5CA56767-1367-B924-EE9E-AF11528540C8}"/>
                  </a:ext>
                </a:extLst>
              </p:cNvPr>
              <p:cNvSpPr/>
              <p:nvPr/>
            </p:nvSpPr>
            <p:spPr>
              <a:xfrm>
                <a:off x="147086" y="4430143"/>
                <a:ext cx="1890875" cy="1496149"/>
              </a:xfrm>
              <a:prstGeom prst="roundRect">
                <a:avLst>
                  <a:gd name="adj" fmla="val 9116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0FFAE1C-350D-B34F-FD78-1FB5150EFF3F}"/>
                  </a:ext>
                </a:extLst>
              </p:cNvPr>
              <p:cNvSpPr txBox="1"/>
              <p:nvPr/>
            </p:nvSpPr>
            <p:spPr>
              <a:xfrm>
                <a:off x="407590" y="4882898"/>
                <a:ext cx="1662870" cy="4931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1600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rPr>
                  <a:t>환경 </a:t>
                </a:r>
                <a:r>
                  <a:rPr lang="en-US" altLang="ko-KR" sz="1600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rPr>
                  <a:t>+ </a:t>
                </a:r>
                <a:r>
                  <a:rPr lang="ko-KR" altLang="en-US" sz="1600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rPr>
                  <a:t>보건 </a:t>
                </a:r>
                <a:r>
                  <a:rPr lang="en-US" altLang="ko-KR" sz="1600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rPr>
                  <a:t>+ </a:t>
                </a:r>
                <a:r>
                  <a:rPr lang="ko-KR" altLang="en-US" sz="1600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rPr>
                  <a:t>인구 데이터 결함</a:t>
                </a:r>
                <a:endParaRPr lang="en-US" altLang="ko-KR" sz="1600" dirty="0">
                  <a:latin typeface="a시월구일1" panose="02020600000000000000" pitchFamily="18" charset="-127"/>
                  <a:ea typeface="a시월구일1" panose="02020600000000000000" pitchFamily="18" charset="-127"/>
                  <a:cs typeface="Noto Sans Disp ExtBd" panose="020B0902040504020204" pitchFamily="34"/>
                </a:endParaRPr>
              </a:p>
            </p:txBody>
          </p:sp>
        </p:grpSp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E3347BF0-2DE7-F5C6-8AF0-CE0CF0786303}"/>
                </a:ext>
              </a:extLst>
            </p:cNvPr>
            <p:cNvSpPr/>
            <p:nvPr/>
          </p:nvSpPr>
          <p:spPr>
            <a:xfrm>
              <a:off x="317986" y="1667315"/>
              <a:ext cx="1396375" cy="1396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데이터</a:t>
              </a:r>
              <a:endParaRPr lang="en-US" altLang="ko-KR" sz="20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Noto Sans Disp ExtBd" panose="020B0902040504020204" pitchFamily="34"/>
              </a:endParaRPr>
            </a:p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통합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8BEAAD5-0A4E-6E34-7D71-DD5E9280F885}"/>
              </a:ext>
            </a:extLst>
          </p:cNvPr>
          <p:cNvGrpSpPr/>
          <p:nvPr/>
        </p:nvGrpSpPr>
        <p:grpSpPr>
          <a:xfrm>
            <a:off x="317986" y="3383573"/>
            <a:ext cx="5169527" cy="1396375"/>
            <a:chOff x="317986" y="3419527"/>
            <a:chExt cx="5169527" cy="1396375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B574C56-7C2A-C2A4-4034-F0141CED65E9}"/>
                </a:ext>
              </a:extLst>
            </p:cNvPr>
            <p:cNvGrpSpPr/>
            <p:nvPr/>
          </p:nvGrpSpPr>
          <p:grpSpPr>
            <a:xfrm>
              <a:off x="1485901" y="3675340"/>
              <a:ext cx="4001612" cy="877693"/>
              <a:chOff x="147086" y="4430143"/>
              <a:chExt cx="1923374" cy="1496149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8DF188DD-95E2-8BEB-0B39-31B5FCCBF7D7}"/>
                  </a:ext>
                </a:extLst>
              </p:cNvPr>
              <p:cNvSpPr/>
              <p:nvPr/>
            </p:nvSpPr>
            <p:spPr>
              <a:xfrm>
                <a:off x="147086" y="4430143"/>
                <a:ext cx="1890875" cy="1496149"/>
              </a:xfrm>
              <a:prstGeom prst="roundRect">
                <a:avLst>
                  <a:gd name="adj" fmla="val 9116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3D6432-E8B4-47F8-BB7D-C24499D8DE6D}"/>
                  </a:ext>
                </a:extLst>
              </p:cNvPr>
              <p:cNvSpPr txBox="1"/>
              <p:nvPr/>
            </p:nvSpPr>
            <p:spPr>
              <a:xfrm>
                <a:off x="407590" y="4882898"/>
                <a:ext cx="1662870" cy="4931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1600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rPr>
                  <a:t>자치구별 건강 특성 반영</a:t>
                </a:r>
                <a:endParaRPr lang="en-US" altLang="ko-KR" sz="1600" dirty="0">
                  <a:latin typeface="a시월구일1" panose="02020600000000000000" pitchFamily="18" charset="-127"/>
                  <a:ea typeface="a시월구일1" panose="02020600000000000000" pitchFamily="18" charset="-127"/>
                  <a:cs typeface="Noto Sans Disp ExtBd" panose="020B0902040504020204" pitchFamily="34"/>
                </a:endParaRPr>
              </a:p>
            </p:txBody>
          </p:sp>
        </p:grp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88985DA-620B-342E-7AE2-752E5E28BF79}"/>
                </a:ext>
              </a:extLst>
            </p:cNvPr>
            <p:cNvSpPr/>
            <p:nvPr/>
          </p:nvSpPr>
          <p:spPr>
            <a:xfrm>
              <a:off x="317986" y="3419527"/>
              <a:ext cx="1396375" cy="1396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지역</a:t>
              </a:r>
              <a:endParaRPr lang="en-US" altLang="ko-KR" sz="20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Noto Sans Disp ExtBd" panose="020B0902040504020204" pitchFamily="34"/>
              </a:endParaRPr>
            </a:p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분석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95F4C33-FF4C-AA7B-CDD5-2127BDF0F48D}"/>
              </a:ext>
            </a:extLst>
          </p:cNvPr>
          <p:cNvGrpSpPr/>
          <p:nvPr/>
        </p:nvGrpSpPr>
        <p:grpSpPr>
          <a:xfrm>
            <a:off x="317986" y="4970296"/>
            <a:ext cx="5169527" cy="1396375"/>
            <a:chOff x="317986" y="5171739"/>
            <a:chExt cx="5169527" cy="139637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038B5FD4-08A4-9EB6-079A-B8F1E916308C}"/>
                </a:ext>
              </a:extLst>
            </p:cNvPr>
            <p:cNvGrpSpPr/>
            <p:nvPr/>
          </p:nvGrpSpPr>
          <p:grpSpPr>
            <a:xfrm>
              <a:off x="1485901" y="5457514"/>
              <a:ext cx="4001612" cy="877693"/>
              <a:chOff x="147086" y="4430143"/>
              <a:chExt cx="1923374" cy="1496149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052C4777-FA42-CF81-313C-380F28DB5619}"/>
                  </a:ext>
                </a:extLst>
              </p:cNvPr>
              <p:cNvSpPr/>
              <p:nvPr/>
            </p:nvSpPr>
            <p:spPr>
              <a:xfrm>
                <a:off x="147086" y="4430143"/>
                <a:ext cx="1890875" cy="1496149"/>
              </a:xfrm>
              <a:prstGeom prst="roundRect">
                <a:avLst>
                  <a:gd name="adj" fmla="val 9116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E4F8A0B-7AAB-0DBD-E8DB-E59B14DDCBBB}"/>
                  </a:ext>
                </a:extLst>
              </p:cNvPr>
              <p:cNvSpPr txBox="1"/>
              <p:nvPr/>
            </p:nvSpPr>
            <p:spPr>
              <a:xfrm>
                <a:off x="407590" y="4882898"/>
                <a:ext cx="1662870" cy="49316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1600" dirty="0">
                    <a:latin typeface="a시월구일1" panose="02020600000000000000" pitchFamily="18" charset="-127"/>
                    <a:ea typeface="a시월구일1" panose="02020600000000000000" pitchFamily="18" charset="-127"/>
                    <a:cs typeface="Noto Sans Disp ExtBd" panose="020B0902040504020204" pitchFamily="34"/>
                  </a:rPr>
                  <a:t>실질적 건강 위험도 산출</a:t>
                </a:r>
                <a:endParaRPr lang="en-US" altLang="ko-KR" sz="1600" dirty="0">
                  <a:latin typeface="a시월구일1" panose="02020600000000000000" pitchFamily="18" charset="-127"/>
                  <a:ea typeface="a시월구일1" panose="02020600000000000000" pitchFamily="18" charset="-127"/>
                  <a:cs typeface="Noto Sans Disp ExtBd" panose="020B0902040504020204" pitchFamily="34"/>
                </a:endParaRPr>
              </a:p>
            </p:txBody>
          </p:sp>
        </p:grp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940EF828-5644-03E3-0DF1-BB94F018A383}"/>
                </a:ext>
              </a:extLst>
            </p:cNvPr>
            <p:cNvSpPr/>
            <p:nvPr/>
          </p:nvSpPr>
          <p:spPr>
            <a:xfrm>
              <a:off x="317986" y="5171739"/>
              <a:ext cx="1396375" cy="1396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위험도</a:t>
              </a:r>
              <a:endParaRPr lang="en-US" altLang="ko-KR" sz="20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Noto Sans Disp ExtBd" panose="020B0902040504020204" pitchFamily="34"/>
              </a:endParaRPr>
            </a:p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분석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6479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D418-6C4B-403C-297F-7563D074A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94C8AC2A-0665-706E-362A-04FB222F17C9}"/>
              </a:ext>
            </a:extLst>
          </p:cNvPr>
          <p:cNvSpPr txBox="1"/>
          <p:nvPr/>
        </p:nvSpPr>
        <p:spPr>
          <a:xfrm>
            <a:off x="516749" y="379988"/>
            <a:ext cx="1671933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3. </a:t>
            </a: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개발 목표</a:t>
            </a:r>
            <a:endParaRPr lang="en-US" altLang="ko-KR" sz="2400" dirty="0">
              <a:latin typeface="a시월구일3" panose="02020600000000000000" pitchFamily="18" charset="-127"/>
              <a:ea typeface="a시월구일3" panose="02020600000000000000" pitchFamily="18" charset="-127"/>
              <a:cs typeface="+mj-cs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73155E1-F75B-214C-C215-ABFD571A48C7}"/>
              </a:ext>
            </a:extLst>
          </p:cNvPr>
          <p:cNvGrpSpPr/>
          <p:nvPr/>
        </p:nvGrpSpPr>
        <p:grpSpPr>
          <a:xfrm>
            <a:off x="665666" y="1201724"/>
            <a:ext cx="8876919" cy="1396375"/>
            <a:chOff x="665666" y="1201724"/>
            <a:chExt cx="8876919" cy="1396375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D4065A8B-CC79-C0CA-3E90-0F624C509FC9}"/>
                </a:ext>
              </a:extLst>
            </p:cNvPr>
            <p:cNvSpPr/>
            <p:nvPr/>
          </p:nvSpPr>
          <p:spPr>
            <a:xfrm>
              <a:off x="1304072" y="1315299"/>
              <a:ext cx="8238513" cy="1182916"/>
            </a:xfrm>
            <a:prstGeom prst="roundRect">
              <a:avLst>
                <a:gd name="adj" fmla="val 24847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C391245F-ED1D-F4DE-6948-0B249C4DB286}"/>
                </a:ext>
              </a:extLst>
            </p:cNvPr>
            <p:cNvSpPr/>
            <p:nvPr/>
          </p:nvSpPr>
          <p:spPr>
            <a:xfrm>
              <a:off x="665666" y="1201724"/>
              <a:ext cx="1494000" cy="1396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Data</a:t>
              </a:r>
              <a:endParaRPr lang="ko-KR" altLang="en-US" sz="20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Noto Sans Disp ExtBd" panose="020B0902040504020204" pitchFamily="34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5B6B3B3-5477-A4A3-188A-8F612C173EDA}"/>
              </a:ext>
            </a:extLst>
          </p:cNvPr>
          <p:cNvGrpSpPr/>
          <p:nvPr/>
        </p:nvGrpSpPr>
        <p:grpSpPr>
          <a:xfrm>
            <a:off x="2062042" y="2551201"/>
            <a:ext cx="8904298" cy="1396375"/>
            <a:chOff x="2062042" y="2671883"/>
            <a:chExt cx="8904298" cy="1396375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FF12169B-7F53-5127-DAA9-F3A5635A213B}"/>
                </a:ext>
              </a:extLst>
            </p:cNvPr>
            <p:cNvSpPr/>
            <p:nvPr/>
          </p:nvSpPr>
          <p:spPr>
            <a:xfrm>
              <a:off x="2062042" y="2785458"/>
              <a:ext cx="8240400" cy="1182916"/>
            </a:xfrm>
            <a:prstGeom prst="roundRect">
              <a:avLst>
                <a:gd name="adj" fmla="val 16564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A0FCFF6-6ADF-83B8-2EBA-2F51F9E457C9}"/>
                </a:ext>
              </a:extLst>
            </p:cNvPr>
            <p:cNvSpPr/>
            <p:nvPr/>
          </p:nvSpPr>
          <p:spPr>
            <a:xfrm>
              <a:off x="9472340" y="2671883"/>
              <a:ext cx="1494000" cy="1396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AI</a:t>
              </a:r>
            </a:p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Model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373ABF3-31C5-71A3-5140-03C9E3AD6E2F}"/>
              </a:ext>
            </a:extLst>
          </p:cNvPr>
          <p:cNvGrpSpPr/>
          <p:nvPr/>
        </p:nvGrpSpPr>
        <p:grpSpPr>
          <a:xfrm>
            <a:off x="568715" y="3900678"/>
            <a:ext cx="8973870" cy="1396375"/>
            <a:chOff x="568715" y="4209095"/>
            <a:chExt cx="8973870" cy="1396375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8554317-C382-D1F2-0F40-44CC0071AD24}"/>
                </a:ext>
              </a:extLst>
            </p:cNvPr>
            <p:cNvSpPr/>
            <p:nvPr/>
          </p:nvSpPr>
          <p:spPr>
            <a:xfrm>
              <a:off x="1304072" y="4322670"/>
              <a:ext cx="8238513" cy="1182916"/>
            </a:xfrm>
            <a:prstGeom prst="roundRect">
              <a:avLst>
                <a:gd name="adj" fmla="val 24847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F5BA7D0C-FD06-7D9B-0C8B-5FA3DC04F5C0}"/>
                </a:ext>
              </a:extLst>
            </p:cNvPr>
            <p:cNvSpPr/>
            <p:nvPr/>
          </p:nvSpPr>
          <p:spPr>
            <a:xfrm>
              <a:off x="568715" y="4209095"/>
              <a:ext cx="1493327" cy="1396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UI</a:t>
              </a:r>
              <a:endParaRPr lang="ko-KR" altLang="en-US" sz="20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Noto Sans Disp ExtBd" panose="020B0902040504020204" pitchFamily="34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7226973-1CA5-49A7-7AA5-D91D4F9D44EA}"/>
              </a:ext>
            </a:extLst>
          </p:cNvPr>
          <p:cNvGrpSpPr/>
          <p:nvPr/>
        </p:nvGrpSpPr>
        <p:grpSpPr>
          <a:xfrm>
            <a:off x="2814461" y="5250156"/>
            <a:ext cx="8914310" cy="1396375"/>
            <a:chOff x="2814461" y="5679254"/>
            <a:chExt cx="8914310" cy="1396375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2B1B83E6-7BD0-5AC0-3A07-D35056DF0DD2}"/>
                </a:ext>
              </a:extLst>
            </p:cNvPr>
            <p:cNvSpPr/>
            <p:nvPr/>
          </p:nvSpPr>
          <p:spPr>
            <a:xfrm>
              <a:off x="2814461" y="5798779"/>
              <a:ext cx="8240400" cy="1182916"/>
            </a:xfrm>
            <a:prstGeom prst="roundRect">
              <a:avLst>
                <a:gd name="adj" fmla="val 16564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D4A798E-7B28-D756-BB58-94B5B2D8DF7D}"/>
                </a:ext>
              </a:extLst>
            </p:cNvPr>
            <p:cNvSpPr/>
            <p:nvPr/>
          </p:nvSpPr>
          <p:spPr>
            <a:xfrm>
              <a:off x="10234771" y="5679254"/>
              <a:ext cx="1494000" cy="13963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Noto Sans Disp ExtBd" panose="020B0902040504020204" pitchFamily="34"/>
                </a:rPr>
                <a:t>서비스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41FC2CE6-0C48-AA3D-4ACC-D73CC76E3FEB}"/>
              </a:ext>
            </a:extLst>
          </p:cNvPr>
          <p:cNvSpPr txBox="1"/>
          <p:nvPr/>
        </p:nvSpPr>
        <p:spPr>
          <a:xfrm>
            <a:off x="2297715" y="1452177"/>
            <a:ext cx="7244869" cy="69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82563" indent="-1825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환경</a:t>
            </a: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미세먼지</a:t>
            </a: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), </a:t>
            </a: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보건</a:t>
            </a: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진료 건수</a:t>
            </a: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), </a:t>
            </a: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인구 데이터를 통합하여  자치구별 분석 데이터셋 구축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224FB8-B737-D457-16C7-5E3F5EA31015}"/>
              </a:ext>
            </a:extLst>
          </p:cNvPr>
          <p:cNvSpPr txBox="1"/>
          <p:nvPr/>
        </p:nvSpPr>
        <p:spPr>
          <a:xfrm>
            <a:off x="2297715" y="2891915"/>
            <a:ext cx="7022131" cy="69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82563" indent="-1825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K-Means </a:t>
            </a: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군집화를 적용하여  자치구별 보건 취약 유형을 분류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marL="182563" indent="-1825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SHAP</a:t>
            </a: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을 활용하여  유형 분류 결과에 대한 영향 요인 분석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880690-1BC0-75FB-D97C-DC20EAD83AB4}"/>
              </a:ext>
            </a:extLst>
          </p:cNvPr>
          <p:cNvSpPr txBox="1"/>
          <p:nvPr/>
        </p:nvSpPr>
        <p:spPr>
          <a:xfrm>
            <a:off x="2297715" y="4187903"/>
            <a:ext cx="7244869" cy="69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82563" indent="-1825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자치구별 보건 취약 유형 및 위험도를  직관적으로 확인할 수 있는 시각화 제공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marL="182563" indent="-1825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지역별 상세 분석 및 원인 정보를  사용자가 쉽게 탐색할 수 있는 </a:t>
            </a: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UI </a:t>
            </a: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구성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92E3DE-9EFD-8C27-6FB7-FFA999B81E34}"/>
              </a:ext>
            </a:extLst>
          </p:cNvPr>
          <p:cNvSpPr txBox="1"/>
          <p:nvPr/>
        </p:nvSpPr>
        <p:spPr>
          <a:xfrm>
            <a:off x="2989902" y="5595547"/>
            <a:ext cx="7244869" cy="69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82563" indent="-1825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분석 결과를 기반으로  자치구별 보건 정책 의사결정을 지원하는 시스템 구현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marL="182563" indent="-182563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지역 특성에 따른 맞춤형 정책 방향 제공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0B2A62-ABC5-C062-1DE5-7021749E2F18}"/>
              </a:ext>
            </a:extLst>
          </p:cNvPr>
          <p:cNvSpPr txBox="1"/>
          <p:nvPr/>
        </p:nvSpPr>
        <p:spPr>
          <a:xfrm>
            <a:off x="2493079" y="601616"/>
            <a:ext cx="8238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a시월구일1" panose="02020600000000000000" pitchFamily="18" charset="-127"/>
                <a:ea typeface="a시월구일1" panose="02020600000000000000" pitchFamily="18" charset="-127"/>
              </a:rPr>
              <a:t>자치구별 보건 취약 유형을 도출하고 정책 의사결정을 지원하는 시스템을 개발</a:t>
            </a:r>
          </a:p>
        </p:txBody>
      </p:sp>
    </p:spTree>
    <p:extLst>
      <p:ext uri="{BB962C8B-B14F-4D97-AF65-F5344CB8AC3E}">
        <p14:creationId xmlns:p14="http://schemas.microsoft.com/office/powerpoint/2010/main" val="3375138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202</Words>
  <Application>Microsoft Office PowerPoint</Application>
  <PresentationFormat>와이드스크린</PresentationFormat>
  <Paragraphs>32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a시월구일1</vt:lpstr>
      <vt:lpstr>a시월구일3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성욱 진</dc:creator>
  <cp:lastModifiedBy>성욱 진</cp:lastModifiedBy>
  <cp:revision>35</cp:revision>
  <dcterms:created xsi:type="dcterms:W3CDTF">2026-03-15T03:06:37Z</dcterms:created>
  <dcterms:modified xsi:type="dcterms:W3CDTF">2026-03-19T05:56:03Z</dcterms:modified>
</cp:coreProperties>
</file>