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8" r:id="rId3"/>
    <p:sldId id="266" r:id="rId4"/>
    <p:sldId id="263" r:id="rId5"/>
    <p:sldId id="260" r:id="rId6"/>
    <p:sldId id="261" r:id="rId7"/>
    <p:sldId id="267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61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3DCE6"/>
    <a:srgbClr val="EFF6FF"/>
    <a:srgbClr val="333333"/>
    <a:srgbClr val="E0E0E0"/>
    <a:srgbClr val="F5F5F5"/>
    <a:srgbClr val="F9FBFC"/>
    <a:srgbClr val="F8FA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98" autoAdjust="0"/>
    <p:restoredTop sz="94660"/>
  </p:normalViewPr>
  <p:slideViewPr>
    <p:cSldViewPr snapToGrid="0" showGuides="1">
      <p:cViewPr varScale="1">
        <p:scale>
          <a:sx n="78" d="100"/>
          <a:sy n="78" d="100"/>
        </p:scale>
        <p:origin x="713" y="274"/>
      </p:cViewPr>
      <p:guideLst>
        <p:guide orient="horz" pos="2160"/>
        <p:guide pos="3840"/>
        <p:guide orient="horz" pos="61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성욱 진" userId="f47a80d7871cb125" providerId="LiveId" clId="{FDCBA572-350E-4C39-BF59-3626AC33FF79}"/>
    <pc:docChg chg="modSld">
      <pc:chgData name="성욱 진" userId="f47a80d7871cb125" providerId="LiveId" clId="{FDCBA572-350E-4C39-BF59-3626AC33FF79}" dt="2026-03-19T05:45:37.039" v="0" actId="729"/>
      <pc:docMkLst>
        <pc:docMk/>
      </pc:docMkLst>
      <pc:sldChg chg="mod modShow">
        <pc:chgData name="성욱 진" userId="f47a80d7871cb125" providerId="LiveId" clId="{FDCBA572-350E-4C39-BF59-3626AC33FF79}" dt="2026-03-19T05:45:37.039" v="0" actId="729"/>
        <pc:sldMkLst>
          <pc:docMk/>
          <pc:sldMk cId="2289482787" sldId="267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409CCD3A-AEFA-40D6-9A05-5E50EDBF10FF}"/>
              </a:ext>
            </a:extLst>
          </p:cNvPr>
          <p:cNvCxnSpPr>
            <a:cxnSpLocks/>
          </p:cNvCxnSpPr>
          <p:nvPr userDrawn="1"/>
        </p:nvCxnSpPr>
        <p:spPr>
          <a:xfrm>
            <a:off x="650471" y="0"/>
            <a:ext cx="0" cy="68580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3526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121117D-B88A-4A41-89B1-ADE554ED215A}"/>
              </a:ext>
            </a:extLst>
          </p:cNvPr>
          <p:cNvCxnSpPr>
            <a:cxnSpLocks/>
          </p:cNvCxnSpPr>
          <p:nvPr userDrawn="1"/>
        </p:nvCxnSpPr>
        <p:spPr>
          <a:xfrm>
            <a:off x="548640" y="432262"/>
            <a:ext cx="798022" cy="0"/>
          </a:xfrm>
          <a:prstGeom prst="line">
            <a:avLst/>
          </a:prstGeom>
          <a:ln w="28575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67808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및 내용"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121117D-B88A-4A41-89B1-ADE554ED215A}"/>
              </a:ext>
            </a:extLst>
          </p:cNvPr>
          <p:cNvCxnSpPr>
            <a:cxnSpLocks/>
          </p:cNvCxnSpPr>
          <p:nvPr userDrawn="1"/>
        </p:nvCxnSpPr>
        <p:spPr>
          <a:xfrm>
            <a:off x="548640" y="432262"/>
            <a:ext cx="798022" cy="0"/>
          </a:xfrm>
          <a:prstGeom prst="line">
            <a:avLst/>
          </a:prstGeom>
          <a:ln w="28575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65052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98B65-F4CB-4775-966C-7872B5CEA4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C82CF15-065A-4E86-98D6-6B4B8F538F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26CBE9-B69B-4656-B712-F462D2232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7FE517-7134-4F0A-B4D4-C7270D8003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3DFE51-2A71-472E-8549-0DAC28804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35296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BBB7F5-13A7-459E-B2D6-A06A84825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DA95DE-6D2D-418A-9521-FD35A46472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8EA2360-CBAA-4A4C-AB96-6CAF7DAB6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73769A9-7C97-4F4A-AE99-4B069B07D4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75B0818-745B-461D-AB35-3691F188D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372600C-4A42-4BAD-AF29-D16E0F73A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09580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D2B54E-9514-48BB-80C8-06CE73E0F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E9F7CD-81AF-405C-9337-3B53A3EE29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43892E1-A7B3-413C-9B04-FBA7DFC5BF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BBAD67B-9ADD-43D5-BAFA-6CAF29CB6A1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E0402B9-4588-46FF-808B-E3B2BFEA21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8EEF440-0DF3-44BF-B0EC-2233B00F1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E7DF248-0F94-4C77-A8D0-655331732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8A0661E-5051-4F8D-B67A-D105C68E3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41726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FCAE28-A7F4-4602-882D-3F448BE15F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7FD5CD8-A9E6-472B-8A59-3655D75B1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D86C6FA-9644-4139-81E9-5D35BC330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2F01F6B-F18C-4AD4-A26B-E57C261D98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38967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DFFD921-A994-42F0-A43B-0F74D11BFF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32D510B-92E5-4598-A4CE-E818491A4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5D3E6D-BEAA-4A86-BDD3-0EBFEBABF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03425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42E319-B42B-4713-A473-FE70BB233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F6CDA2-3ACF-4C5C-A16F-8ADE379FCD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06C05C4-B73F-4E72-ADEE-D9190B48CA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D1BF957-2981-4A07-BD29-E98CAE041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F244B6C-A6BD-447E-A94F-3A31A44FE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94776DD-A3EB-4192-BD3D-AA5157671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33311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FF7E3E-658B-4B52-AC00-272F82566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4AA7F5C-1BF2-463A-900A-E018ECCF25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79A50FB-57FD-4543-9D76-5AB191E3D3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6C7D4DF-48CA-4319-91F1-5A493488B9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8669EDA-9065-4702-981C-63016C3E6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523D31E-F3B1-4EEB-9795-1C2D0A08E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5892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7C54A5-14B2-4291-A863-73823A1A89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26842BE-4F5F-4B74-AF95-DA9ACDEC98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F37454E-8FE0-45E3-B2E3-C826A13F5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17E775C-597D-443B-854D-669B59A0F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2F96C04-3DB6-480A-B5E6-FF8686C3D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07015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053F94E-8567-4C33-9AB4-A6E8CCEE85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4A2845A-22F8-41D6-BFCB-08804FB797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455E065-89AB-4DED-A937-D1E6107F0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710EA28-3F79-4129-89BB-9B4F34811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3AF2A2C-DCBF-4E05-91E9-E92A28411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77855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051C4B5-CA61-4910-B10C-1C0982732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DB36EE4-4BF2-40DD-8668-A75C525A6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815CE2E-315A-4BAC-9725-6A067A2893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61B9479-A290-4A37-BE6F-BADF542210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30BC4E-1098-4A08-8E69-617DE65533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23193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10" Type="http://schemas.openxmlformats.org/officeDocument/2006/relationships/image" Target="../media/image13.sv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8.png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svg"/><Relationship Id="rId11" Type="http://schemas.openxmlformats.org/officeDocument/2006/relationships/image" Target="../media/image24.png"/><Relationship Id="rId5" Type="http://schemas.openxmlformats.org/officeDocument/2006/relationships/image" Target="../media/image9.png"/><Relationship Id="rId10" Type="http://schemas.openxmlformats.org/officeDocument/2006/relationships/image" Target="../media/image23.png"/><Relationship Id="rId4" Type="http://schemas.openxmlformats.org/officeDocument/2006/relationships/image" Target="../media/image19.png"/><Relationship Id="rId9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43A4FB8F-BACC-4713-87B3-DED36C01DB8F}"/>
              </a:ext>
            </a:extLst>
          </p:cNvPr>
          <p:cNvCxnSpPr>
            <a:cxnSpLocks/>
          </p:cNvCxnSpPr>
          <p:nvPr/>
        </p:nvCxnSpPr>
        <p:spPr>
          <a:xfrm>
            <a:off x="906185" y="854306"/>
            <a:ext cx="567592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제목 1">
            <a:extLst>
              <a:ext uri="{FF2B5EF4-FFF2-40B4-BE49-F238E27FC236}">
                <a16:creationId xmlns:a16="http://schemas.microsoft.com/office/drawing/2014/main" id="{615DEF0C-95EF-467E-B7EF-6245093BD5CB}"/>
              </a:ext>
            </a:extLst>
          </p:cNvPr>
          <p:cNvSpPr txBox="1">
            <a:spLocks/>
          </p:cNvSpPr>
          <p:nvPr/>
        </p:nvSpPr>
        <p:spPr>
          <a:xfrm>
            <a:off x="3596343" y="3369341"/>
            <a:ext cx="4999315" cy="4139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2000" dirty="0" err="1">
                <a:latin typeface="a시월구일1" panose="02020600000000000000" pitchFamily="18" charset="-127"/>
                <a:ea typeface="a시월구일1" panose="02020600000000000000" pitchFamily="18" charset="-127"/>
              </a:rPr>
              <a:t>머신러닝</a:t>
            </a:r>
            <a:r>
              <a:rPr lang="ko-KR" altLang="en-US" sz="2000" dirty="0">
                <a:latin typeface="a시월구일1" panose="02020600000000000000" pitchFamily="18" charset="-127"/>
                <a:ea typeface="a시월구일1" panose="02020600000000000000" pitchFamily="18" charset="-127"/>
              </a:rPr>
              <a:t> 기반 데이터 분석 및 군집화 모델</a:t>
            </a:r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05BCAF62-D4BF-460D-8135-96EB901E9318}"/>
              </a:ext>
            </a:extLst>
          </p:cNvPr>
          <p:cNvSpPr txBox="1">
            <a:spLocks/>
          </p:cNvSpPr>
          <p:nvPr/>
        </p:nvSpPr>
        <p:spPr>
          <a:xfrm>
            <a:off x="4763554" y="4834293"/>
            <a:ext cx="3924300" cy="4139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1400" dirty="0">
                <a:latin typeface="a시월구일1" panose="02020600000000000000" pitchFamily="18" charset="-127"/>
                <a:ea typeface="a시월구일1" panose="02020600000000000000" pitchFamily="18" charset="-127"/>
              </a:rPr>
              <a:t>생성형 </a:t>
            </a:r>
            <a:r>
              <a:rPr lang="en-US" altLang="ko-KR" sz="1400" dirty="0">
                <a:latin typeface="a시월구일1" panose="02020600000000000000" pitchFamily="18" charset="-127"/>
                <a:ea typeface="a시월구일1" panose="02020600000000000000" pitchFamily="18" charset="-127"/>
              </a:rPr>
              <a:t>AI </a:t>
            </a:r>
            <a:r>
              <a:rPr lang="ko-KR" altLang="en-US" sz="1400" dirty="0">
                <a:latin typeface="a시월구일1" panose="02020600000000000000" pitchFamily="18" charset="-127"/>
                <a:ea typeface="a시월구일1" panose="02020600000000000000" pitchFamily="18" charset="-127"/>
              </a:rPr>
              <a:t>개발자 양성과정 </a:t>
            </a:r>
            <a:r>
              <a:rPr lang="en-US" altLang="ko-KR" sz="1400" dirty="0">
                <a:latin typeface="a시월구일1" panose="02020600000000000000" pitchFamily="18" charset="-127"/>
                <a:ea typeface="a시월구일1" panose="02020600000000000000" pitchFamily="18" charset="-127"/>
              </a:rPr>
              <a:t>| </a:t>
            </a:r>
            <a:r>
              <a:rPr lang="ko-KR" altLang="en-US" sz="1400" dirty="0" err="1">
                <a:latin typeface="a시월구일1" panose="02020600000000000000" pitchFamily="18" charset="-127"/>
                <a:ea typeface="a시월구일1" panose="02020600000000000000" pitchFamily="18" charset="-127"/>
              </a:rPr>
              <a:t>진성욱</a:t>
            </a:r>
            <a:endParaRPr lang="ko-KR" altLang="en-US" sz="1400" dirty="0">
              <a:latin typeface="a시월구일1" panose="02020600000000000000" pitchFamily="18" charset="-127"/>
              <a:ea typeface="a시월구일1" panose="02020600000000000000" pitchFamily="18" charset="-127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9342C96-386D-9C78-6D4B-C876C6E36523}"/>
              </a:ext>
            </a:extLst>
          </p:cNvPr>
          <p:cNvSpPr txBox="1">
            <a:spLocks/>
          </p:cNvSpPr>
          <p:nvPr/>
        </p:nvSpPr>
        <p:spPr>
          <a:xfrm>
            <a:off x="1508090" y="1315861"/>
            <a:ext cx="9175820" cy="171782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ko-KR" altLang="en-US" sz="3600" spc="300" dirty="0">
                <a:latin typeface="a시월구일3" panose="02020600000000000000" pitchFamily="18" charset="-127"/>
                <a:ea typeface="a시월구일3" panose="02020600000000000000" pitchFamily="18" charset="-127"/>
              </a:rPr>
              <a:t>서울시 자치구별 보건 취약 유형 분석 및 정책 지원 시스템 개발</a:t>
            </a:r>
          </a:p>
        </p:txBody>
      </p:sp>
    </p:spTree>
    <p:extLst>
      <p:ext uri="{BB962C8B-B14F-4D97-AF65-F5344CB8AC3E}">
        <p14:creationId xmlns:p14="http://schemas.microsoft.com/office/powerpoint/2010/main" val="687017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6C09D-105C-15CB-53B0-392CCA3EC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FE452065-003A-C266-7A7C-34BEA9EED900}"/>
              </a:ext>
            </a:extLst>
          </p:cNvPr>
          <p:cNvSpPr txBox="1"/>
          <p:nvPr/>
        </p:nvSpPr>
        <p:spPr>
          <a:xfrm>
            <a:off x="516749" y="379988"/>
            <a:ext cx="2266646" cy="48936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2. </a:t>
            </a:r>
            <a:r>
              <a:rPr lang="ko-KR" altLang="en-US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개발 의도</a:t>
            </a: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(1/2)</a:t>
            </a:r>
            <a:endParaRPr lang="en-US" altLang="ko-KR" sz="2400" dirty="0">
              <a:latin typeface="a시월구일3" panose="02020600000000000000" pitchFamily="18" charset="-127"/>
              <a:ea typeface="a시월구일3" panose="02020600000000000000" pitchFamily="18" charset="-127"/>
              <a:cs typeface="+mj-cs"/>
            </a:endParaRPr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1B004BA2-90C2-0783-4768-530CC51F1823}"/>
              </a:ext>
            </a:extLst>
          </p:cNvPr>
          <p:cNvGrpSpPr/>
          <p:nvPr/>
        </p:nvGrpSpPr>
        <p:grpSpPr>
          <a:xfrm>
            <a:off x="1550279" y="1223846"/>
            <a:ext cx="2628886" cy="2708893"/>
            <a:chOff x="120622" y="1253507"/>
            <a:chExt cx="3940178" cy="4060093"/>
          </a:xfrm>
        </p:grpSpPr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81CC2694-595C-43BB-0EF0-F51171050528}"/>
                </a:ext>
              </a:extLst>
            </p:cNvPr>
            <p:cNvSpPr/>
            <p:nvPr/>
          </p:nvSpPr>
          <p:spPr>
            <a:xfrm>
              <a:off x="120622" y="1253507"/>
              <a:ext cx="3940178" cy="4060093"/>
            </a:xfrm>
            <a:prstGeom prst="roundRect">
              <a:avLst>
                <a:gd name="adj" fmla="val 3177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32" name="그림 31">
              <a:extLst>
                <a:ext uri="{FF2B5EF4-FFF2-40B4-BE49-F238E27FC236}">
                  <a16:creationId xmlns:a16="http://schemas.microsoft.com/office/drawing/2014/main" id="{DB7C4280-FAB1-551E-199C-1F6B350E223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9694" y="1361576"/>
              <a:ext cx="3722035" cy="3843955"/>
            </a:xfrm>
            <a:prstGeom prst="rect">
              <a:avLst/>
            </a:prstGeom>
          </p:spPr>
        </p:pic>
      </p:grp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945D88BB-A6B2-3633-9033-CDB0640ED4DD}"/>
              </a:ext>
            </a:extLst>
          </p:cNvPr>
          <p:cNvGrpSpPr/>
          <p:nvPr/>
        </p:nvGrpSpPr>
        <p:grpSpPr>
          <a:xfrm>
            <a:off x="4716635" y="1223846"/>
            <a:ext cx="2628885" cy="2708892"/>
            <a:chOff x="4155472" y="1253507"/>
            <a:chExt cx="3940178" cy="4060093"/>
          </a:xfrm>
        </p:grpSpPr>
        <p:sp>
          <p:nvSpPr>
            <p:cNvPr id="37" name="사각형: 둥근 모서리 36">
              <a:extLst>
                <a:ext uri="{FF2B5EF4-FFF2-40B4-BE49-F238E27FC236}">
                  <a16:creationId xmlns:a16="http://schemas.microsoft.com/office/drawing/2014/main" id="{731E81FC-5095-5AC3-2326-10ED8860FE6A}"/>
                </a:ext>
              </a:extLst>
            </p:cNvPr>
            <p:cNvSpPr/>
            <p:nvPr/>
          </p:nvSpPr>
          <p:spPr>
            <a:xfrm>
              <a:off x="4155472" y="1253507"/>
              <a:ext cx="3940178" cy="4060093"/>
            </a:xfrm>
            <a:prstGeom prst="roundRect">
              <a:avLst>
                <a:gd name="adj" fmla="val 3177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48" name="그림 47">
              <a:extLst>
                <a:ext uri="{FF2B5EF4-FFF2-40B4-BE49-F238E27FC236}">
                  <a16:creationId xmlns:a16="http://schemas.microsoft.com/office/drawing/2014/main" id="{394F3956-612D-9DF1-23CE-F7AF30B4DF7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256192" y="1361576"/>
              <a:ext cx="3738739" cy="3899853"/>
            </a:xfrm>
            <a:prstGeom prst="rect">
              <a:avLst/>
            </a:prstGeom>
          </p:spPr>
        </p:pic>
      </p:grp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2C5B0208-E249-E2E1-4679-AF57FBE0089E}"/>
              </a:ext>
            </a:extLst>
          </p:cNvPr>
          <p:cNvGrpSpPr/>
          <p:nvPr/>
        </p:nvGrpSpPr>
        <p:grpSpPr>
          <a:xfrm>
            <a:off x="7882990" y="1218645"/>
            <a:ext cx="2628885" cy="2708892"/>
            <a:chOff x="8180533" y="1253507"/>
            <a:chExt cx="3940178" cy="4060093"/>
          </a:xfrm>
        </p:grpSpPr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069B4B55-2385-E48F-6766-5AD91DC2D9F8}"/>
                </a:ext>
              </a:extLst>
            </p:cNvPr>
            <p:cNvSpPr/>
            <p:nvPr/>
          </p:nvSpPr>
          <p:spPr>
            <a:xfrm>
              <a:off x="8180533" y="1253507"/>
              <a:ext cx="3940178" cy="4060093"/>
            </a:xfrm>
            <a:prstGeom prst="roundRect">
              <a:avLst>
                <a:gd name="adj" fmla="val 3177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54" name="그림 53">
              <a:extLst>
                <a:ext uri="{FF2B5EF4-FFF2-40B4-BE49-F238E27FC236}">
                  <a16:creationId xmlns:a16="http://schemas.microsoft.com/office/drawing/2014/main" id="{F22BA3A0-E4B1-E841-8D7F-5ED8245D05E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15237" y="1361576"/>
              <a:ext cx="3670770" cy="3843955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F636A844-655A-C650-6D10-15EADA4FA1D0}"/>
              </a:ext>
            </a:extLst>
          </p:cNvPr>
          <p:cNvSpPr txBox="1"/>
          <p:nvPr/>
        </p:nvSpPr>
        <p:spPr>
          <a:xfrm>
            <a:off x="1482653" y="5510849"/>
            <a:ext cx="9299720" cy="4339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“</a:t>
            </a:r>
            <a:r>
              <a:rPr lang="ko-KR" altLang="en-US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단순 미세먼지 정보 제공을 넘어</a:t>
            </a: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, </a:t>
            </a:r>
            <a:r>
              <a:rPr lang="ko-KR" altLang="en-US" sz="2400" dirty="0">
                <a:solidFill>
                  <a:srgbClr val="0070C0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실제 건강 위험도를 반영한 분석 </a:t>
            </a:r>
            <a:r>
              <a:rPr lang="ko-KR" altLang="en-US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필요</a:t>
            </a: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”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1913DCD-39D1-333C-1C02-6AC0D32D110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4260952" y="3705954"/>
            <a:ext cx="3641686" cy="1700414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F9322F45-8C92-821D-0A8D-E9C71B58E605}"/>
              </a:ext>
            </a:extLst>
          </p:cNvPr>
          <p:cNvSpPr txBox="1"/>
          <p:nvPr/>
        </p:nvSpPr>
        <p:spPr>
          <a:xfrm>
            <a:off x="2435080" y="4165965"/>
            <a:ext cx="7293429" cy="32547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“</a:t>
            </a:r>
            <a:r>
              <a:rPr lang="ko-KR" altLang="en-US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미세먼지는 단순 환경 문제가 아닌 </a:t>
            </a:r>
            <a:r>
              <a:rPr lang="ko-KR" altLang="en-US" dirty="0">
                <a:solidFill>
                  <a:srgbClr val="0070C0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건강 위험 문제로 확대</a:t>
            </a:r>
            <a:r>
              <a:rPr lang="ko-KR" altLang="en-US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되고 있음</a:t>
            </a: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888289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9DA71-1CFD-6F3D-30DB-0FE057E5C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그림 17">
            <a:extLst>
              <a:ext uri="{FF2B5EF4-FFF2-40B4-BE49-F238E27FC236}">
                <a16:creationId xmlns:a16="http://schemas.microsoft.com/office/drawing/2014/main" id="{E90BC241-2770-08CD-B3EC-45915D980DB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3632644" y="3122747"/>
            <a:ext cx="4336782" cy="1982879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540071BF-3309-773D-0644-E72B9F968EBA}"/>
              </a:ext>
            </a:extLst>
          </p:cNvPr>
          <p:cNvSpPr txBox="1"/>
          <p:nvPr/>
        </p:nvSpPr>
        <p:spPr>
          <a:xfrm>
            <a:off x="516749" y="379988"/>
            <a:ext cx="2205732" cy="48936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2. </a:t>
            </a:r>
            <a:r>
              <a:rPr lang="ko-KR" altLang="en-US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개발의도</a:t>
            </a:r>
            <a:r>
              <a:rPr lang="en-US" altLang="ko-KR" sz="20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(2/2)</a:t>
            </a:r>
            <a:endParaRPr lang="en-US" altLang="ko-KR" sz="2400" dirty="0">
              <a:latin typeface="a시월구일3" panose="02020600000000000000" pitchFamily="18" charset="-127"/>
              <a:ea typeface="a시월구일3" panose="02020600000000000000" pitchFamily="18" charset="-127"/>
              <a:cs typeface="+mj-cs"/>
            </a:endParaRPr>
          </a:p>
        </p:txBody>
      </p:sp>
      <p:sp>
        <p:nvSpPr>
          <p:cNvPr id="46" name="순서도: 병합 45">
            <a:extLst>
              <a:ext uri="{FF2B5EF4-FFF2-40B4-BE49-F238E27FC236}">
                <a16:creationId xmlns:a16="http://schemas.microsoft.com/office/drawing/2014/main" id="{5D765520-A078-89DB-D504-2018796C7F6D}"/>
              </a:ext>
            </a:extLst>
          </p:cNvPr>
          <p:cNvSpPr/>
          <p:nvPr/>
        </p:nvSpPr>
        <p:spPr>
          <a:xfrm>
            <a:off x="2923772" y="4099806"/>
            <a:ext cx="453600" cy="216000"/>
          </a:xfrm>
          <a:prstGeom prst="flowChartMerg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B9FA1556-5324-C635-0515-B3C06AA449F2}"/>
              </a:ext>
            </a:extLst>
          </p:cNvPr>
          <p:cNvSpPr/>
          <p:nvPr/>
        </p:nvSpPr>
        <p:spPr>
          <a:xfrm>
            <a:off x="6865937" y="2666950"/>
            <a:ext cx="5008077" cy="2865711"/>
          </a:xfrm>
          <a:prstGeom prst="roundRect">
            <a:avLst>
              <a:gd name="adj" fmla="val 9116"/>
            </a:avLst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자치구별 </a:t>
            </a:r>
            <a:r>
              <a:rPr lang="ko-KR" altLang="en-US" sz="2400" dirty="0">
                <a:solidFill>
                  <a:srgbClr val="0070C0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보건 취약 유형 분석</a:t>
            </a:r>
            <a:r>
              <a:rPr lang="ko-KR" altLang="en-US" sz="24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 및 </a:t>
            </a:r>
            <a:br>
              <a:rPr lang="ko-KR" altLang="en-US" sz="24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</a:br>
            <a:r>
              <a:rPr lang="ko-KR" altLang="en-US" sz="2400" dirty="0">
                <a:solidFill>
                  <a:srgbClr val="0070C0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정책 의사결정 시스템 개발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FF83841-2299-B836-B60A-AB629BC5F828}"/>
              </a:ext>
            </a:extLst>
          </p:cNvPr>
          <p:cNvSpPr txBox="1"/>
          <p:nvPr/>
        </p:nvSpPr>
        <p:spPr>
          <a:xfrm>
            <a:off x="1960491" y="1152685"/>
            <a:ext cx="8271019" cy="4339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“</a:t>
            </a:r>
            <a:r>
              <a:rPr lang="ko-KR" altLang="en-US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미세먼지 농도 중심 정보는 </a:t>
            </a:r>
            <a:r>
              <a:rPr lang="ko-KR" altLang="en-US" dirty="0">
                <a:solidFill>
                  <a:schemeClr val="accent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실제 건강 위험도를 설명하기에</a:t>
            </a:r>
            <a:r>
              <a:rPr lang="ko-KR" altLang="en-US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 </a:t>
            </a:r>
            <a:r>
              <a:rPr lang="ko-KR" altLang="en-US" sz="2400" dirty="0">
                <a:solidFill>
                  <a:srgbClr val="FF0000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한계가 있음</a:t>
            </a: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”</a:t>
            </a: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50D415C0-B408-AED7-BEB6-63F7F98B2DFC}"/>
              </a:ext>
            </a:extLst>
          </p:cNvPr>
          <p:cNvGrpSpPr/>
          <p:nvPr/>
        </p:nvGrpSpPr>
        <p:grpSpPr>
          <a:xfrm>
            <a:off x="317986" y="1796851"/>
            <a:ext cx="5169527" cy="1396375"/>
            <a:chOff x="317986" y="1667315"/>
            <a:chExt cx="5169527" cy="1396375"/>
          </a:xfrm>
        </p:grpSpPr>
        <p:grpSp>
          <p:nvGrpSpPr>
            <p:cNvPr id="101" name="그룹 100">
              <a:extLst>
                <a:ext uri="{FF2B5EF4-FFF2-40B4-BE49-F238E27FC236}">
                  <a16:creationId xmlns:a16="http://schemas.microsoft.com/office/drawing/2014/main" id="{B41C2D7F-CFF2-5282-F154-745C5420F526}"/>
                </a:ext>
              </a:extLst>
            </p:cNvPr>
            <p:cNvGrpSpPr/>
            <p:nvPr/>
          </p:nvGrpSpPr>
          <p:grpSpPr>
            <a:xfrm>
              <a:off x="1485901" y="1905371"/>
              <a:ext cx="4001612" cy="877693"/>
              <a:chOff x="147086" y="4430143"/>
              <a:chExt cx="1923374" cy="1496149"/>
            </a:xfrm>
          </p:grpSpPr>
          <p:sp>
            <p:nvSpPr>
              <p:cNvPr id="47" name="사각형: 둥근 모서리 46">
                <a:extLst>
                  <a:ext uri="{FF2B5EF4-FFF2-40B4-BE49-F238E27FC236}">
                    <a16:creationId xmlns:a16="http://schemas.microsoft.com/office/drawing/2014/main" id="{5CA56767-1367-B924-EE9E-AF11528540C8}"/>
                  </a:ext>
                </a:extLst>
              </p:cNvPr>
              <p:cNvSpPr/>
              <p:nvPr/>
            </p:nvSpPr>
            <p:spPr>
              <a:xfrm>
                <a:off x="147086" y="4430143"/>
                <a:ext cx="1890875" cy="1496149"/>
              </a:xfrm>
              <a:prstGeom prst="roundRect">
                <a:avLst>
                  <a:gd name="adj" fmla="val 9116"/>
                </a:avLst>
              </a:prstGeom>
              <a:solidFill>
                <a:schemeClr val="bg1"/>
              </a:solidFill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10FFAE1C-350D-B34F-FD78-1FB5150EFF3F}"/>
                  </a:ext>
                </a:extLst>
              </p:cNvPr>
              <p:cNvSpPr txBox="1"/>
              <p:nvPr/>
            </p:nvSpPr>
            <p:spPr>
              <a:xfrm>
                <a:off x="407590" y="4882898"/>
                <a:ext cx="1662870" cy="49316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ko-KR" altLang="en-US" sz="1600" dirty="0">
                    <a:latin typeface="a시월구일1" panose="02020600000000000000" pitchFamily="18" charset="-127"/>
                    <a:ea typeface="a시월구일1" panose="02020600000000000000" pitchFamily="18" charset="-127"/>
                    <a:cs typeface="Noto Sans Disp ExtBd" panose="020B0902040504020204" pitchFamily="34"/>
                  </a:rPr>
                  <a:t>환경 </a:t>
                </a:r>
                <a:r>
                  <a:rPr lang="en-US" altLang="ko-KR" sz="1600" dirty="0">
                    <a:latin typeface="a시월구일1" panose="02020600000000000000" pitchFamily="18" charset="-127"/>
                    <a:ea typeface="a시월구일1" panose="02020600000000000000" pitchFamily="18" charset="-127"/>
                    <a:cs typeface="Noto Sans Disp ExtBd" panose="020B0902040504020204" pitchFamily="34"/>
                  </a:rPr>
                  <a:t>+ </a:t>
                </a:r>
                <a:r>
                  <a:rPr lang="ko-KR" altLang="en-US" sz="1600" dirty="0">
                    <a:latin typeface="a시월구일1" panose="02020600000000000000" pitchFamily="18" charset="-127"/>
                    <a:ea typeface="a시월구일1" panose="02020600000000000000" pitchFamily="18" charset="-127"/>
                    <a:cs typeface="Noto Sans Disp ExtBd" panose="020B0902040504020204" pitchFamily="34"/>
                  </a:rPr>
                  <a:t>보건 </a:t>
                </a:r>
                <a:r>
                  <a:rPr lang="en-US" altLang="ko-KR" sz="1600" dirty="0">
                    <a:latin typeface="a시월구일1" panose="02020600000000000000" pitchFamily="18" charset="-127"/>
                    <a:ea typeface="a시월구일1" panose="02020600000000000000" pitchFamily="18" charset="-127"/>
                    <a:cs typeface="Noto Sans Disp ExtBd" panose="020B0902040504020204" pitchFamily="34"/>
                  </a:rPr>
                  <a:t>+ </a:t>
                </a:r>
                <a:r>
                  <a:rPr lang="ko-KR" altLang="en-US" sz="1600" dirty="0">
                    <a:latin typeface="a시월구일1" panose="02020600000000000000" pitchFamily="18" charset="-127"/>
                    <a:ea typeface="a시월구일1" panose="02020600000000000000" pitchFamily="18" charset="-127"/>
                    <a:cs typeface="Noto Sans Disp ExtBd" panose="020B0902040504020204" pitchFamily="34"/>
                  </a:rPr>
                  <a:t>인구 데이터 결함</a:t>
                </a:r>
                <a:endParaRPr lang="en-US" altLang="ko-KR" sz="1600" dirty="0">
                  <a:latin typeface="a시월구일1" panose="02020600000000000000" pitchFamily="18" charset="-127"/>
                  <a:ea typeface="a시월구일1" panose="02020600000000000000" pitchFamily="18" charset="-127"/>
                  <a:cs typeface="Noto Sans Disp ExtBd" panose="020B0902040504020204" pitchFamily="34"/>
                </a:endParaRPr>
              </a:p>
            </p:txBody>
          </p:sp>
        </p:grpSp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E3347BF0-2DE7-F5C6-8AF0-CE0CF0786303}"/>
                </a:ext>
              </a:extLst>
            </p:cNvPr>
            <p:cNvSpPr/>
            <p:nvPr/>
          </p:nvSpPr>
          <p:spPr>
            <a:xfrm>
              <a:off x="317986" y="1667315"/>
              <a:ext cx="1396375" cy="139637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데이터</a:t>
              </a:r>
              <a:endParaRPr lang="en-US" altLang="ko-KR" sz="20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Noto Sans Disp ExtBd" panose="020B0902040504020204" pitchFamily="34"/>
              </a:endParaRPr>
            </a:p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통합</a:t>
              </a:r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88BEAAD5-0A4E-6E34-7D71-DD5E9280F885}"/>
              </a:ext>
            </a:extLst>
          </p:cNvPr>
          <p:cNvGrpSpPr/>
          <p:nvPr/>
        </p:nvGrpSpPr>
        <p:grpSpPr>
          <a:xfrm>
            <a:off x="317986" y="3383573"/>
            <a:ext cx="5169527" cy="1396375"/>
            <a:chOff x="317986" y="3419527"/>
            <a:chExt cx="5169527" cy="1396375"/>
          </a:xfrm>
        </p:grpSpPr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FB574C56-7C2A-C2A4-4034-F0141CED65E9}"/>
                </a:ext>
              </a:extLst>
            </p:cNvPr>
            <p:cNvGrpSpPr/>
            <p:nvPr/>
          </p:nvGrpSpPr>
          <p:grpSpPr>
            <a:xfrm>
              <a:off x="1485901" y="3675340"/>
              <a:ext cx="4001612" cy="877693"/>
              <a:chOff x="147086" y="4430143"/>
              <a:chExt cx="1923374" cy="1496149"/>
            </a:xfrm>
          </p:grpSpPr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8DF188DD-95E2-8BEB-0B39-31B5FCCBF7D7}"/>
                  </a:ext>
                </a:extLst>
              </p:cNvPr>
              <p:cNvSpPr/>
              <p:nvPr/>
            </p:nvSpPr>
            <p:spPr>
              <a:xfrm>
                <a:off x="147086" y="4430143"/>
                <a:ext cx="1890875" cy="1496149"/>
              </a:xfrm>
              <a:prstGeom prst="roundRect">
                <a:avLst>
                  <a:gd name="adj" fmla="val 9116"/>
                </a:avLst>
              </a:prstGeom>
              <a:solidFill>
                <a:schemeClr val="bg1"/>
              </a:solidFill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43D6432-E8B4-47F8-BB7D-C24499D8DE6D}"/>
                  </a:ext>
                </a:extLst>
              </p:cNvPr>
              <p:cNvSpPr txBox="1"/>
              <p:nvPr/>
            </p:nvSpPr>
            <p:spPr>
              <a:xfrm>
                <a:off x="407590" y="4882898"/>
                <a:ext cx="1662870" cy="49316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ko-KR" altLang="en-US" sz="1600" dirty="0">
                    <a:latin typeface="a시월구일1" panose="02020600000000000000" pitchFamily="18" charset="-127"/>
                    <a:ea typeface="a시월구일1" panose="02020600000000000000" pitchFamily="18" charset="-127"/>
                    <a:cs typeface="Noto Sans Disp ExtBd" panose="020B0902040504020204" pitchFamily="34"/>
                  </a:rPr>
                  <a:t>자치구별 건강 특성 반영</a:t>
                </a:r>
                <a:endParaRPr lang="en-US" altLang="ko-KR" sz="1600" dirty="0">
                  <a:latin typeface="a시월구일1" panose="02020600000000000000" pitchFamily="18" charset="-127"/>
                  <a:ea typeface="a시월구일1" panose="02020600000000000000" pitchFamily="18" charset="-127"/>
                  <a:cs typeface="Noto Sans Disp ExtBd" panose="020B0902040504020204" pitchFamily="34"/>
                </a:endParaRPr>
              </a:p>
            </p:txBody>
          </p:sp>
        </p:grp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A88985DA-620B-342E-7AE2-752E5E28BF79}"/>
                </a:ext>
              </a:extLst>
            </p:cNvPr>
            <p:cNvSpPr/>
            <p:nvPr/>
          </p:nvSpPr>
          <p:spPr>
            <a:xfrm>
              <a:off x="317986" y="3419527"/>
              <a:ext cx="1396375" cy="139637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지역</a:t>
              </a:r>
              <a:endParaRPr lang="en-US" altLang="ko-KR" sz="20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Noto Sans Disp ExtBd" panose="020B0902040504020204" pitchFamily="34"/>
              </a:endParaRPr>
            </a:p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분석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B95F4C33-FF4C-AA7B-CDD5-2127BDF0F48D}"/>
              </a:ext>
            </a:extLst>
          </p:cNvPr>
          <p:cNvGrpSpPr/>
          <p:nvPr/>
        </p:nvGrpSpPr>
        <p:grpSpPr>
          <a:xfrm>
            <a:off x="317986" y="4970296"/>
            <a:ext cx="5169527" cy="1396375"/>
            <a:chOff x="317986" y="5171739"/>
            <a:chExt cx="5169527" cy="1396375"/>
          </a:xfrm>
        </p:grpSpPr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038B5FD4-08A4-9EB6-079A-B8F1E916308C}"/>
                </a:ext>
              </a:extLst>
            </p:cNvPr>
            <p:cNvGrpSpPr/>
            <p:nvPr/>
          </p:nvGrpSpPr>
          <p:grpSpPr>
            <a:xfrm>
              <a:off x="1485901" y="5457514"/>
              <a:ext cx="4001612" cy="877693"/>
              <a:chOff x="147086" y="4430143"/>
              <a:chExt cx="1923374" cy="1496149"/>
            </a:xfrm>
          </p:grpSpPr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052C4777-FA42-CF81-313C-380F28DB5619}"/>
                  </a:ext>
                </a:extLst>
              </p:cNvPr>
              <p:cNvSpPr/>
              <p:nvPr/>
            </p:nvSpPr>
            <p:spPr>
              <a:xfrm>
                <a:off x="147086" y="4430143"/>
                <a:ext cx="1890875" cy="1496149"/>
              </a:xfrm>
              <a:prstGeom prst="roundRect">
                <a:avLst>
                  <a:gd name="adj" fmla="val 9116"/>
                </a:avLst>
              </a:prstGeom>
              <a:solidFill>
                <a:schemeClr val="bg1"/>
              </a:solidFill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E4F8A0B-7AAB-0DBD-E8DB-E59B14DDCBBB}"/>
                  </a:ext>
                </a:extLst>
              </p:cNvPr>
              <p:cNvSpPr txBox="1"/>
              <p:nvPr/>
            </p:nvSpPr>
            <p:spPr>
              <a:xfrm>
                <a:off x="407590" y="4882898"/>
                <a:ext cx="1662870" cy="49316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ko-KR" altLang="en-US" sz="1600" dirty="0">
                    <a:latin typeface="a시월구일1" panose="02020600000000000000" pitchFamily="18" charset="-127"/>
                    <a:ea typeface="a시월구일1" panose="02020600000000000000" pitchFamily="18" charset="-127"/>
                    <a:cs typeface="Noto Sans Disp ExtBd" panose="020B0902040504020204" pitchFamily="34"/>
                  </a:rPr>
                  <a:t>실질적 건강 위험도 산출</a:t>
                </a:r>
                <a:endParaRPr lang="en-US" altLang="ko-KR" sz="1600" dirty="0">
                  <a:latin typeface="a시월구일1" panose="02020600000000000000" pitchFamily="18" charset="-127"/>
                  <a:ea typeface="a시월구일1" panose="02020600000000000000" pitchFamily="18" charset="-127"/>
                  <a:cs typeface="Noto Sans Disp ExtBd" panose="020B0902040504020204" pitchFamily="34"/>
                </a:endParaRPr>
              </a:p>
            </p:txBody>
          </p:sp>
        </p:grp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940EF828-5644-03E3-0DF1-BB94F018A383}"/>
                </a:ext>
              </a:extLst>
            </p:cNvPr>
            <p:cNvSpPr/>
            <p:nvPr/>
          </p:nvSpPr>
          <p:spPr>
            <a:xfrm>
              <a:off x="317986" y="5171739"/>
              <a:ext cx="1396375" cy="139637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위험도</a:t>
              </a:r>
              <a:endParaRPr lang="en-US" altLang="ko-KR" sz="20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Noto Sans Disp ExtBd" panose="020B0902040504020204" pitchFamily="34"/>
              </a:endParaRPr>
            </a:p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분석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864793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8D418-6C4B-403C-297F-7563D074A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94C8AC2A-0665-706E-362A-04FB222F17C9}"/>
              </a:ext>
            </a:extLst>
          </p:cNvPr>
          <p:cNvSpPr txBox="1"/>
          <p:nvPr/>
        </p:nvSpPr>
        <p:spPr>
          <a:xfrm>
            <a:off x="516749" y="379988"/>
            <a:ext cx="1671933" cy="48936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3. </a:t>
            </a:r>
            <a:r>
              <a:rPr lang="ko-KR" altLang="en-US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개발 목표</a:t>
            </a:r>
            <a:endParaRPr lang="en-US" altLang="ko-KR" sz="2400" dirty="0">
              <a:latin typeface="a시월구일3" panose="02020600000000000000" pitchFamily="18" charset="-127"/>
              <a:ea typeface="a시월구일3" panose="02020600000000000000" pitchFamily="18" charset="-127"/>
              <a:cs typeface="+mj-cs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B73155E1-F75B-214C-C215-ABFD571A48C7}"/>
              </a:ext>
            </a:extLst>
          </p:cNvPr>
          <p:cNvGrpSpPr/>
          <p:nvPr/>
        </p:nvGrpSpPr>
        <p:grpSpPr>
          <a:xfrm>
            <a:off x="665666" y="1201724"/>
            <a:ext cx="8876919" cy="1396375"/>
            <a:chOff x="665666" y="1201724"/>
            <a:chExt cx="8876919" cy="1396375"/>
          </a:xfrm>
        </p:grpSpPr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D4065A8B-CC79-C0CA-3E90-0F624C509FC9}"/>
                </a:ext>
              </a:extLst>
            </p:cNvPr>
            <p:cNvSpPr/>
            <p:nvPr/>
          </p:nvSpPr>
          <p:spPr>
            <a:xfrm>
              <a:off x="1304072" y="1315299"/>
              <a:ext cx="8238513" cy="1182916"/>
            </a:xfrm>
            <a:prstGeom prst="roundRect">
              <a:avLst>
                <a:gd name="adj" fmla="val 24847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C391245F-ED1D-F4DE-6948-0B249C4DB286}"/>
                </a:ext>
              </a:extLst>
            </p:cNvPr>
            <p:cNvSpPr/>
            <p:nvPr/>
          </p:nvSpPr>
          <p:spPr>
            <a:xfrm>
              <a:off x="665666" y="1201724"/>
              <a:ext cx="1494000" cy="139637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Data</a:t>
              </a:r>
              <a:endParaRPr lang="ko-KR" altLang="en-US" sz="20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Noto Sans Disp ExtBd" panose="020B0902040504020204" pitchFamily="34"/>
              </a:endParaRP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45B6B3B3-5477-A4A3-188A-8F612C173EDA}"/>
              </a:ext>
            </a:extLst>
          </p:cNvPr>
          <p:cNvGrpSpPr/>
          <p:nvPr/>
        </p:nvGrpSpPr>
        <p:grpSpPr>
          <a:xfrm>
            <a:off x="2062042" y="2551201"/>
            <a:ext cx="8904298" cy="1396375"/>
            <a:chOff x="2062042" y="2671883"/>
            <a:chExt cx="8904298" cy="1396375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FF12169B-7F53-5127-DAA9-F3A5635A213B}"/>
                </a:ext>
              </a:extLst>
            </p:cNvPr>
            <p:cNvSpPr/>
            <p:nvPr/>
          </p:nvSpPr>
          <p:spPr>
            <a:xfrm>
              <a:off x="2062042" y="2785458"/>
              <a:ext cx="8240400" cy="1182916"/>
            </a:xfrm>
            <a:prstGeom prst="roundRect">
              <a:avLst>
                <a:gd name="adj" fmla="val 16564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EA0FCFF6-6ADF-83B8-2EBA-2F51F9E457C9}"/>
                </a:ext>
              </a:extLst>
            </p:cNvPr>
            <p:cNvSpPr/>
            <p:nvPr/>
          </p:nvSpPr>
          <p:spPr>
            <a:xfrm>
              <a:off x="9472340" y="2671883"/>
              <a:ext cx="1494000" cy="139637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AI</a:t>
              </a:r>
            </a:p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Model</a:t>
              </a:r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2373ABF3-31C5-71A3-5140-03C9E3AD6E2F}"/>
              </a:ext>
            </a:extLst>
          </p:cNvPr>
          <p:cNvGrpSpPr/>
          <p:nvPr/>
        </p:nvGrpSpPr>
        <p:grpSpPr>
          <a:xfrm>
            <a:off x="568715" y="3900678"/>
            <a:ext cx="8973870" cy="1396375"/>
            <a:chOff x="568715" y="4209095"/>
            <a:chExt cx="8973870" cy="1396375"/>
          </a:xfrm>
        </p:grpSpPr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58554317-C382-D1F2-0F40-44CC0071AD24}"/>
                </a:ext>
              </a:extLst>
            </p:cNvPr>
            <p:cNvSpPr/>
            <p:nvPr/>
          </p:nvSpPr>
          <p:spPr>
            <a:xfrm>
              <a:off x="1304072" y="4322670"/>
              <a:ext cx="8238513" cy="1182916"/>
            </a:xfrm>
            <a:prstGeom prst="roundRect">
              <a:avLst>
                <a:gd name="adj" fmla="val 24847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F5BA7D0C-FD06-7D9B-0C8B-5FA3DC04F5C0}"/>
                </a:ext>
              </a:extLst>
            </p:cNvPr>
            <p:cNvSpPr/>
            <p:nvPr/>
          </p:nvSpPr>
          <p:spPr>
            <a:xfrm>
              <a:off x="568715" y="4209095"/>
              <a:ext cx="1493327" cy="139637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UI</a:t>
              </a:r>
              <a:endParaRPr lang="ko-KR" altLang="en-US" sz="20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Noto Sans Disp ExtBd" panose="020B0902040504020204" pitchFamily="34"/>
              </a:endParaRPr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F7226973-1CA5-49A7-7AA5-D91D4F9D44EA}"/>
              </a:ext>
            </a:extLst>
          </p:cNvPr>
          <p:cNvGrpSpPr/>
          <p:nvPr/>
        </p:nvGrpSpPr>
        <p:grpSpPr>
          <a:xfrm>
            <a:off x="2814461" y="5250156"/>
            <a:ext cx="8914310" cy="1396375"/>
            <a:chOff x="2814461" y="5679254"/>
            <a:chExt cx="8914310" cy="1396375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2B1B83E6-7BD0-5AC0-3A07-D35056DF0DD2}"/>
                </a:ext>
              </a:extLst>
            </p:cNvPr>
            <p:cNvSpPr/>
            <p:nvPr/>
          </p:nvSpPr>
          <p:spPr>
            <a:xfrm>
              <a:off x="2814461" y="5798779"/>
              <a:ext cx="8240400" cy="1182916"/>
            </a:xfrm>
            <a:prstGeom prst="roundRect">
              <a:avLst>
                <a:gd name="adj" fmla="val 16564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3D4A798E-7B28-D756-BB58-94B5B2D8DF7D}"/>
                </a:ext>
              </a:extLst>
            </p:cNvPr>
            <p:cNvSpPr/>
            <p:nvPr/>
          </p:nvSpPr>
          <p:spPr>
            <a:xfrm>
              <a:off x="10234771" y="5679254"/>
              <a:ext cx="1494000" cy="139637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서비스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41FC2CE6-0C48-AA3D-4ACC-D73CC76E3FEB}"/>
              </a:ext>
            </a:extLst>
          </p:cNvPr>
          <p:cNvSpPr txBox="1"/>
          <p:nvPr/>
        </p:nvSpPr>
        <p:spPr>
          <a:xfrm>
            <a:off x="2297715" y="1452177"/>
            <a:ext cx="7244869" cy="69557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182563" indent="-182563" latinLnBrk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환경</a:t>
            </a:r>
            <a:r>
              <a:rPr kumimoji="1" lang="en-US" altLang="ko-KR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(</a:t>
            </a: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미세먼지</a:t>
            </a:r>
            <a:r>
              <a:rPr kumimoji="1" lang="en-US" altLang="ko-KR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), </a:t>
            </a: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보건</a:t>
            </a:r>
            <a:r>
              <a:rPr kumimoji="1" lang="en-US" altLang="ko-KR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(</a:t>
            </a: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진료 건수</a:t>
            </a:r>
            <a:r>
              <a:rPr kumimoji="1" lang="en-US" altLang="ko-KR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), </a:t>
            </a: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인구 데이터를 통합하여  자치구별 분석 데이터셋 구축</a:t>
            </a:r>
            <a:endParaRPr kumimoji="1" lang="en-US" altLang="ko-KR" sz="1600" dirty="0">
              <a:ln w="12700">
                <a:solidFill>
                  <a:schemeClr val="tx1">
                    <a:alpha val="500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a시월구일3" panose="02020600000000000000" pitchFamily="18" charset="-127"/>
              <a:ea typeface="a시월구일3" panose="02020600000000000000" pitchFamily="18" charset="-127"/>
              <a:cs typeface="Pretendard" panose="02000503000000020004" pitchFamily="2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3224FB8-B737-D457-16C7-5E3F5EA31015}"/>
              </a:ext>
            </a:extLst>
          </p:cNvPr>
          <p:cNvSpPr txBox="1"/>
          <p:nvPr/>
        </p:nvSpPr>
        <p:spPr>
          <a:xfrm>
            <a:off x="2297715" y="2891915"/>
            <a:ext cx="7022131" cy="69557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182563" indent="-182563" latinLnBrk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ko-KR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K-Means </a:t>
            </a: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군집화를 적용하여  자치구별 보건 취약 유형을 분류</a:t>
            </a:r>
            <a:endParaRPr kumimoji="1" lang="en-US" altLang="ko-KR" sz="1600" dirty="0">
              <a:ln w="12700">
                <a:solidFill>
                  <a:schemeClr val="tx1">
                    <a:alpha val="500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a시월구일1" panose="02020600000000000000" pitchFamily="18" charset="-127"/>
              <a:ea typeface="a시월구일1" panose="02020600000000000000" pitchFamily="18" charset="-127"/>
              <a:cs typeface="Pretendard" panose="02000503000000020004" pitchFamily="2" charset="-127"/>
            </a:endParaRPr>
          </a:p>
          <a:p>
            <a:pPr marL="182563" indent="-182563" latinLnBrk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ko-KR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SHAP</a:t>
            </a: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을 활용하여  유형 분류 결과에 대한 영향 요인 분석</a:t>
            </a:r>
            <a:endParaRPr kumimoji="1" lang="en-US" altLang="ko-KR" sz="1600" dirty="0">
              <a:ln w="12700">
                <a:solidFill>
                  <a:schemeClr val="tx1">
                    <a:alpha val="500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a시월구일1" panose="02020600000000000000" pitchFamily="18" charset="-127"/>
              <a:ea typeface="a시월구일1" panose="02020600000000000000" pitchFamily="18" charset="-127"/>
              <a:cs typeface="Pretendard" panose="02000503000000020004" pitchFamily="2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A880690-1BC0-75FB-D97C-DC20EAD83AB4}"/>
              </a:ext>
            </a:extLst>
          </p:cNvPr>
          <p:cNvSpPr txBox="1"/>
          <p:nvPr/>
        </p:nvSpPr>
        <p:spPr>
          <a:xfrm>
            <a:off x="2297715" y="4187903"/>
            <a:ext cx="7244869" cy="69557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182563" indent="-182563" latinLnBrk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자치구별 보건 취약 유형 및 위험도를  직관적으로 확인할 수 있는 시각화 제공</a:t>
            </a:r>
            <a:endParaRPr kumimoji="1" lang="en-US" altLang="ko-KR" sz="1600" dirty="0">
              <a:ln w="12700">
                <a:solidFill>
                  <a:schemeClr val="tx1">
                    <a:alpha val="500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a시월구일1" panose="02020600000000000000" pitchFamily="18" charset="-127"/>
              <a:ea typeface="a시월구일1" panose="02020600000000000000" pitchFamily="18" charset="-127"/>
              <a:cs typeface="Pretendard" panose="02000503000000020004" pitchFamily="2" charset="-127"/>
            </a:endParaRPr>
          </a:p>
          <a:p>
            <a:pPr marL="182563" indent="-182563" latinLnBrk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지역별 상세 분석 및 원인 정보를  사용자가 쉽게 탐색할 수 있는 </a:t>
            </a:r>
            <a:r>
              <a:rPr kumimoji="1" lang="en-US" altLang="ko-KR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UI </a:t>
            </a: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구성</a:t>
            </a:r>
            <a:endParaRPr kumimoji="1" lang="en-US" altLang="ko-KR" sz="1600" dirty="0">
              <a:ln w="12700">
                <a:solidFill>
                  <a:schemeClr val="tx1">
                    <a:alpha val="500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a시월구일1" panose="02020600000000000000" pitchFamily="18" charset="-127"/>
              <a:ea typeface="a시월구일1" panose="02020600000000000000" pitchFamily="18" charset="-127"/>
              <a:cs typeface="Pretendard" panose="02000503000000020004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992E3DE-9EFD-8C27-6FB7-FFA999B81E34}"/>
              </a:ext>
            </a:extLst>
          </p:cNvPr>
          <p:cNvSpPr txBox="1"/>
          <p:nvPr/>
        </p:nvSpPr>
        <p:spPr>
          <a:xfrm>
            <a:off x="2989902" y="5595547"/>
            <a:ext cx="7244869" cy="69557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182563" indent="-182563" latinLnBrk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분석 결과를 기반으로  자치구별 보건 정책 의사결정을 지원하는 시스템 구현</a:t>
            </a:r>
            <a:endParaRPr kumimoji="1" lang="en-US" altLang="ko-KR" sz="1600" dirty="0">
              <a:ln w="12700">
                <a:solidFill>
                  <a:schemeClr val="tx1">
                    <a:alpha val="500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a시월구일1" panose="02020600000000000000" pitchFamily="18" charset="-127"/>
              <a:ea typeface="a시월구일1" panose="02020600000000000000" pitchFamily="18" charset="-127"/>
              <a:cs typeface="Pretendard" panose="02000503000000020004" pitchFamily="2" charset="-127"/>
            </a:endParaRPr>
          </a:p>
          <a:p>
            <a:pPr marL="182563" indent="-182563" latinLnBrk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지역 특성에 따른 맞춤형 정책 방향 제공</a:t>
            </a:r>
            <a:endParaRPr kumimoji="1" lang="en-US" altLang="ko-KR" sz="1600" dirty="0">
              <a:ln w="12700">
                <a:solidFill>
                  <a:schemeClr val="tx1">
                    <a:alpha val="500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a시월구일1" panose="02020600000000000000" pitchFamily="18" charset="-127"/>
              <a:ea typeface="a시월구일1" panose="02020600000000000000" pitchFamily="18" charset="-127"/>
              <a:cs typeface="Pretendard" panose="02000503000000020004" pitchFamily="2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20B2A62-ABC5-C062-1DE5-7021749E2F18}"/>
              </a:ext>
            </a:extLst>
          </p:cNvPr>
          <p:cNvSpPr txBox="1"/>
          <p:nvPr/>
        </p:nvSpPr>
        <p:spPr>
          <a:xfrm>
            <a:off x="2493079" y="601616"/>
            <a:ext cx="82385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a시월구일1" panose="02020600000000000000" pitchFamily="18" charset="-127"/>
                <a:ea typeface="a시월구일1" panose="02020600000000000000" pitchFamily="18" charset="-127"/>
              </a:rPr>
              <a:t>자치구별 보건 취약 유형을 도출하고 정책 의사결정을 지원하는 시스템을 개발</a:t>
            </a:r>
          </a:p>
        </p:txBody>
      </p:sp>
    </p:spTree>
    <p:extLst>
      <p:ext uri="{BB962C8B-B14F-4D97-AF65-F5344CB8AC3E}">
        <p14:creationId xmlns:p14="http://schemas.microsoft.com/office/powerpoint/2010/main" val="33751389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1AE69A-E27F-4225-B124-B1BAD22456E7}"/>
              </a:ext>
            </a:extLst>
          </p:cNvPr>
          <p:cNvSpPr txBox="1"/>
          <p:nvPr/>
        </p:nvSpPr>
        <p:spPr>
          <a:xfrm>
            <a:off x="516749" y="379988"/>
            <a:ext cx="1981312" cy="48936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4. </a:t>
            </a:r>
            <a:r>
              <a:rPr lang="ko-KR" altLang="en-US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데이터 구성</a:t>
            </a:r>
            <a:endParaRPr lang="en-US" altLang="ko-KR" sz="2400" dirty="0">
              <a:latin typeface="a시월구일3" panose="02020600000000000000" pitchFamily="18" charset="-127"/>
              <a:ea typeface="a시월구일3" panose="02020600000000000000" pitchFamily="18" charset="-127"/>
              <a:cs typeface="+mj-cs"/>
            </a:endParaRPr>
          </a:p>
        </p:txBody>
      </p: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6FEE04E5-027A-4703-A7F8-2F55C4118BAC}"/>
              </a:ext>
            </a:extLst>
          </p:cNvPr>
          <p:cNvGrpSpPr/>
          <p:nvPr/>
        </p:nvGrpSpPr>
        <p:grpSpPr>
          <a:xfrm>
            <a:off x="379994" y="1502434"/>
            <a:ext cx="3490393" cy="4329520"/>
            <a:chOff x="379994" y="1502434"/>
            <a:chExt cx="3490393" cy="4329520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DC533850-7FFD-4262-9714-BD5A344E5B18}"/>
                </a:ext>
              </a:extLst>
            </p:cNvPr>
            <p:cNvSpPr/>
            <p:nvPr/>
          </p:nvSpPr>
          <p:spPr>
            <a:xfrm>
              <a:off x="379994" y="1502434"/>
              <a:ext cx="3490393" cy="432952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0C7D5F32-A713-46DA-9A0F-2DE7CBF338F8}"/>
                </a:ext>
              </a:extLst>
            </p:cNvPr>
            <p:cNvGrpSpPr/>
            <p:nvPr/>
          </p:nvGrpSpPr>
          <p:grpSpPr>
            <a:xfrm>
              <a:off x="1795773" y="1680295"/>
              <a:ext cx="658835" cy="658835"/>
              <a:chOff x="1649249" y="1394545"/>
              <a:chExt cx="658835" cy="658835"/>
            </a:xfrm>
          </p:grpSpPr>
          <p:sp>
            <p:nvSpPr>
              <p:cNvPr id="15" name="타원 14">
                <a:extLst>
                  <a:ext uri="{FF2B5EF4-FFF2-40B4-BE49-F238E27FC236}">
                    <a16:creationId xmlns:a16="http://schemas.microsoft.com/office/drawing/2014/main" id="{B58CC5F4-7E4B-446F-BBE9-BFD3C79876BC}"/>
                  </a:ext>
                </a:extLst>
              </p:cNvPr>
              <p:cNvSpPr/>
              <p:nvPr/>
            </p:nvSpPr>
            <p:spPr>
              <a:xfrm>
                <a:off x="1649249" y="1394545"/>
                <a:ext cx="658835" cy="658835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bg2">
                    <a:lumMod val="90000"/>
                  </a:schemeClr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19" name="그림 18">
                <a:extLst>
                  <a:ext uri="{FF2B5EF4-FFF2-40B4-BE49-F238E27FC236}">
                    <a16:creationId xmlns:a16="http://schemas.microsoft.com/office/drawing/2014/main" id="{349BE452-87D7-4E42-9CB3-68461FDDFE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760492" y="1505788"/>
                <a:ext cx="436348" cy="436348"/>
              </a:xfrm>
              <a:prstGeom prst="rect">
                <a:avLst/>
              </a:prstGeom>
            </p:spPr>
          </p:pic>
        </p:grp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3F06539-84CC-4EB3-B2B4-7034BFFE100D}"/>
                </a:ext>
              </a:extLst>
            </p:cNvPr>
            <p:cNvSpPr txBox="1"/>
            <p:nvPr/>
          </p:nvSpPr>
          <p:spPr>
            <a:xfrm>
              <a:off x="1454333" y="2409415"/>
              <a:ext cx="1341714" cy="40780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kumimoji="1" lang="ko-KR" altLang="en-US" sz="20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rPr>
                <a:t>환경 데이터</a:t>
              </a:r>
              <a:endParaRPr kumimoji="1" lang="en-US" altLang="ko-KR" sz="20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3919A07-26A2-40F3-B397-A0A212B79AAA}"/>
                </a:ext>
              </a:extLst>
            </p:cNvPr>
            <p:cNvSpPr txBox="1"/>
            <p:nvPr/>
          </p:nvSpPr>
          <p:spPr>
            <a:xfrm>
              <a:off x="419599" y="2930022"/>
              <a:ext cx="3411183" cy="695575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algn="ctr" latinLnBrk="0">
                <a:lnSpc>
                  <a:spcPct val="150000"/>
                </a:lnSpc>
              </a:pPr>
              <a:r>
                <a:rPr kumimoji="1" lang="ko-KR" altLang="en-US" sz="16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미세먼지 및 기상 정보를 활용하여</a:t>
              </a:r>
              <a:endParaRPr kumimoji="1" lang="en-US" altLang="ko-KR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  <a:p>
              <a:pPr algn="ctr" latinLnBrk="0">
                <a:lnSpc>
                  <a:spcPct val="150000"/>
                </a:lnSpc>
              </a:pPr>
              <a:r>
                <a:rPr kumimoji="1" lang="ko-KR" altLang="en-US" sz="16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지역별 대기 환경 상태를 분석</a:t>
              </a:r>
              <a:endParaRPr kumimoji="1" lang="en-US" altLang="ko-KR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endParaRPr>
            </a:p>
          </p:txBody>
        </p:sp>
        <p:cxnSp>
          <p:nvCxnSpPr>
            <p:cNvPr id="28" name="직선 연결선 27">
              <a:extLst>
                <a:ext uri="{FF2B5EF4-FFF2-40B4-BE49-F238E27FC236}">
                  <a16:creationId xmlns:a16="http://schemas.microsoft.com/office/drawing/2014/main" id="{8D977236-ABBD-4D98-953A-9CC13509C674}"/>
                </a:ext>
              </a:extLst>
            </p:cNvPr>
            <p:cNvCxnSpPr>
              <a:cxnSpLocks/>
            </p:cNvCxnSpPr>
            <p:nvPr/>
          </p:nvCxnSpPr>
          <p:spPr>
            <a:xfrm>
              <a:off x="734540" y="5238255"/>
              <a:ext cx="2781300" cy="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>
              <a:extLst>
                <a:ext uri="{FF2B5EF4-FFF2-40B4-BE49-F238E27FC236}">
                  <a16:creationId xmlns:a16="http://schemas.microsoft.com/office/drawing/2014/main" id="{779F9BD7-3F7B-4142-8363-07737FDE6BC1}"/>
                </a:ext>
              </a:extLst>
            </p:cNvPr>
            <p:cNvCxnSpPr>
              <a:cxnSpLocks/>
            </p:cNvCxnSpPr>
            <p:nvPr/>
          </p:nvCxnSpPr>
          <p:spPr>
            <a:xfrm>
              <a:off x="1271115" y="3752850"/>
              <a:ext cx="1708150" cy="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AAA33934-469D-42B0-B4C2-449A1959E3C1}"/>
                </a:ext>
              </a:extLst>
            </p:cNvPr>
            <p:cNvGrpSpPr/>
            <p:nvPr/>
          </p:nvGrpSpPr>
          <p:grpSpPr>
            <a:xfrm>
              <a:off x="1092542" y="4321348"/>
              <a:ext cx="2065296" cy="382644"/>
              <a:chOff x="1092542" y="3954069"/>
              <a:chExt cx="2065296" cy="382644"/>
            </a:xfrm>
          </p:grpSpPr>
          <p:sp>
            <p:nvSpPr>
              <p:cNvPr id="30" name="사각형: 둥근 모서리 29">
                <a:extLst>
                  <a:ext uri="{FF2B5EF4-FFF2-40B4-BE49-F238E27FC236}">
                    <a16:creationId xmlns:a16="http://schemas.microsoft.com/office/drawing/2014/main" id="{21E97351-FDF2-42FF-8483-B0369FFF9755}"/>
                  </a:ext>
                </a:extLst>
              </p:cNvPr>
              <p:cNvSpPr/>
              <p:nvPr/>
            </p:nvSpPr>
            <p:spPr>
              <a:xfrm>
                <a:off x="1092542" y="3954069"/>
                <a:ext cx="2065296" cy="382644"/>
              </a:xfrm>
              <a:prstGeom prst="roundRect">
                <a:avLst>
                  <a:gd name="adj" fmla="val 0"/>
                </a:avLst>
              </a:prstGeom>
              <a:solidFill>
                <a:srgbClr val="F9FBFC"/>
              </a:solidFill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</a:endParaRP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4AC8CD08-AD2E-40AE-86F5-E9F9E7BD8FCC}"/>
                  </a:ext>
                </a:extLst>
              </p:cNvPr>
              <p:cNvSpPr txBox="1"/>
              <p:nvPr/>
            </p:nvSpPr>
            <p:spPr>
              <a:xfrm>
                <a:off x="1092542" y="4029717"/>
                <a:ext cx="2065296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algn="ctr" latinLnBrk="0"/>
                <a:r>
                  <a:rPr kumimoji="1" lang="ko-KR" altLang="en-US" sz="1200" dirty="0">
                    <a:ln w="12700">
                      <a:solidFill>
                        <a:schemeClr val="tx1">
                          <a:alpha val="500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a시월구일1" panose="02020600000000000000" pitchFamily="18" charset="-127"/>
                    <a:ea typeface="a시월구일1" panose="02020600000000000000" pitchFamily="18" charset="-127"/>
                    <a:cs typeface="Pretendard" panose="02000503000000020004" pitchFamily="2" charset="-127"/>
                  </a:rPr>
                  <a:t>기온 데이터</a:t>
                </a:r>
                <a:endParaRPr kumimoji="1" lang="en-US" altLang="ko-KR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endParaRPr>
              </a:p>
            </p:txBody>
          </p:sp>
        </p:grp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1E5099B9-1F2B-4545-AB9E-AE67280BC4CD}"/>
                </a:ext>
              </a:extLst>
            </p:cNvPr>
            <p:cNvGrpSpPr/>
            <p:nvPr/>
          </p:nvGrpSpPr>
          <p:grpSpPr>
            <a:xfrm>
              <a:off x="1092542" y="3867492"/>
              <a:ext cx="2065296" cy="382644"/>
              <a:chOff x="1092542" y="3500213"/>
              <a:chExt cx="2065296" cy="382644"/>
            </a:xfrm>
          </p:grpSpPr>
          <p:sp>
            <p:nvSpPr>
              <p:cNvPr id="29" name="사각형: 둥근 모서리 28">
                <a:extLst>
                  <a:ext uri="{FF2B5EF4-FFF2-40B4-BE49-F238E27FC236}">
                    <a16:creationId xmlns:a16="http://schemas.microsoft.com/office/drawing/2014/main" id="{66DD378E-63DA-4C39-B983-6ED501261D22}"/>
                  </a:ext>
                </a:extLst>
              </p:cNvPr>
              <p:cNvSpPr/>
              <p:nvPr/>
            </p:nvSpPr>
            <p:spPr>
              <a:xfrm>
                <a:off x="1092542" y="3500213"/>
                <a:ext cx="2065296" cy="382644"/>
              </a:xfrm>
              <a:prstGeom prst="roundRect">
                <a:avLst>
                  <a:gd name="adj" fmla="val 0"/>
                </a:avLst>
              </a:prstGeom>
              <a:solidFill>
                <a:srgbClr val="F9FBFC"/>
              </a:solidFill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ko-KR" altLang="en-US" sz="1200" dirty="0">
                  <a:solidFill>
                    <a:schemeClr val="tx1"/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</a:endParaRP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D588E21D-D416-4B13-90F1-4F7DF3592317}"/>
                  </a:ext>
                </a:extLst>
              </p:cNvPr>
              <p:cNvSpPr txBox="1"/>
              <p:nvPr/>
            </p:nvSpPr>
            <p:spPr>
              <a:xfrm>
                <a:off x="1092542" y="3588518"/>
                <a:ext cx="2065296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algn="ctr" latinLnBrk="0"/>
                <a:r>
                  <a:rPr kumimoji="1" lang="ko-KR" altLang="en-US" sz="1200" dirty="0">
                    <a:ln w="12700">
                      <a:solidFill>
                        <a:schemeClr val="tx1">
                          <a:alpha val="500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a시월구일1" panose="02020600000000000000" pitchFamily="18" charset="-127"/>
                    <a:ea typeface="a시월구일1" panose="02020600000000000000" pitchFamily="18" charset="-127"/>
                    <a:cs typeface="Pretendard" panose="02000503000000020004" pitchFamily="2" charset="-127"/>
                  </a:rPr>
                  <a:t>미세먼지 농도</a:t>
                </a:r>
                <a:r>
                  <a:rPr kumimoji="1" lang="en-US" altLang="ko-KR" sz="1200" dirty="0">
                    <a:ln w="12700">
                      <a:solidFill>
                        <a:schemeClr val="tx1">
                          <a:alpha val="500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a시월구일1" panose="02020600000000000000" pitchFamily="18" charset="-127"/>
                    <a:ea typeface="a시월구일1" panose="02020600000000000000" pitchFamily="18" charset="-127"/>
                    <a:cs typeface="Pretendard" panose="02000503000000020004" pitchFamily="2" charset="-127"/>
                  </a:rPr>
                  <a:t>(PM10 / PM2.5)</a:t>
                </a:r>
                <a:endParaRPr kumimoji="1" lang="en-US" altLang="ko-KR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endParaRPr>
              </a:p>
            </p:txBody>
          </p:sp>
        </p:grpSp>
        <p:grpSp>
          <p:nvGrpSpPr>
            <p:cNvPr id="45" name="그룹 44">
              <a:extLst>
                <a:ext uri="{FF2B5EF4-FFF2-40B4-BE49-F238E27FC236}">
                  <a16:creationId xmlns:a16="http://schemas.microsoft.com/office/drawing/2014/main" id="{FA5EF943-08A9-4409-92F1-CB2666A817CC}"/>
                </a:ext>
              </a:extLst>
            </p:cNvPr>
            <p:cNvGrpSpPr/>
            <p:nvPr/>
          </p:nvGrpSpPr>
          <p:grpSpPr>
            <a:xfrm>
              <a:off x="1092542" y="4775204"/>
              <a:ext cx="2065296" cy="382644"/>
              <a:chOff x="1092542" y="4407925"/>
              <a:chExt cx="2065296" cy="382644"/>
            </a:xfrm>
          </p:grpSpPr>
          <p:sp>
            <p:nvSpPr>
              <p:cNvPr id="31" name="사각형: 둥근 모서리 30">
                <a:extLst>
                  <a:ext uri="{FF2B5EF4-FFF2-40B4-BE49-F238E27FC236}">
                    <a16:creationId xmlns:a16="http://schemas.microsoft.com/office/drawing/2014/main" id="{4D05FA58-8306-4778-ACB2-F1117E73C9E7}"/>
                  </a:ext>
                </a:extLst>
              </p:cNvPr>
              <p:cNvSpPr/>
              <p:nvPr/>
            </p:nvSpPr>
            <p:spPr>
              <a:xfrm>
                <a:off x="1092542" y="4407925"/>
                <a:ext cx="2065296" cy="382644"/>
              </a:xfrm>
              <a:prstGeom prst="roundRect">
                <a:avLst>
                  <a:gd name="adj" fmla="val 0"/>
                </a:avLst>
              </a:prstGeom>
              <a:solidFill>
                <a:srgbClr val="F9FBFC"/>
              </a:solidFill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</a:endParaRP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182265EB-A6AF-4216-B46E-07601625A32E}"/>
                  </a:ext>
                </a:extLst>
              </p:cNvPr>
              <p:cNvSpPr txBox="1"/>
              <p:nvPr/>
            </p:nvSpPr>
            <p:spPr>
              <a:xfrm>
                <a:off x="1092542" y="4498784"/>
                <a:ext cx="2065296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algn="ctr" latinLnBrk="0"/>
                <a:r>
                  <a:rPr kumimoji="1" lang="ko-KR" altLang="en-US" sz="1200" dirty="0">
                    <a:ln w="12700">
                      <a:solidFill>
                        <a:schemeClr val="tx1">
                          <a:alpha val="500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a시월구일1" panose="02020600000000000000" pitchFamily="18" charset="-127"/>
                    <a:ea typeface="a시월구일1" panose="02020600000000000000" pitchFamily="18" charset="-127"/>
                    <a:cs typeface="Pretendard" panose="02000503000000020004" pitchFamily="2" charset="-127"/>
                  </a:rPr>
                  <a:t>대기오염 정보</a:t>
                </a:r>
                <a:endParaRPr kumimoji="1" lang="en-US" altLang="ko-KR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endParaRPr>
              </a:p>
            </p:txBody>
          </p:sp>
        </p:grpSp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0A270044-710A-4FE1-9833-F165E32CE6D5}"/>
                </a:ext>
              </a:extLst>
            </p:cNvPr>
            <p:cNvGrpSpPr/>
            <p:nvPr/>
          </p:nvGrpSpPr>
          <p:grpSpPr>
            <a:xfrm>
              <a:off x="888583" y="5372942"/>
              <a:ext cx="2819979" cy="252000"/>
              <a:chOff x="953853" y="5017837"/>
              <a:chExt cx="2819979" cy="252000"/>
            </a:xfrm>
          </p:grpSpPr>
          <p:pic>
            <p:nvPicPr>
              <p:cNvPr id="42" name="그림 41">
                <a:extLst>
                  <a:ext uri="{FF2B5EF4-FFF2-40B4-BE49-F238E27FC236}">
                    <a16:creationId xmlns:a16="http://schemas.microsoft.com/office/drawing/2014/main" id="{F894DF6A-B78E-4997-83AE-373ADA68AF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53853" y="5017837"/>
                <a:ext cx="252000" cy="252000"/>
              </a:xfrm>
              <a:prstGeom prst="rect">
                <a:avLst/>
              </a:prstGeom>
            </p:spPr>
          </p:pic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28702AC0-F766-4705-A0FD-7D161E28683F}"/>
                  </a:ext>
                </a:extLst>
              </p:cNvPr>
              <p:cNvSpPr txBox="1"/>
              <p:nvPr/>
            </p:nvSpPr>
            <p:spPr>
              <a:xfrm>
                <a:off x="1265924" y="5021496"/>
                <a:ext cx="2507908" cy="244682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atinLnBrk="0">
                  <a:lnSpc>
                    <a:spcPct val="150000"/>
                  </a:lnSpc>
                </a:pPr>
                <a:r>
                  <a:rPr kumimoji="1" lang="ko-KR" altLang="en-US" sz="1200" dirty="0">
                    <a:ln w="12700">
                      <a:solidFill>
                        <a:schemeClr val="tx1">
                          <a:alpha val="5000"/>
                        </a:schemeClr>
                      </a:solidFill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시월구일1" panose="02020600000000000000" pitchFamily="18" charset="-127"/>
                    <a:ea typeface="a시월구일1" panose="02020600000000000000" pitchFamily="18" charset="-127"/>
                    <a:cs typeface="Pretendard" panose="02000503000000020004" pitchFamily="2" charset="-127"/>
                  </a:rPr>
                  <a:t>서울 열린 데이터 광장 </a:t>
                </a:r>
                <a:r>
                  <a:rPr kumimoji="1" lang="en-US" altLang="ko-KR" sz="1200" dirty="0">
                    <a:ln w="12700">
                      <a:solidFill>
                        <a:schemeClr val="tx1">
                          <a:alpha val="5000"/>
                        </a:schemeClr>
                      </a:solidFill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시월구일1" panose="02020600000000000000" pitchFamily="18" charset="-127"/>
                    <a:ea typeface="a시월구일1" panose="02020600000000000000" pitchFamily="18" charset="-127"/>
                    <a:cs typeface="Pretendard" panose="02000503000000020004" pitchFamily="2" charset="-127"/>
                  </a:rPr>
                  <a:t>/ </a:t>
                </a:r>
                <a:r>
                  <a:rPr kumimoji="1" lang="ko-KR" altLang="en-US" sz="1200" dirty="0">
                    <a:ln w="12700">
                      <a:solidFill>
                        <a:schemeClr val="tx1">
                          <a:alpha val="5000"/>
                        </a:schemeClr>
                      </a:solidFill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시월구일1" panose="02020600000000000000" pitchFamily="18" charset="-127"/>
                    <a:ea typeface="a시월구일1" panose="02020600000000000000" pitchFamily="18" charset="-127"/>
                    <a:cs typeface="Pretendard" panose="02000503000000020004" pitchFamily="2" charset="-127"/>
                  </a:rPr>
                  <a:t>기상청</a:t>
                </a:r>
                <a:endParaRPr kumimoji="1" lang="en-US" altLang="ko-KR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endParaRPr>
              </a:p>
            </p:txBody>
          </p:sp>
        </p:grpSp>
      </p:grp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6D3C7D1E-A88B-4F02-B26B-04415A9F838A}"/>
              </a:ext>
            </a:extLst>
          </p:cNvPr>
          <p:cNvGrpSpPr/>
          <p:nvPr/>
        </p:nvGrpSpPr>
        <p:grpSpPr>
          <a:xfrm>
            <a:off x="4350803" y="1502434"/>
            <a:ext cx="3490393" cy="4329520"/>
            <a:chOff x="4350803" y="1502434"/>
            <a:chExt cx="3490393" cy="4329520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A902EC67-93A6-494D-9B6C-AC615D45885F}"/>
                </a:ext>
              </a:extLst>
            </p:cNvPr>
            <p:cNvSpPr/>
            <p:nvPr/>
          </p:nvSpPr>
          <p:spPr>
            <a:xfrm>
              <a:off x="4350803" y="1502434"/>
              <a:ext cx="3490393" cy="432952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21" name="그룹 20">
              <a:extLst>
                <a:ext uri="{FF2B5EF4-FFF2-40B4-BE49-F238E27FC236}">
                  <a16:creationId xmlns:a16="http://schemas.microsoft.com/office/drawing/2014/main" id="{86318965-ADD3-46A5-A0F7-7C713037C520}"/>
                </a:ext>
              </a:extLst>
            </p:cNvPr>
            <p:cNvGrpSpPr/>
            <p:nvPr/>
          </p:nvGrpSpPr>
          <p:grpSpPr>
            <a:xfrm>
              <a:off x="5766582" y="1680295"/>
              <a:ext cx="658835" cy="658835"/>
              <a:chOff x="5766582" y="1394545"/>
              <a:chExt cx="658835" cy="658835"/>
            </a:xfrm>
          </p:grpSpPr>
          <p:sp>
            <p:nvSpPr>
              <p:cNvPr id="17" name="타원 16">
                <a:extLst>
                  <a:ext uri="{FF2B5EF4-FFF2-40B4-BE49-F238E27FC236}">
                    <a16:creationId xmlns:a16="http://schemas.microsoft.com/office/drawing/2014/main" id="{617C768B-BBAE-4CCA-B025-607C49C6D151}"/>
                  </a:ext>
                </a:extLst>
              </p:cNvPr>
              <p:cNvSpPr/>
              <p:nvPr/>
            </p:nvSpPr>
            <p:spPr>
              <a:xfrm>
                <a:off x="5766582" y="1394545"/>
                <a:ext cx="658835" cy="658835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bg2">
                    <a:lumMod val="90000"/>
                  </a:schemeClr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11" name="그래픽 10" descr="의료 단색으로 채워진">
                <a:extLst>
                  <a:ext uri="{FF2B5EF4-FFF2-40B4-BE49-F238E27FC236}">
                    <a16:creationId xmlns:a16="http://schemas.microsoft.com/office/drawing/2014/main" id="{8BD9E5ED-E627-41FC-A6B4-1705571E7F0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807836" y="1435799"/>
                <a:ext cx="576326" cy="576326"/>
              </a:xfrm>
              <a:prstGeom prst="rect">
                <a:avLst/>
              </a:prstGeom>
            </p:spPr>
          </p:pic>
        </p:grp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1118D9D6-AFB9-4481-A156-7B850AD882DF}"/>
                </a:ext>
              </a:extLst>
            </p:cNvPr>
            <p:cNvSpPr txBox="1"/>
            <p:nvPr/>
          </p:nvSpPr>
          <p:spPr>
            <a:xfrm>
              <a:off x="5429150" y="2409415"/>
              <a:ext cx="1333698" cy="40780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kumimoji="1" lang="ko-KR" altLang="en-US" sz="20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rPr>
                <a:t>보건 데이터</a:t>
              </a:r>
              <a:endParaRPr kumimoji="1" lang="en-US" altLang="ko-KR" sz="20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53EC3AE-1D88-41FA-968E-3D569109B3E4}"/>
                </a:ext>
              </a:extLst>
            </p:cNvPr>
            <p:cNvSpPr txBox="1"/>
            <p:nvPr/>
          </p:nvSpPr>
          <p:spPr>
            <a:xfrm>
              <a:off x="4390408" y="2930022"/>
              <a:ext cx="3411183" cy="695575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algn="ctr" latinLnBrk="0">
                <a:lnSpc>
                  <a:spcPct val="150000"/>
                </a:lnSpc>
              </a:pPr>
              <a:r>
                <a:rPr kumimoji="1" lang="ko-KR" altLang="en-US" sz="16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미세먼지 노출과 관련된</a:t>
              </a:r>
              <a:endParaRPr kumimoji="1" lang="en-US" altLang="ko-KR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  <a:p>
              <a:pPr algn="ctr" latinLnBrk="0">
                <a:lnSpc>
                  <a:spcPct val="150000"/>
                </a:lnSpc>
              </a:pPr>
              <a:r>
                <a:rPr kumimoji="1" lang="ko-KR" altLang="en-US" sz="16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호흡기 질환 발생 현황 분석</a:t>
              </a:r>
              <a:endParaRPr kumimoji="1" lang="en-US" altLang="ko-KR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endParaRPr>
            </a:p>
          </p:txBody>
        </p:sp>
        <p:cxnSp>
          <p:nvCxnSpPr>
            <p:cNvPr id="50" name="직선 연결선 49">
              <a:extLst>
                <a:ext uri="{FF2B5EF4-FFF2-40B4-BE49-F238E27FC236}">
                  <a16:creationId xmlns:a16="http://schemas.microsoft.com/office/drawing/2014/main" id="{115D9892-40E9-41B6-9C10-ED0A52A1905E}"/>
                </a:ext>
              </a:extLst>
            </p:cNvPr>
            <p:cNvCxnSpPr>
              <a:cxnSpLocks/>
            </p:cNvCxnSpPr>
            <p:nvPr/>
          </p:nvCxnSpPr>
          <p:spPr>
            <a:xfrm>
              <a:off x="5241924" y="3752850"/>
              <a:ext cx="1708150" cy="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4" name="그룹 83">
              <a:extLst>
                <a:ext uri="{FF2B5EF4-FFF2-40B4-BE49-F238E27FC236}">
                  <a16:creationId xmlns:a16="http://schemas.microsoft.com/office/drawing/2014/main" id="{770B0CEC-1EA2-444A-8474-6B39D8BF24AD}"/>
                </a:ext>
              </a:extLst>
            </p:cNvPr>
            <p:cNvGrpSpPr/>
            <p:nvPr/>
          </p:nvGrpSpPr>
          <p:grpSpPr>
            <a:xfrm>
              <a:off x="5063351" y="4570412"/>
              <a:ext cx="2065296" cy="529499"/>
              <a:chOff x="5063351" y="4567844"/>
              <a:chExt cx="2065296" cy="529499"/>
            </a:xfrm>
          </p:grpSpPr>
          <p:sp>
            <p:nvSpPr>
              <p:cNvPr id="52" name="사각형: 둥근 모서리 51">
                <a:extLst>
                  <a:ext uri="{FF2B5EF4-FFF2-40B4-BE49-F238E27FC236}">
                    <a16:creationId xmlns:a16="http://schemas.microsoft.com/office/drawing/2014/main" id="{C2A5B5EF-8D38-4E79-ABFB-3B6A1CF937DA}"/>
                  </a:ext>
                </a:extLst>
              </p:cNvPr>
              <p:cNvSpPr/>
              <p:nvPr/>
            </p:nvSpPr>
            <p:spPr>
              <a:xfrm>
                <a:off x="5063351" y="4567844"/>
                <a:ext cx="2065296" cy="529499"/>
              </a:xfrm>
              <a:prstGeom prst="roundRect">
                <a:avLst>
                  <a:gd name="adj" fmla="val 0"/>
                </a:avLst>
              </a:prstGeom>
              <a:solidFill>
                <a:srgbClr val="F9FBFC"/>
              </a:solidFill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</a:endParaRP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B2D6F064-1D73-4A02-BB9B-87E0F4E32912}"/>
                  </a:ext>
                </a:extLst>
              </p:cNvPr>
              <p:cNvSpPr txBox="1"/>
              <p:nvPr/>
            </p:nvSpPr>
            <p:spPr>
              <a:xfrm>
                <a:off x="5063351" y="4740260"/>
                <a:ext cx="2065296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algn="ctr" latinLnBrk="0"/>
                <a:r>
                  <a:rPr kumimoji="1" lang="ko-KR" altLang="en-US" sz="1200" dirty="0">
                    <a:ln w="12700">
                      <a:solidFill>
                        <a:schemeClr val="tx1">
                          <a:alpha val="500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a시월구일1" panose="02020600000000000000" pitchFamily="18" charset="-127"/>
                    <a:ea typeface="a시월구일1" panose="02020600000000000000" pitchFamily="18" charset="-127"/>
                    <a:cs typeface="Pretendard" panose="02000503000000020004" pitchFamily="2" charset="-127"/>
                  </a:rPr>
                  <a:t>자치구별 환자 발생 데이터</a:t>
                </a:r>
                <a:endParaRPr kumimoji="1" lang="en-US" altLang="ko-KR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endParaRPr>
              </a:p>
            </p:txBody>
          </p:sp>
        </p:grpSp>
        <p:grpSp>
          <p:nvGrpSpPr>
            <p:cNvPr id="85" name="그룹 84">
              <a:extLst>
                <a:ext uri="{FF2B5EF4-FFF2-40B4-BE49-F238E27FC236}">
                  <a16:creationId xmlns:a16="http://schemas.microsoft.com/office/drawing/2014/main" id="{D855A581-B546-4DA2-82FD-D3A4E9E30842}"/>
                </a:ext>
              </a:extLst>
            </p:cNvPr>
            <p:cNvGrpSpPr/>
            <p:nvPr/>
          </p:nvGrpSpPr>
          <p:grpSpPr>
            <a:xfrm>
              <a:off x="5063351" y="3870059"/>
              <a:ext cx="2065296" cy="529499"/>
              <a:chOff x="5063351" y="3867491"/>
              <a:chExt cx="2065296" cy="529499"/>
            </a:xfrm>
          </p:grpSpPr>
          <p:sp>
            <p:nvSpPr>
              <p:cNvPr id="55" name="사각형: 둥근 모서리 54">
                <a:extLst>
                  <a:ext uri="{FF2B5EF4-FFF2-40B4-BE49-F238E27FC236}">
                    <a16:creationId xmlns:a16="http://schemas.microsoft.com/office/drawing/2014/main" id="{1609F24E-4CCA-4698-8360-63615A1A8DF4}"/>
                  </a:ext>
                </a:extLst>
              </p:cNvPr>
              <p:cNvSpPr/>
              <p:nvPr/>
            </p:nvSpPr>
            <p:spPr>
              <a:xfrm>
                <a:off x="5063351" y="3867491"/>
                <a:ext cx="2065296" cy="529499"/>
              </a:xfrm>
              <a:prstGeom prst="roundRect">
                <a:avLst>
                  <a:gd name="adj" fmla="val 0"/>
                </a:avLst>
              </a:prstGeom>
              <a:solidFill>
                <a:srgbClr val="F9FBFC"/>
              </a:solidFill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ko-KR" altLang="en-US" sz="1200" dirty="0">
                  <a:solidFill>
                    <a:schemeClr val="tx1"/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</a:endParaRP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612FBB4C-21A3-4ABE-97A2-CAD5234AB9A4}"/>
                  </a:ext>
                </a:extLst>
              </p:cNvPr>
              <p:cNvSpPr txBox="1"/>
              <p:nvPr/>
            </p:nvSpPr>
            <p:spPr>
              <a:xfrm>
                <a:off x="5063351" y="4039907"/>
                <a:ext cx="2065296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algn="ctr" latinLnBrk="0"/>
                <a:r>
                  <a:rPr kumimoji="1" lang="ko-KR" altLang="en-US" sz="1200" dirty="0">
                    <a:ln w="12700">
                      <a:solidFill>
                        <a:schemeClr val="tx1">
                          <a:alpha val="500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a시월구일1" panose="02020600000000000000" pitchFamily="18" charset="-127"/>
                    <a:ea typeface="a시월구일1" panose="02020600000000000000" pitchFamily="18" charset="-127"/>
                    <a:cs typeface="Pretendard" panose="02000503000000020004" pitchFamily="2" charset="-127"/>
                  </a:rPr>
                  <a:t>호흡기 질환 진료 건수 </a:t>
                </a:r>
                <a:r>
                  <a:rPr kumimoji="1" lang="en-US" altLang="ko-KR" sz="1200" dirty="0">
                    <a:ln w="12700">
                      <a:solidFill>
                        <a:schemeClr val="tx1">
                          <a:alpha val="500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a시월구일1" panose="02020600000000000000" pitchFamily="18" charset="-127"/>
                    <a:ea typeface="a시월구일1" panose="02020600000000000000" pitchFamily="18" charset="-127"/>
                    <a:cs typeface="Pretendard" panose="02000503000000020004" pitchFamily="2" charset="-127"/>
                  </a:rPr>
                  <a:t>(</a:t>
                </a:r>
                <a:r>
                  <a:rPr kumimoji="1" lang="ko-KR" altLang="en-US" sz="1200" dirty="0">
                    <a:ln w="12700">
                      <a:solidFill>
                        <a:schemeClr val="tx1">
                          <a:alpha val="500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a시월구일1" panose="02020600000000000000" pitchFamily="18" charset="-127"/>
                    <a:ea typeface="a시월구일1" panose="02020600000000000000" pitchFamily="18" charset="-127"/>
                    <a:cs typeface="Pretendard" panose="02000503000000020004" pitchFamily="2" charset="-127"/>
                  </a:rPr>
                  <a:t>천식</a:t>
                </a:r>
                <a:r>
                  <a:rPr kumimoji="1" lang="en-US" altLang="ko-KR" sz="1200" dirty="0">
                    <a:ln w="12700">
                      <a:solidFill>
                        <a:schemeClr val="tx1">
                          <a:alpha val="500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a시월구일1" panose="02020600000000000000" pitchFamily="18" charset="-127"/>
                    <a:ea typeface="a시월구일1" panose="02020600000000000000" pitchFamily="18" charset="-127"/>
                    <a:cs typeface="Pretendard" panose="02000503000000020004" pitchFamily="2" charset="-127"/>
                  </a:rPr>
                  <a:t>)</a:t>
                </a:r>
                <a:endParaRPr kumimoji="1" lang="en-US" altLang="ko-KR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endParaRPr>
              </a:p>
            </p:txBody>
          </p:sp>
        </p:grpSp>
        <p:cxnSp>
          <p:nvCxnSpPr>
            <p:cNvPr id="65" name="직선 연결선 64">
              <a:extLst>
                <a:ext uri="{FF2B5EF4-FFF2-40B4-BE49-F238E27FC236}">
                  <a16:creationId xmlns:a16="http://schemas.microsoft.com/office/drawing/2014/main" id="{00CE5C28-BA4E-4E17-BEE7-6AAD68E2613E}"/>
                </a:ext>
              </a:extLst>
            </p:cNvPr>
            <p:cNvCxnSpPr>
              <a:cxnSpLocks/>
            </p:cNvCxnSpPr>
            <p:nvPr/>
          </p:nvCxnSpPr>
          <p:spPr>
            <a:xfrm>
              <a:off x="4705349" y="5238255"/>
              <a:ext cx="2781300" cy="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0DCB6ACC-29AF-4AE2-9595-AB5D7862FF69}"/>
                </a:ext>
              </a:extLst>
            </p:cNvPr>
            <p:cNvGrpSpPr/>
            <p:nvPr/>
          </p:nvGrpSpPr>
          <p:grpSpPr>
            <a:xfrm>
              <a:off x="5246923" y="5372942"/>
              <a:ext cx="1698152" cy="252000"/>
              <a:chOff x="4686010" y="5087192"/>
              <a:chExt cx="1698152" cy="252000"/>
            </a:xfrm>
          </p:grpSpPr>
          <p:pic>
            <p:nvPicPr>
              <p:cNvPr id="67" name="그림 66">
                <a:extLst>
                  <a:ext uri="{FF2B5EF4-FFF2-40B4-BE49-F238E27FC236}">
                    <a16:creationId xmlns:a16="http://schemas.microsoft.com/office/drawing/2014/main" id="{DBC4412F-DD4D-4CDC-B7DD-CD918E82E2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686010" y="5087192"/>
                <a:ext cx="252000" cy="252000"/>
              </a:xfrm>
              <a:prstGeom prst="rect">
                <a:avLst/>
              </a:prstGeom>
            </p:spPr>
          </p:pic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3CB21E02-80E2-4188-9951-09BA1186F761}"/>
                  </a:ext>
                </a:extLst>
              </p:cNvPr>
              <p:cNvSpPr txBox="1"/>
              <p:nvPr/>
            </p:nvSpPr>
            <p:spPr>
              <a:xfrm>
                <a:off x="4998081" y="5090850"/>
                <a:ext cx="1386081" cy="244682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atinLnBrk="0">
                  <a:lnSpc>
                    <a:spcPct val="150000"/>
                  </a:lnSpc>
                </a:pPr>
                <a:r>
                  <a:rPr kumimoji="1" lang="ko-KR" altLang="en-US" sz="1200" dirty="0">
                    <a:ln w="12700">
                      <a:solidFill>
                        <a:schemeClr val="tx1">
                          <a:alpha val="5000"/>
                        </a:schemeClr>
                      </a:solidFill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시월구일1" panose="02020600000000000000" pitchFamily="18" charset="-127"/>
                    <a:ea typeface="a시월구일1" panose="02020600000000000000" pitchFamily="18" charset="-127"/>
                    <a:cs typeface="Pretendard" panose="02000503000000020004" pitchFamily="2" charset="-127"/>
                  </a:rPr>
                  <a:t>국민건강보험공단</a:t>
                </a:r>
                <a:endParaRPr kumimoji="1" lang="en-US" altLang="ko-KR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endParaRPr>
              </a:p>
            </p:txBody>
          </p:sp>
        </p:grpSp>
      </p:grpSp>
      <p:grpSp>
        <p:nvGrpSpPr>
          <p:cNvPr id="94" name="그룹 93">
            <a:extLst>
              <a:ext uri="{FF2B5EF4-FFF2-40B4-BE49-F238E27FC236}">
                <a16:creationId xmlns:a16="http://schemas.microsoft.com/office/drawing/2014/main" id="{4ACBCBD0-A002-4A50-B271-257B0B414525}"/>
              </a:ext>
            </a:extLst>
          </p:cNvPr>
          <p:cNvGrpSpPr/>
          <p:nvPr/>
        </p:nvGrpSpPr>
        <p:grpSpPr>
          <a:xfrm>
            <a:off x="8321612" y="1502434"/>
            <a:ext cx="3490393" cy="4329520"/>
            <a:chOff x="8321612" y="1502434"/>
            <a:chExt cx="3490393" cy="4329520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7F67FE9C-FE6D-4902-BDE1-802A4A96B5E5}"/>
                </a:ext>
              </a:extLst>
            </p:cNvPr>
            <p:cNvSpPr/>
            <p:nvPr/>
          </p:nvSpPr>
          <p:spPr>
            <a:xfrm>
              <a:off x="8321612" y="1502434"/>
              <a:ext cx="3490393" cy="432952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22" name="그룹 21">
              <a:extLst>
                <a:ext uri="{FF2B5EF4-FFF2-40B4-BE49-F238E27FC236}">
                  <a16:creationId xmlns:a16="http://schemas.microsoft.com/office/drawing/2014/main" id="{D8A77FCC-D1EC-4AAD-A34C-36E56C098D01}"/>
                </a:ext>
              </a:extLst>
            </p:cNvPr>
            <p:cNvGrpSpPr/>
            <p:nvPr/>
          </p:nvGrpSpPr>
          <p:grpSpPr>
            <a:xfrm>
              <a:off x="9737391" y="1680295"/>
              <a:ext cx="658835" cy="658835"/>
              <a:chOff x="9737390" y="1394545"/>
              <a:chExt cx="658835" cy="658835"/>
            </a:xfrm>
          </p:grpSpPr>
          <p:sp>
            <p:nvSpPr>
              <p:cNvPr id="18" name="타원 17">
                <a:extLst>
                  <a:ext uri="{FF2B5EF4-FFF2-40B4-BE49-F238E27FC236}">
                    <a16:creationId xmlns:a16="http://schemas.microsoft.com/office/drawing/2014/main" id="{EFAE503F-D568-4440-B9BE-E9432A1577B2}"/>
                  </a:ext>
                </a:extLst>
              </p:cNvPr>
              <p:cNvSpPr/>
              <p:nvPr/>
            </p:nvSpPr>
            <p:spPr>
              <a:xfrm>
                <a:off x="9737390" y="1394545"/>
                <a:ext cx="658835" cy="658835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bg2">
                    <a:lumMod val="90000"/>
                  </a:schemeClr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12" name="그래픽 11" descr="사용자 단색으로 채워진">
                <a:extLst>
                  <a:ext uri="{FF2B5EF4-FFF2-40B4-BE49-F238E27FC236}">
                    <a16:creationId xmlns:a16="http://schemas.microsoft.com/office/drawing/2014/main" id="{88BF1F0E-DAA6-4143-8C27-E5C7D83309E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9814807" y="1471962"/>
                <a:ext cx="504000" cy="504000"/>
              </a:xfrm>
              <a:prstGeom prst="rect">
                <a:avLst/>
              </a:prstGeom>
            </p:spPr>
          </p:pic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3F332160-7E0B-4D55-92A4-8AD7960461FC}"/>
                </a:ext>
              </a:extLst>
            </p:cNvPr>
            <p:cNvSpPr txBox="1"/>
            <p:nvPr/>
          </p:nvSpPr>
          <p:spPr>
            <a:xfrm>
              <a:off x="9111419" y="2409415"/>
              <a:ext cx="1910779" cy="40780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kumimoji="1" lang="ko-KR" altLang="en-US" sz="20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rPr>
                <a:t>인구 </a:t>
              </a:r>
              <a:r>
                <a:rPr kumimoji="1" lang="ko-KR" altLang="en-US" sz="200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rPr>
                <a:t>구조 데이터</a:t>
              </a:r>
              <a:endParaRPr kumimoji="1" lang="en-US" altLang="ko-KR" sz="20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endParaRP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BCE8D2F5-BD9C-4B85-8984-52FA4FF20F58}"/>
                </a:ext>
              </a:extLst>
            </p:cNvPr>
            <p:cNvSpPr txBox="1"/>
            <p:nvPr/>
          </p:nvSpPr>
          <p:spPr>
            <a:xfrm>
              <a:off x="8361217" y="2930022"/>
              <a:ext cx="3411183" cy="695575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algn="ctr" latinLnBrk="0">
                <a:lnSpc>
                  <a:spcPct val="150000"/>
                </a:lnSpc>
              </a:pPr>
              <a:r>
                <a:rPr kumimoji="1" lang="ko-KR" altLang="en-US" sz="16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자치구별 보건 취약 특성 분석을 위한 인구 구조 데이터</a:t>
              </a:r>
              <a:endParaRPr kumimoji="1" lang="en-US" altLang="ko-KR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endParaRPr>
            </a:p>
          </p:txBody>
        </p:sp>
        <p:cxnSp>
          <p:nvCxnSpPr>
            <p:cNvPr id="72" name="직선 연결선 71">
              <a:extLst>
                <a:ext uri="{FF2B5EF4-FFF2-40B4-BE49-F238E27FC236}">
                  <a16:creationId xmlns:a16="http://schemas.microsoft.com/office/drawing/2014/main" id="{843A2E9B-6713-4380-A476-40A97AF7264A}"/>
                </a:ext>
              </a:extLst>
            </p:cNvPr>
            <p:cNvCxnSpPr>
              <a:cxnSpLocks/>
            </p:cNvCxnSpPr>
            <p:nvPr/>
          </p:nvCxnSpPr>
          <p:spPr>
            <a:xfrm>
              <a:off x="9212733" y="3752850"/>
              <a:ext cx="1708150" cy="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직선 연결선 78">
              <a:extLst>
                <a:ext uri="{FF2B5EF4-FFF2-40B4-BE49-F238E27FC236}">
                  <a16:creationId xmlns:a16="http://schemas.microsoft.com/office/drawing/2014/main" id="{D3E92BC4-5C46-4068-A8B4-A22DFCEFE429}"/>
                </a:ext>
              </a:extLst>
            </p:cNvPr>
            <p:cNvCxnSpPr>
              <a:cxnSpLocks/>
            </p:cNvCxnSpPr>
            <p:nvPr/>
          </p:nvCxnSpPr>
          <p:spPr>
            <a:xfrm>
              <a:off x="8676158" y="5238255"/>
              <a:ext cx="2781300" cy="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0" name="그룹 79">
              <a:extLst>
                <a:ext uri="{FF2B5EF4-FFF2-40B4-BE49-F238E27FC236}">
                  <a16:creationId xmlns:a16="http://schemas.microsoft.com/office/drawing/2014/main" id="{6A5C05D5-09F8-4296-8B45-9751693412C8}"/>
                </a:ext>
              </a:extLst>
            </p:cNvPr>
            <p:cNvGrpSpPr/>
            <p:nvPr/>
          </p:nvGrpSpPr>
          <p:grpSpPr>
            <a:xfrm>
              <a:off x="9125945" y="5372942"/>
              <a:ext cx="1881726" cy="252000"/>
              <a:chOff x="4686010" y="5087192"/>
              <a:chExt cx="1881726" cy="252000"/>
            </a:xfrm>
          </p:grpSpPr>
          <p:pic>
            <p:nvPicPr>
              <p:cNvPr id="81" name="그림 80">
                <a:extLst>
                  <a:ext uri="{FF2B5EF4-FFF2-40B4-BE49-F238E27FC236}">
                    <a16:creationId xmlns:a16="http://schemas.microsoft.com/office/drawing/2014/main" id="{5B248563-0347-4998-9DD1-0653A96EE1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686010" y="5087192"/>
                <a:ext cx="252000" cy="252000"/>
              </a:xfrm>
              <a:prstGeom prst="rect">
                <a:avLst/>
              </a:prstGeom>
            </p:spPr>
          </p:pic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2A952609-3F5A-4B50-B436-AA175B218C01}"/>
                  </a:ext>
                </a:extLst>
              </p:cNvPr>
              <p:cNvSpPr txBox="1"/>
              <p:nvPr/>
            </p:nvSpPr>
            <p:spPr>
              <a:xfrm>
                <a:off x="4998081" y="5090850"/>
                <a:ext cx="1569655" cy="244682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atinLnBrk="0">
                  <a:lnSpc>
                    <a:spcPct val="150000"/>
                  </a:lnSpc>
                </a:pPr>
                <a:r>
                  <a:rPr kumimoji="1" lang="ko-KR" altLang="en-US" sz="1200">
                    <a:ln w="12700">
                      <a:solidFill>
                        <a:schemeClr val="tx1">
                          <a:alpha val="5000"/>
                        </a:schemeClr>
                      </a:solidFill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시월구일1" panose="02020600000000000000" pitchFamily="18" charset="-127"/>
                    <a:ea typeface="a시월구일1" panose="02020600000000000000" pitchFamily="18" charset="-127"/>
                    <a:cs typeface="Pretendard" panose="02000503000000020004" pitchFamily="2" charset="-127"/>
                  </a:rPr>
                  <a:t>서울 열린 데이터 광장</a:t>
                </a:r>
                <a:endParaRPr kumimoji="1" lang="en-US" altLang="ko-KR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endParaRPr>
              </a:p>
            </p:txBody>
          </p:sp>
        </p:grpSp>
        <p:grpSp>
          <p:nvGrpSpPr>
            <p:cNvPr id="86" name="그룹 85">
              <a:extLst>
                <a:ext uri="{FF2B5EF4-FFF2-40B4-BE49-F238E27FC236}">
                  <a16:creationId xmlns:a16="http://schemas.microsoft.com/office/drawing/2014/main" id="{1A5D042D-8455-4895-A2FB-E5431507C344}"/>
                </a:ext>
              </a:extLst>
            </p:cNvPr>
            <p:cNvGrpSpPr/>
            <p:nvPr/>
          </p:nvGrpSpPr>
          <p:grpSpPr>
            <a:xfrm>
              <a:off x="9034160" y="4570412"/>
              <a:ext cx="2065296" cy="529499"/>
              <a:chOff x="5063351" y="4567844"/>
              <a:chExt cx="2065296" cy="529499"/>
            </a:xfrm>
          </p:grpSpPr>
          <p:sp>
            <p:nvSpPr>
              <p:cNvPr id="87" name="사각형: 둥근 모서리 86">
                <a:extLst>
                  <a:ext uri="{FF2B5EF4-FFF2-40B4-BE49-F238E27FC236}">
                    <a16:creationId xmlns:a16="http://schemas.microsoft.com/office/drawing/2014/main" id="{58618BF7-920F-41E4-BE20-1ED7A3D8086E}"/>
                  </a:ext>
                </a:extLst>
              </p:cNvPr>
              <p:cNvSpPr/>
              <p:nvPr/>
            </p:nvSpPr>
            <p:spPr>
              <a:xfrm>
                <a:off x="5063351" y="4567844"/>
                <a:ext cx="2065296" cy="529499"/>
              </a:xfrm>
              <a:prstGeom prst="roundRect">
                <a:avLst>
                  <a:gd name="adj" fmla="val 0"/>
                </a:avLst>
              </a:prstGeom>
              <a:solidFill>
                <a:srgbClr val="F9FBFC"/>
              </a:solidFill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</a:endParaRPr>
              </a:p>
            </p:txBody>
          </p: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78157CB2-1111-4B7A-9A54-8FED42145CF2}"/>
                  </a:ext>
                </a:extLst>
              </p:cNvPr>
              <p:cNvSpPr txBox="1"/>
              <p:nvPr/>
            </p:nvSpPr>
            <p:spPr>
              <a:xfrm>
                <a:off x="5063351" y="4740260"/>
                <a:ext cx="2065296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algn="ctr" latinLnBrk="0"/>
                <a:r>
                  <a:rPr kumimoji="1" lang="ko-KR" altLang="en-US" sz="1200" dirty="0">
                    <a:ln w="12700">
                      <a:solidFill>
                        <a:schemeClr val="tx1">
                          <a:alpha val="500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a시월구일1" panose="02020600000000000000" pitchFamily="18" charset="-127"/>
                    <a:ea typeface="a시월구일1" panose="02020600000000000000" pitchFamily="18" charset="-127"/>
                    <a:cs typeface="Pretendard" panose="02000503000000020004" pitchFamily="2" charset="-127"/>
                  </a:rPr>
                  <a:t>인구 구조 데이터</a:t>
                </a:r>
                <a:endParaRPr kumimoji="1" lang="en-US" altLang="ko-KR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endParaRPr>
              </a:p>
            </p:txBody>
          </p:sp>
        </p:grpSp>
        <p:grpSp>
          <p:nvGrpSpPr>
            <p:cNvPr id="89" name="그룹 88">
              <a:extLst>
                <a:ext uri="{FF2B5EF4-FFF2-40B4-BE49-F238E27FC236}">
                  <a16:creationId xmlns:a16="http://schemas.microsoft.com/office/drawing/2014/main" id="{674FA21D-2811-4D21-916B-53721781781F}"/>
                </a:ext>
              </a:extLst>
            </p:cNvPr>
            <p:cNvGrpSpPr/>
            <p:nvPr/>
          </p:nvGrpSpPr>
          <p:grpSpPr>
            <a:xfrm>
              <a:off x="9034160" y="3870059"/>
              <a:ext cx="2065296" cy="529499"/>
              <a:chOff x="5063351" y="3867491"/>
              <a:chExt cx="2065296" cy="529499"/>
            </a:xfrm>
          </p:grpSpPr>
          <p:sp>
            <p:nvSpPr>
              <p:cNvPr id="90" name="사각형: 둥근 모서리 89">
                <a:extLst>
                  <a:ext uri="{FF2B5EF4-FFF2-40B4-BE49-F238E27FC236}">
                    <a16:creationId xmlns:a16="http://schemas.microsoft.com/office/drawing/2014/main" id="{D121FE2F-5CD3-4A80-B82D-5937A5C262BB}"/>
                  </a:ext>
                </a:extLst>
              </p:cNvPr>
              <p:cNvSpPr/>
              <p:nvPr/>
            </p:nvSpPr>
            <p:spPr>
              <a:xfrm>
                <a:off x="5063351" y="3867491"/>
                <a:ext cx="2065296" cy="529499"/>
              </a:xfrm>
              <a:prstGeom prst="roundRect">
                <a:avLst>
                  <a:gd name="adj" fmla="val 0"/>
                </a:avLst>
              </a:prstGeom>
              <a:solidFill>
                <a:srgbClr val="F9FBFC"/>
              </a:solidFill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ko-KR" altLang="en-US" sz="1200" dirty="0">
                  <a:solidFill>
                    <a:schemeClr val="tx1"/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</a:endParaRPr>
              </a:p>
            </p:txBody>
          </p:sp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0E0423E7-F5E9-40C7-AE15-80F8E9BC7046}"/>
                  </a:ext>
                </a:extLst>
              </p:cNvPr>
              <p:cNvSpPr txBox="1"/>
              <p:nvPr/>
            </p:nvSpPr>
            <p:spPr>
              <a:xfrm>
                <a:off x="5063351" y="4039907"/>
                <a:ext cx="2065296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algn="ctr" latinLnBrk="0"/>
                <a:r>
                  <a:rPr kumimoji="1" lang="ko-KR" altLang="en-US" sz="1200" dirty="0">
                    <a:ln w="12700">
                      <a:solidFill>
                        <a:schemeClr val="tx1">
                          <a:alpha val="500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a시월구일1" panose="02020600000000000000" pitchFamily="18" charset="-127"/>
                    <a:ea typeface="a시월구일1" panose="02020600000000000000" pitchFamily="18" charset="-127"/>
                    <a:cs typeface="Pretendard" panose="02000503000000020004" pitchFamily="2" charset="-127"/>
                  </a:rPr>
                  <a:t>자치구별 인구 규모</a:t>
                </a:r>
                <a:endParaRPr kumimoji="1" lang="en-US" altLang="ko-KR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endParaRPr>
              </a:p>
            </p:txBody>
          </p:sp>
        </p:grpSp>
      </p:grpSp>
      <p:grpSp>
        <p:nvGrpSpPr>
          <p:cNvPr id="112" name="그룹 111">
            <a:extLst>
              <a:ext uri="{FF2B5EF4-FFF2-40B4-BE49-F238E27FC236}">
                <a16:creationId xmlns:a16="http://schemas.microsoft.com/office/drawing/2014/main" id="{96D0A2DB-6029-4101-818C-468EE66A63FE}"/>
              </a:ext>
            </a:extLst>
          </p:cNvPr>
          <p:cNvGrpSpPr/>
          <p:nvPr/>
        </p:nvGrpSpPr>
        <p:grpSpPr>
          <a:xfrm>
            <a:off x="379994" y="6038848"/>
            <a:ext cx="11392406" cy="624539"/>
            <a:chOff x="379994" y="6038848"/>
            <a:chExt cx="11392406" cy="624539"/>
          </a:xfrm>
        </p:grpSpPr>
        <p:sp>
          <p:nvSpPr>
            <p:cNvPr id="92" name="사각형: 둥근 모서리 91">
              <a:extLst>
                <a:ext uri="{FF2B5EF4-FFF2-40B4-BE49-F238E27FC236}">
                  <a16:creationId xmlns:a16="http://schemas.microsoft.com/office/drawing/2014/main" id="{BD5F7037-226E-48ED-A5CA-CD5C50D9FCB9}"/>
                </a:ext>
              </a:extLst>
            </p:cNvPr>
            <p:cNvSpPr/>
            <p:nvPr/>
          </p:nvSpPr>
          <p:spPr>
            <a:xfrm>
              <a:off x="379994" y="6038848"/>
              <a:ext cx="11392406" cy="62453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105" name="직선 연결선 104">
              <a:extLst>
                <a:ext uri="{FF2B5EF4-FFF2-40B4-BE49-F238E27FC236}">
                  <a16:creationId xmlns:a16="http://schemas.microsoft.com/office/drawing/2014/main" id="{D06AA5B4-D6C5-479F-9364-976DBFE015D8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6170142"/>
              <a:ext cx="0" cy="361950"/>
            </a:xfrm>
            <a:prstGeom prst="line">
              <a:avLst/>
            </a:prstGeom>
            <a:ln w="28575"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C5235B4D-C261-4ADB-A13C-22965F1A864D}"/>
                </a:ext>
              </a:extLst>
            </p:cNvPr>
            <p:cNvSpPr txBox="1"/>
            <p:nvPr/>
          </p:nvSpPr>
          <p:spPr>
            <a:xfrm>
              <a:off x="2564127" y="6228006"/>
              <a:ext cx="3007959" cy="24622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algn="ctr" latinLnBrk="0"/>
              <a:r>
                <a:rPr kumimoji="1" lang="ko-KR" altLang="en-US" sz="16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분석 단위 </a:t>
              </a:r>
              <a:r>
                <a:rPr kumimoji="1" lang="en-US" altLang="ko-KR" sz="16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: </a:t>
              </a:r>
              <a:r>
                <a:rPr kumimoji="1" lang="ko-KR" altLang="en-US" sz="16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월별 데이터 </a:t>
              </a:r>
              <a:r>
                <a:rPr kumimoji="1" lang="en-US" altLang="ko-KR" sz="16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(Monthly)</a:t>
              </a:r>
              <a:endParaRPr kumimoji="1" lang="en-US" altLang="ko-KR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endParaRPr>
            </a:p>
          </p:txBody>
        </p:sp>
        <p:pic>
          <p:nvPicPr>
            <p:cNvPr id="108" name="그림 107">
              <a:extLst>
                <a:ext uri="{FF2B5EF4-FFF2-40B4-BE49-F238E27FC236}">
                  <a16:creationId xmlns:a16="http://schemas.microsoft.com/office/drawing/2014/main" id="{57773407-A1DF-49AF-99DA-55C1C91FF92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96072" y="6228006"/>
              <a:ext cx="246222" cy="246222"/>
            </a:xfrm>
            <a:prstGeom prst="rect">
              <a:avLst/>
            </a:prstGeom>
          </p:spPr>
        </p:pic>
        <p:pic>
          <p:nvPicPr>
            <p:cNvPr id="110" name="그래픽 109" descr="표식 단색으로 채워진">
              <a:extLst>
                <a:ext uri="{FF2B5EF4-FFF2-40B4-BE49-F238E27FC236}">
                  <a16:creationId xmlns:a16="http://schemas.microsoft.com/office/drawing/2014/main" id="{48446041-3AA6-4A9A-9698-C5DAFA614E7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6384162" y="6118965"/>
              <a:ext cx="464304" cy="464304"/>
            </a:xfrm>
            <a:prstGeom prst="rect">
              <a:avLst/>
            </a:prstGeom>
          </p:spPr>
        </p:pic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52131E1B-65C6-40B4-9123-D891712194B0}"/>
                </a:ext>
              </a:extLst>
            </p:cNvPr>
            <p:cNvSpPr txBox="1"/>
            <p:nvPr/>
          </p:nvSpPr>
          <p:spPr>
            <a:xfrm>
              <a:off x="6762848" y="6228007"/>
              <a:ext cx="3295552" cy="24622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algn="ctr" latinLnBrk="0"/>
              <a:r>
                <a:rPr kumimoji="1" lang="ko-KR" altLang="en-US" sz="16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분석 대상</a:t>
              </a:r>
              <a:r>
                <a:rPr kumimoji="1" lang="en-US" altLang="ko-KR" sz="16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: </a:t>
              </a:r>
              <a:r>
                <a:rPr kumimoji="1" lang="ko-KR" altLang="en-US" sz="16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서울시 </a:t>
              </a:r>
              <a:r>
                <a:rPr kumimoji="1" lang="en-US" altLang="ko-KR" sz="16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25</a:t>
              </a:r>
              <a:r>
                <a:rPr kumimoji="1" lang="ko-KR" altLang="en-US" sz="16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개 자치구 전체</a:t>
              </a:r>
              <a:endParaRPr kumimoji="1" lang="en-US" altLang="ko-KR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014401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FCA079C-1A6F-4284-A3C7-9BF9A2B90284}"/>
              </a:ext>
            </a:extLst>
          </p:cNvPr>
          <p:cNvSpPr txBox="1"/>
          <p:nvPr/>
        </p:nvSpPr>
        <p:spPr>
          <a:xfrm>
            <a:off x="516749" y="379988"/>
            <a:ext cx="3760645" cy="48936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5. </a:t>
            </a:r>
            <a:r>
              <a:rPr lang="ko-KR" altLang="en-US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데이터 처리 및 분석 방법</a:t>
            </a:r>
            <a:endParaRPr lang="en-US" altLang="ko-KR" sz="2400" dirty="0">
              <a:latin typeface="a시월구일3" panose="02020600000000000000" pitchFamily="18" charset="-127"/>
              <a:ea typeface="a시월구일3" panose="02020600000000000000" pitchFamily="18" charset="-127"/>
              <a:cs typeface="+mj-cs"/>
            </a:endParaRPr>
          </a:p>
        </p:txBody>
      </p:sp>
      <p:sp>
        <p:nvSpPr>
          <p:cNvPr id="25" name="화살표: 갈매기형 수장 24">
            <a:extLst>
              <a:ext uri="{FF2B5EF4-FFF2-40B4-BE49-F238E27FC236}">
                <a16:creationId xmlns:a16="http://schemas.microsoft.com/office/drawing/2014/main" id="{1AA9A76B-BBBF-456A-9B1D-79130F824594}"/>
              </a:ext>
            </a:extLst>
          </p:cNvPr>
          <p:cNvSpPr/>
          <p:nvPr/>
        </p:nvSpPr>
        <p:spPr>
          <a:xfrm>
            <a:off x="5911633" y="3459309"/>
            <a:ext cx="180975" cy="390525"/>
          </a:xfrm>
          <a:prstGeom prst="chevron">
            <a:avLst>
              <a:gd name="adj" fmla="val 93421"/>
            </a:avLst>
          </a:prstGeom>
          <a:solidFill>
            <a:schemeClr val="bg1">
              <a:lumMod val="75000"/>
            </a:schemeClr>
          </a:solidFill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6" name="화살표: 갈매기형 수장 25">
            <a:extLst>
              <a:ext uri="{FF2B5EF4-FFF2-40B4-BE49-F238E27FC236}">
                <a16:creationId xmlns:a16="http://schemas.microsoft.com/office/drawing/2014/main" id="{332EB7E0-4763-4B3F-96C8-5083F8B3A7D1}"/>
              </a:ext>
            </a:extLst>
          </p:cNvPr>
          <p:cNvSpPr/>
          <p:nvPr/>
        </p:nvSpPr>
        <p:spPr>
          <a:xfrm>
            <a:off x="2990054" y="3459309"/>
            <a:ext cx="180975" cy="390525"/>
          </a:xfrm>
          <a:prstGeom prst="chevron">
            <a:avLst>
              <a:gd name="adj" fmla="val 93421"/>
            </a:avLst>
          </a:prstGeom>
          <a:solidFill>
            <a:schemeClr val="bg1">
              <a:lumMod val="75000"/>
            </a:schemeClr>
          </a:solidFill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7" name="화살표: 갈매기형 수장 26">
            <a:extLst>
              <a:ext uri="{FF2B5EF4-FFF2-40B4-BE49-F238E27FC236}">
                <a16:creationId xmlns:a16="http://schemas.microsoft.com/office/drawing/2014/main" id="{0D49FD3E-A54A-4B82-8F7C-FF9C1F828B9E}"/>
              </a:ext>
            </a:extLst>
          </p:cNvPr>
          <p:cNvSpPr/>
          <p:nvPr/>
        </p:nvSpPr>
        <p:spPr>
          <a:xfrm>
            <a:off x="8833212" y="3459309"/>
            <a:ext cx="180975" cy="390525"/>
          </a:xfrm>
          <a:prstGeom prst="chevron">
            <a:avLst>
              <a:gd name="adj" fmla="val 93421"/>
            </a:avLst>
          </a:prstGeom>
          <a:solidFill>
            <a:schemeClr val="bg1">
              <a:lumMod val="75000"/>
            </a:schemeClr>
          </a:solidFill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pSp>
        <p:nvGrpSpPr>
          <p:cNvPr id="77" name="그룹 76">
            <a:extLst>
              <a:ext uri="{FF2B5EF4-FFF2-40B4-BE49-F238E27FC236}">
                <a16:creationId xmlns:a16="http://schemas.microsoft.com/office/drawing/2014/main" id="{828D542A-E76F-4F76-834B-8ADA20F4DAE6}"/>
              </a:ext>
            </a:extLst>
          </p:cNvPr>
          <p:cNvGrpSpPr/>
          <p:nvPr/>
        </p:nvGrpSpPr>
        <p:grpSpPr>
          <a:xfrm>
            <a:off x="342899" y="1297590"/>
            <a:ext cx="2553706" cy="4799716"/>
            <a:chOff x="342899" y="1590198"/>
            <a:chExt cx="2553706" cy="4799716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69B64887-4369-467C-BF4B-EEE6AEBEE192}"/>
                </a:ext>
              </a:extLst>
            </p:cNvPr>
            <p:cNvSpPr/>
            <p:nvPr/>
          </p:nvSpPr>
          <p:spPr>
            <a:xfrm>
              <a:off x="342899" y="1987903"/>
              <a:ext cx="2553706" cy="4402011"/>
            </a:xfrm>
            <a:prstGeom prst="roundRect">
              <a:avLst>
                <a:gd name="adj" fmla="val 7715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7FBBC328-34E7-4E8A-BA4A-F1821C6283B7}"/>
                </a:ext>
              </a:extLst>
            </p:cNvPr>
            <p:cNvSpPr/>
            <p:nvPr/>
          </p:nvSpPr>
          <p:spPr>
            <a:xfrm>
              <a:off x="1090611" y="2493613"/>
              <a:ext cx="1058282" cy="2753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</a:rPr>
                <a:t>STEP 01</a:t>
              </a:r>
              <a:endParaRPr lang="ko-KR" altLang="en-US" sz="12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0C94CDA-9E79-40F3-A54F-33C49DC5FD21}"/>
                </a:ext>
              </a:extLst>
            </p:cNvPr>
            <p:cNvSpPr txBox="1"/>
            <p:nvPr/>
          </p:nvSpPr>
          <p:spPr>
            <a:xfrm>
              <a:off x="951300" y="2875026"/>
              <a:ext cx="1336904" cy="30777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r>
                <a:rPr kumimoji="1" lang="ko-KR" altLang="en-US" sz="20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rPr>
                <a:t>데이터 수집</a:t>
              </a:r>
              <a:endParaRPr kumimoji="1" lang="en-US" altLang="ko-KR" sz="20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endParaRPr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493EF1D3-F706-4AE4-97FE-51F587C496C4}"/>
                </a:ext>
              </a:extLst>
            </p:cNvPr>
            <p:cNvSpPr/>
            <p:nvPr/>
          </p:nvSpPr>
          <p:spPr>
            <a:xfrm>
              <a:off x="401094" y="4261325"/>
              <a:ext cx="2437317" cy="1965303"/>
            </a:xfrm>
            <a:prstGeom prst="roundRect">
              <a:avLst>
                <a:gd name="adj" fmla="val 0"/>
              </a:avLst>
            </a:prstGeom>
            <a:solidFill>
              <a:srgbClr val="F9FBF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04FCFC7-CC81-4DEC-ACDB-A91B9D96057A}"/>
                </a:ext>
              </a:extLst>
            </p:cNvPr>
            <p:cNvSpPr txBox="1"/>
            <p:nvPr/>
          </p:nvSpPr>
          <p:spPr>
            <a:xfrm>
              <a:off x="449621" y="4331154"/>
              <a:ext cx="2340263" cy="105259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171450" indent="-171450" latinLnBrk="0">
                <a:lnSpc>
                  <a:spcPct val="200000"/>
                </a:lnSpc>
                <a:buFont typeface="Wingdings" panose="05000000000000000000" pitchFamily="2" charset="2"/>
                <a:buChar char="ü"/>
              </a:pPr>
              <a:r>
                <a:rPr kumimoji="1" lang="ko-KR" altLang="en-US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미세먼지 농도 데이터</a:t>
              </a:r>
              <a:endParaRPr kumimoji="1" lang="en-US" altLang="ko-KR" sz="12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  <a:p>
              <a:pPr marL="171450" indent="-171450" latinLnBrk="0">
                <a:lnSpc>
                  <a:spcPct val="200000"/>
                </a:lnSpc>
                <a:buFont typeface="Wingdings" panose="05000000000000000000" pitchFamily="2" charset="2"/>
                <a:buChar char="ü"/>
              </a:pPr>
              <a:r>
                <a:rPr kumimoji="1" lang="ko-KR" altLang="en-US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호흡기 질환 진료 건수 데이터</a:t>
              </a:r>
              <a:endParaRPr kumimoji="1" lang="en-US" altLang="ko-KR" sz="12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  <a:p>
              <a:pPr marL="171450" indent="-171450" latinLnBrk="0">
                <a:lnSpc>
                  <a:spcPct val="200000"/>
                </a:lnSpc>
                <a:buFont typeface="Wingdings" panose="05000000000000000000" pitchFamily="2" charset="2"/>
                <a:buChar char="ü"/>
              </a:pPr>
              <a:r>
                <a:rPr kumimoji="1" lang="ko-KR" altLang="en-US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자치구별 인구 구조 데이터</a:t>
              </a:r>
              <a:endParaRPr kumimoji="1" lang="en-US" altLang="ko-KR" sz="12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040E60DB-A0CA-4099-8C66-BE37FDBAE63C}"/>
                </a:ext>
              </a:extLst>
            </p:cNvPr>
            <p:cNvSpPr txBox="1"/>
            <p:nvPr/>
          </p:nvSpPr>
          <p:spPr>
            <a:xfrm>
              <a:off x="449621" y="3580508"/>
              <a:ext cx="2340263" cy="52168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algn="ctr" latinLnBrk="0">
                <a:lnSpc>
                  <a:spcPct val="150000"/>
                </a:lnSpc>
              </a:pPr>
              <a:r>
                <a:rPr kumimoji="1" lang="ko-KR" altLang="en-US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서울시 공공데이터를 활용하여 </a:t>
              </a:r>
              <a:r>
                <a:rPr kumimoji="1" lang="ko-KR" altLang="en-US" sz="1200" b="1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분석 데이터 수집</a:t>
              </a:r>
              <a:endParaRPr kumimoji="1" lang="en-US" altLang="ko-KR" sz="1200" b="1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endParaRPr>
            </a:p>
          </p:txBody>
        </p:sp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AEADE798-42CC-49D3-8B42-AE43665FBE71}"/>
                </a:ext>
              </a:extLst>
            </p:cNvPr>
            <p:cNvGrpSpPr/>
            <p:nvPr/>
          </p:nvGrpSpPr>
          <p:grpSpPr>
            <a:xfrm>
              <a:off x="1220152" y="1590198"/>
              <a:ext cx="799200" cy="799200"/>
              <a:chOff x="1162049" y="1590198"/>
              <a:chExt cx="799200" cy="799200"/>
            </a:xfrm>
          </p:grpSpPr>
          <p:sp>
            <p:nvSpPr>
              <p:cNvPr id="12" name="타원 11">
                <a:extLst>
                  <a:ext uri="{FF2B5EF4-FFF2-40B4-BE49-F238E27FC236}">
                    <a16:creationId xmlns:a16="http://schemas.microsoft.com/office/drawing/2014/main" id="{B31ECD0C-B80F-44A1-8921-E6075E66DC35}"/>
                  </a:ext>
                </a:extLst>
              </p:cNvPr>
              <p:cNvSpPr/>
              <p:nvPr/>
            </p:nvSpPr>
            <p:spPr>
              <a:xfrm>
                <a:off x="1162049" y="1590198"/>
                <a:ext cx="799200" cy="799200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bg2">
                    <a:lumMod val="90000"/>
                  </a:schemeClr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39" name="그림 38">
                <a:extLst>
                  <a:ext uri="{FF2B5EF4-FFF2-40B4-BE49-F238E27FC236}">
                    <a16:creationId xmlns:a16="http://schemas.microsoft.com/office/drawing/2014/main" id="{DAAA3EA2-F479-4261-96BC-69D704900F1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309649" y="1737798"/>
                <a:ext cx="504000" cy="504000"/>
              </a:xfrm>
              <a:prstGeom prst="rect">
                <a:avLst/>
              </a:prstGeom>
            </p:spPr>
          </p:pic>
        </p:grpSp>
      </p:grp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3EBC1198-DB0F-474D-BF7D-38FEA07CF7F8}"/>
              </a:ext>
            </a:extLst>
          </p:cNvPr>
          <p:cNvGrpSpPr/>
          <p:nvPr/>
        </p:nvGrpSpPr>
        <p:grpSpPr>
          <a:xfrm>
            <a:off x="3264478" y="1297590"/>
            <a:ext cx="2553706" cy="4800504"/>
            <a:chOff x="3264478" y="1590198"/>
            <a:chExt cx="2553706" cy="4800504"/>
          </a:xfrm>
        </p:grpSpPr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941D5437-97D4-469D-B5F7-1FCADA395D1E}"/>
                </a:ext>
              </a:extLst>
            </p:cNvPr>
            <p:cNvSpPr/>
            <p:nvPr/>
          </p:nvSpPr>
          <p:spPr>
            <a:xfrm>
              <a:off x="3264478" y="1987902"/>
              <a:ext cx="2553706" cy="4402800"/>
            </a:xfrm>
            <a:prstGeom prst="roundRect">
              <a:avLst>
                <a:gd name="adj" fmla="val 7715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F1E82E39-9D6B-4D44-93BC-B717031640EC}"/>
                </a:ext>
              </a:extLst>
            </p:cNvPr>
            <p:cNvSpPr/>
            <p:nvPr/>
          </p:nvSpPr>
          <p:spPr>
            <a:xfrm>
              <a:off x="4012190" y="2493613"/>
              <a:ext cx="1058282" cy="2753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</a:rPr>
                <a:t>STEP 02</a:t>
              </a:r>
              <a:endParaRPr lang="ko-KR" altLang="en-US" sz="12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D0997950-5AA2-4AB0-AEE3-D6D93E6A6F2C}"/>
                </a:ext>
              </a:extLst>
            </p:cNvPr>
            <p:cNvSpPr txBox="1"/>
            <p:nvPr/>
          </p:nvSpPr>
          <p:spPr>
            <a:xfrm>
              <a:off x="3745440" y="2875026"/>
              <a:ext cx="1591782" cy="30777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r>
                <a:rPr kumimoji="1" lang="ko-KR" altLang="en-US" sz="20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rPr>
                <a:t>데이터 </a:t>
              </a:r>
              <a:r>
                <a:rPr kumimoji="1" lang="ko-KR" altLang="en-US" sz="2000" dirty="0" err="1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rPr>
                <a:t>전처리</a:t>
              </a:r>
              <a:endParaRPr kumimoji="1" lang="en-US" altLang="ko-KR" sz="20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endParaRPr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63E833FD-49CD-48DB-8D1C-5DD431EFF422}"/>
                </a:ext>
              </a:extLst>
            </p:cNvPr>
            <p:cNvSpPr/>
            <p:nvPr/>
          </p:nvSpPr>
          <p:spPr>
            <a:xfrm>
              <a:off x="3322673" y="4261326"/>
              <a:ext cx="2437317" cy="1965600"/>
            </a:xfrm>
            <a:prstGeom prst="roundRect">
              <a:avLst>
                <a:gd name="adj" fmla="val 0"/>
              </a:avLst>
            </a:prstGeom>
            <a:solidFill>
              <a:srgbClr val="F9FBF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E3405D4B-B2A5-4F72-BBB7-A3392AD8C97A}"/>
                </a:ext>
              </a:extLst>
            </p:cNvPr>
            <p:cNvSpPr txBox="1"/>
            <p:nvPr/>
          </p:nvSpPr>
          <p:spPr>
            <a:xfrm>
              <a:off x="3371200" y="4331154"/>
              <a:ext cx="2340263" cy="105259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171450" indent="-171450" latinLnBrk="0">
                <a:lnSpc>
                  <a:spcPct val="200000"/>
                </a:lnSpc>
                <a:buFont typeface="Wingdings" panose="05000000000000000000" pitchFamily="2" charset="2"/>
                <a:buChar char="ü"/>
              </a:pPr>
              <a:r>
                <a:rPr kumimoji="1" lang="ko-KR" altLang="en-US" sz="1200" dirty="0" err="1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결측치</a:t>
              </a:r>
              <a:r>
                <a:rPr kumimoji="1" lang="ko-KR" altLang="en-US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 처리 및 데이터 정제</a:t>
              </a:r>
              <a:endParaRPr kumimoji="1" lang="en-US" altLang="ko-KR" sz="12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  <a:p>
              <a:pPr marL="171450" indent="-171450" latinLnBrk="0">
                <a:lnSpc>
                  <a:spcPct val="200000"/>
                </a:lnSpc>
                <a:buFont typeface="Wingdings" panose="05000000000000000000" pitchFamily="2" charset="2"/>
                <a:buChar char="ü"/>
              </a:pPr>
              <a:r>
                <a:rPr kumimoji="1" lang="ko-KR" altLang="en-US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데이터 형식 및 단위 통일 </a:t>
              </a:r>
              <a:endParaRPr kumimoji="1" lang="en-US" altLang="ko-KR" sz="12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  <a:p>
              <a:pPr marL="171450" indent="-171450" latinLnBrk="0">
                <a:lnSpc>
                  <a:spcPct val="200000"/>
                </a:lnSpc>
                <a:buFont typeface="Wingdings" panose="05000000000000000000" pitchFamily="2" charset="2"/>
                <a:buChar char="ü"/>
              </a:pPr>
              <a:r>
                <a:rPr kumimoji="1" lang="ko-KR" altLang="en-US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말머리3" panose="02020600000000000000" pitchFamily="18" charset="-127"/>
                  <a:ea typeface="a말머리3" panose="02020600000000000000" pitchFamily="18" charset="-127"/>
                  <a:cs typeface="Pretendard" panose="02000503000000020004" pitchFamily="2" charset="-127"/>
                </a:rPr>
                <a:t>월 기준 데이터 </a:t>
              </a:r>
              <a:r>
                <a:rPr kumimoji="1" lang="ko-KR" altLang="en-US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집계 및 정리</a:t>
              </a:r>
              <a:endParaRPr kumimoji="1" lang="en-US" altLang="ko-KR" sz="12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2287A0E2-BC2A-4D22-9A69-5A548C8825A3}"/>
                </a:ext>
              </a:extLst>
            </p:cNvPr>
            <p:cNvSpPr txBox="1"/>
            <p:nvPr/>
          </p:nvSpPr>
          <p:spPr>
            <a:xfrm>
              <a:off x="3371200" y="3610621"/>
              <a:ext cx="2340263" cy="52168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algn="ctr" latinLnBrk="0">
                <a:lnSpc>
                  <a:spcPct val="150000"/>
                </a:lnSpc>
              </a:pPr>
              <a:r>
                <a:rPr kumimoji="1" lang="ko-KR" altLang="en-US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데이터 정합성 확보를 위한 </a:t>
              </a:r>
              <a:endParaRPr kumimoji="1" lang="en-US" altLang="ko-KR" sz="12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  <a:p>
              <a:pPr algn="ctr" latinLnBrk="0">
                <a:lnSpc>
                  <a:spcPct val="150000"/>
                </a:lnSpc>
              </a:pPr>
              <a:r>
                <a:rPr kumimoji="1" lang="ko-KR" altLang="en-US" sz="1200" dirty="0" err="1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전처리</a:t>
              </a:r>
              <a:r>
                <a:rPr kumimoji="1" lang="ko-KR" altLang="en-US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 수행</a:t>
              </a:r>
              <a:endParaRPr kumimoji="1" lang="en-US" altLang="ko-KR" sz="1200" b="1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endParaRPr>
            </a:p>
          </p:txBody>
        </p:sp>
        <p:grpSp>
          <p:nvGrpSpPr>
            <p:cNvPr id="81" name="그룹 80">
              <a:extLst>
                <a:ext uri="{FF2B5EF4-FFF2-40B4-BE49-F238E27FC236}">
                  <a16:creationId xmlns:a16="http://schemas.microsoft.com/office/drawing/2014/main" id="{14DC6402-F377-4FDD-8367-5AA482088E50}"/>
                </a:ext>
              </a:extLst>
            </p:cNvPr>
            <p:cNvGrpSpPr/>
            <p:nvPr/>
          </p:nvGrpSpPr>
          <p:grpSpPr>
            <a:xfrm>
              <a:off x="4141731" y="1590198"/>
              <a:ext cx="799200" cy="799200"/>
              <a:chOff x="4141731" y="1590198"/>
              <a:chExt cx="799200" cy="799200"/>
            </a:xfrm>
          </p:grpSpPr>
          <p:sp>
            <p:nvSpPr>
              <p:cNvPr id="54" name="타원 53">
                <a:extLst>
                  <a:ext uri="{FF2B5EF4-FFF2-40B4-BE49-F238E27FC236}">
                    <a16:creationId xmlns:a16="http://schemas.microsoft.com/office/drawing/2014/main" id="{132D0BF0-2837-40D8-B9A5-3CD6EC7C06F1}"/>
                  </a:ext>
                </a:extLst>
              </p:cNvPr>
              <p:cNvSpPr/>
              <p:nvPr/>
            </p:nvSpPr>
            <p:spPr>
              <a:xfrm>
                <a:off x="4141731" y="1590198"/>
                <a:ext cx="799200" cy="799200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bg2">
                    <a:lumMod val="90000"/>
                  </a:schemeClr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80" name="그림 79">
                <a:extLst>
                  <a:ext uri="{FF2B5EF4-FFF2-40B4-BE49-F238E27FC236}">
                    <a16:creationId xmlns:a16="http://schemas.microsoft.com/office/drawing/2014/main" id="{6C4835C3-9513-41C9-B878-E6113B2DB0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25331" y="1773798"/>
                <a:ext cx="432000" cy="432000"/>
              </a:xfrm>
              <a:prstGeom prst="rect">
                <a:avLst/>
              </a:prstGeom>
            </p:spPr>
          </p:pic>
        </p:grpSp>
      </p:grpSp>
      <p:grpSp>
        <p:nvGrpSpPr>
          <p:cNvPr id="90" name="그룹 89">
            <a:extLst>
              <a:ext uri="{FF2B5EF4-FFF2-40B4-BE49-F238E27FC236}">
                <a16:creationId xmlns:a16="http://schemas.microsoft.com/office/drawing/2014/main" id="{566EEFF7-8613-4A54-AF51-7B9FE2D60D89}"/>
              </a:ext>
            </a:extLst>
          </p:cNvPr>
          <p:cNvGrpSpPr/>
          <p:nvPr/>
        </p:nvGrpSpPr>
        <p:grpSpPr>
          <a:xfrm>
            <a:off x="6186057" y="1297590"/>
            <a:ext cx="2553706" cy="4800504"/>
            <a:chOff x="6186057" y="1590198"/>
            <a:chExt cx="2553706" cy="4800504"/>
          </a:xfrm>
        </p:grpSpPr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82FF3BFB-4A8E-44E3-B7DB-4BE3321F2C50}"/>
                </a:ext>
              </a:extLst>
            </p:cNvPr>
            <p:cNvSpPr/>
            <p:nvPr/>
          </p:nvSpPr>
          <p:spPr>
            <a:xfrm>
              <a:off x="6186057" y="1987902"/>
              <a:ext cx="2553706" cy="4402800"/>
            </a:xfrm>
            <a:prstGeom prst="roundRect">
              <a:avLst>
                <a:gd name="adj" fmla="val 7715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785FA149-D933-45F2-B187-2F99FE01BB44}"/>
                </a:ext>
              </a:extLst>
            </p:cNvPr>
            <p:cNvSpPr/>
            <p:nvPr/>
          </p:nvSpPr>
          <p:spPr>
            <a:xfrm>
              <a:off x="6933769" y="2493613"/>
              <a:ext cx="1058282" cy="2753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</a:rPr>
                <a:t>STEP 03</a:t>
              </a:r>
              <a:endParaRPr lang="ko-KR" altLang="en-US" sz="12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CEE48E3C-E82F-4293-B532-8B167AF12D10}"/>
                </a:ext>
              </a:extLst>
            </p:cNvPr>
            <p:cNvSpPr txBox="1"/>
            <p:nvPr/>
          </p:nvSpPr>
          <p:spPr>
            <a:xfrm>
              <a:off x="6332793" y="2875026"/>
              <a:ext cx="2260234" cy="30777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r>
                <a:rPr kumimoji="1" lang="ko-KR" altLang="en-US" sz="200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rPr>
                <a:t>데이터 통합 및 탐색</a:t>
              </a:r>
              <a:endParaRPr kumimoji="1" lang="en-US" altLang="ko-KR" sz="20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endParaRPr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326EF20D-E5C5-4F71-8D2D-CC6A9EA5AEE6}"/>
                </a:ext>
              </a:extLst>
            </p:cNvPr>
            <p:cNvSpPr/>
            <p:nvPr/>
          </p:nvSpPr>
          <p:spPr>
            <a:xfrm>
              <a:off x="6244252" y="4261326"/>
              <a:ext cx="2437317" cy="1965600"/>
            </a:xfrm>
            <a:prstGeom prst="roundRect">
              <a:avLst>
                <a:gd name="adj" fmla="val 0"/>
              </a:avLst>
            </a:prstGeom>
            <a:solidFill>
              <a:srgbClr val="F9FBF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A3EF5E87-E0E9-4F45-88A8-A55A2AC50B0B}"/>
                </a:ext>
              </a:extLst>
            </p:cNvPr>
            <p:cNvSpPr txBox="1"/>
            <p:nvPr/>
          </p:nvSpPr>
          <p:spPr>
            <a:xfrm>
              <a:off x="6292779" y="4331154"/>
              <a:ext cx="2340263" cy="105259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171450" indent="-171450" latinLnBrk="0">
                <a:lnSpc>
                  <a:spcPct val="200000"/>
                </a:lnSpc>
                <a:buFont typeface="Wingdings" panose="05000000000000000000" pitchFamily="2" charset="2"/>
                <a:buChar char="ü"/>
              </a:pPr>
              <a:r>
                <a:rPr kumimoji="1" lang="ko-KR" altLang="en-US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자치구 기준 데이터 병합</a:t>
              </a:r>
              <a:endParaRPr kumimoji="1" lang="en-US" altLang="ko-KR" sz="12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  <a:p>
              <a:pPr marL="171450" indent="-171450" latinLnBrk="0">
                <a:lnSpc>
                  <a:spcPct val="200000"/>
                </a:lnSpc>
                <a:buFont typeface="Wingdings" panose="05000000000000000000" pitchFamily="2" charset="2"/>
                <a:buChar char="ü"/>
              </a:pPr>
              <a:r>
                <a:rPr kumimoji="1" lang="ko-KR" altLang="en-US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기간 기준</a:t>
              </a:r>
              <a:r>
                <a:rPr kumimoji="1" lang="en-US" altLang="ko-KR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(</a:t>
              </a:r>
              <a:r>
                <a:rPr kumimoji="1" lang="ko-KR" altLang="en-US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월별</a:t>
              </a:r>
              <a:r>
                <a:rPr kumimoji="1" lang="en-US" altLang="ko-KR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) </a:t>
              </a:r>
              <a:r>
                <a:rPr kumimoji="1" lang="ko-KR" altLang="en-US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데이터 정렬</a:t>
              </a:r>
              <a:endParaRPr kumimoji="1" lang="en-US" altLang="ko-KR" sz="12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  <a:p>
              <a:pPr marL="171450" indent="-171450" latinLnBrk="0">
                <a:lnSpc>
                  <a:spcPct val="200000"/>
                </a:lnSpc>
                <a:buFont typeface="Wingdings" panose="05000000000000000000" pitchFamily="2" charset="2"/>
                <a:buChar char="ü"/>
              </a:pPr>
              <a:r>
                <a:rPr kumimoji="1" lang="ko-KR" altLang="en-US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변수 분포 및 이상치 확인</a:t>
              </a:r>
              <a:endParaRPr kumimoji="1" lang="en-US" altLang="ko-KR" sz="12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E369F5E7-3F29-4654-87B1-3899CABAF816}"/>
                </a:ext>
              </a:extLst>
            </p:cNvPr>
            <p:cNvSpPr txBox="1"/>
            <p:nvPr/>
          </p:nvSpPr>
          <p:spPr>
            <a:xfrm>
              <a:off x="6292779" y="3604318"/>
              <a:ext cx="2340263" cy="52168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algn="ctr" latinLnBrk="0">
                <a:lnSpc>
                  <a:spcPct val="150000"/>
                </a:lnSpc>
              </a:pPr>
              <a:r>
                <a:rPr kumimoji="1" lang="ko-KR" altLang="en-US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분석 데이터 통합 및 </a:t>
              </a:r>
              <a:endParaRPr kumimoji="1" lang="en-US" altLang="ko-KR" sz="12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  <a:p>
              <a:pPr algn="ctr" latinLnBrk="0">
                <a:lnSpc>
                  <a:spcPct val="150000"/>
                </a:lnSpc>
              </a:pPr>
              <a:r>
                <a:rPr kumimoji="1" lang="ko-KR" altLang="en-US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탐색적 분석 수행</a:t>
              </a:r>
              <a:endParaRPr kumimoji="1" lang="en-US" altLang="ko-KR" sz="1200" b="1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endParaRPr>
            </a:p>
          </p:txBody>
        </p:sp>
        <p:grpSp>
          <p:nvGrpSpPr>
            <p:cNvPr id="89" name="그룹 88">
              <a:extLst>
                <a:ext uri="{FF2B5EF4-FFF2-40B4-BE49-F238E27FC236}">
                  <a16:creationId xmlns:a16="http://schemas.microsoft.com/office/drawing/2014/main" id="{693661D4-8F5F-43BD-8698-6F7EC9725D1B}"/>
                </a:ext>
              </a:extLst>
            </p:cNvPr>
            <p:cNvGrpSpPr/>
            <p:nvPr/>
          </p:nvGrpSpPr>
          <p:grpSpPr>
            <a:xfrm>
              <a:off x="7063310" y="1590198"/>
              <a:ext cx="799200" cy="799200"/>
              <a:chOff x="7063310" y="1590198"/>
              <a:chExt cx="799200" cy="799200"/>
            </a:xfrm>
          </p:grpSpPr>
          <p:sp>
            <p:nvSpPr>
              <p:cNvPr id="63" name="타원 62">
                <a:extLst>
                  <a:ext uri="{FF2B5EF4-FFF2-40B4-BE49-F238E27FC236}">
                    <a16:creationId xmlns:a16="http://schemas.microsoft.com/office/drawing/2014/main" id="{22349C74-3D25-4302-A5CE-6FF90085D446}"/>
                  </a:ext>
                </a:extLst>
              </p:cNvPr>
              <p:cNvSpPr/>
              <p:nvPr/>
            </p:nvSpPr>
            <p:spPr>
              <a:xfrm>
                <a:off x="7063310" y="1590198"/>
                <a:ext cx="799200" cy="799200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bg2">
                    <a:lumMod val="90000"/>
                  </a:schemeClr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88" name="그림 87">
                <a:extLst>
                  <a:ext uri="{FF2B5EF4-FFF2-40B4-BE49-F238E27FC236}">
                    <a16:creationId xmlns:a16="http://schemas.microsoft.com/office/drawing/2014/main" id="{F1E2AE0E-F129-4C9D-AE2E-34C225B834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210910" y="1737798"/>
                <a:ext cx="504000" cy="504000"/>
              </a:xfrm>
              <a:prstGeom prst="rect">
                <a:avLst/>
              </a:prstGeom>
            </p:spPr>
          </p:pic>
        </p:grp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9CE1F8C7-B386-2FF2-0535-397308D847A1}"/>
              </a:ext>
            </a:extLst>
          </p:cNvPr>
          <p:cNvGrpSpPr/>
          <p:nvPr/>
        </p:nvGrpSpPr>
        <p:grpSpPr>
          <a:xfrm>
            <a:off x="9107637" y="1297590"/>
            <a:ext cx="2553706" cy="4800504"/>
            <a:chOff x="9107637" y="1297590"/>
            <a:chExt cx="2553706" cy="4800504"/>
          </a:xfrm>
        </p:grpSpPr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B7D0CB71-6003-47D5-B292-6F58D5C1BA41}"/>
                </a:ext>
              </a:extLst>
            </p:cNvPr>
            <p:cNvSpPr/>
            <p:nvPr/>
          </p:nvSpPr>
          <p:spPr>
            <a:xfrm>
              <a:off x="9107637" y="1695294"/>
              <a:ext cx="2553706" cy="4402800"/>
            </a:xfrm>
            <a:prstGeom prst="roundRect">
              <a:avLst>
                <a:gd name="adj" fmla="val 7715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6" name="사각형: 둥근 모서리 65">
              <a:extLst>
                <a:ext uri="{FF2B5EF4-FFF2-40B4-BE49-F238E27FC236}">
                  <a16:creationId xmlns:a16="http://schemas.microsoft.com/office/drawing/2014/main" id="{55204703-DD5E-4061-9F74-81F2EA06A2BF}"/>
                </a:ext>
              </a:extLst>
            </p:cNvPr>
            <p:cNvSpPr/>
            <p:nvPr/>
          </p:nvSpPr>
          <p:spPr>
            <a:xfrm>
              <a:off x="9855349" y="2201005"/>
              <a:ext cx="1058282" cy="2753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</a:rPr>
                <a:t>STEP 04</a:t>
              </a:r>
              <a:endParaRPr lang="ko-KR" altLang="en-US" sz="12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</a:endParaRP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50626933-DAC7-454E-9708-DB194A63B645}"/>
                </a:ext>
              </a:extLst>
            </p:cNvPr>
            <p:cNvSpPr txBox="1"/>
            <p:nvPr/>
          </p:nvSpPr>
          <p:spPr>
            <a:xfrm>
              <a:off x="9295249" y="2582418"/>
              <a:ext cx="2178481" cy="61555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ctr"/>
              <a:r>
                <a:rPr kumimoji="1" lang="ko-KR" altLang="en-US" sz="20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rPr>
                <a:t>군집화 및 </a:t>
              </a:r>
              <a:r>
                <a:rPr kumimoji="1" lang="en-US" altLang="ko-KR" sz="20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rPr>
                <a:t>XAI </a:t>
              </a:r>
              <a:r>
                <a:rPr kumimoji="1" lang="ko-KR" altLang="en-US" sz="20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rPr>
                <a:t>분석</a:t>
              </a:r>
              <a:endParaRPr kumimoji="1" lang="en-US" altLang="ko-KR" sz="20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endParaRPr>
            </a:p>
            <a:p>
              <a:pPr algn="ctr"/>
              <a:r>
                <a:rPr kumimoji="1" lang="en-US" altLang="ko-KR" sz="20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rPr>
                <a:t>(</a:t>
              </a:r>
              <a:r>
                <a:rPr kumimoji="1" lang="ko-KR" altLang="en-US" sz="2000" dirty="0" err="1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rPr>
                <a:t>머신러닝</a:t>
              </a:r>
              <a:r>
                <a:rPr kumimoji="1" lang="en-US" altLang="ko-KR" sz="20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rPr>
                <a:t>)</a:t>
              </a:r>
            </a:p>
          </p:txBody>
        </p:sp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971FBD03-DDB2-4B77-8649-695F376460CF}"/>
                </a:ext>
              </a:extLst>
            </p:cNvPr>
            <p:cNvSpPr/>
            <p:nvPr/>
          </p:nvSpPr>
          <p:spPr>
            <a:xfrm>
              <a:off x="9165832" y="3968718"/>
              <a:ext cx="2437317" cy="1965600"/>
            </a:xfrm>
            <a:prstGeom prst="roundRect">
              <a:avLst>
                <a:gd name="adj" fmla="val 0"/>
              </a:avLst>
            </a:prstGeom>
            <a:solidFill>
              <a:srgbClr val="F9FBF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1D9031FA-9DBD-4B45-99EC-8A2D0412748E}"/>
                </a:ext>
              </a:extLst>
            </p:cNvPr>
            <p:cNvSpPr txBox="1"/>
            <p:nvPr/>
          </p:nvSpPr>
          <p:spPr>
            <a:xfrm>
              <a:off x="9214359" y="4038546"/>
              <a:ext cx="2340263" cy="144501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171450" indent="-171450" latinLnBrk="0">
                <a:lnSpc>
                  <a:spcPct val="150000"/>
                </a:lnSpc>
                <a:buFont typeface="Wingdings" panose="05000000000000000000" pitchFamily="2" charset="2"/>
                <a:buChar char="ü"/>
              </a:pPr>
              <a:r>
                <a:rPr kumimoji="1" lang="en-US" altLang="ko-KR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K-Means </a:t>
              </a:r>
              <a:r>
                <a:rPr kumimoji="1" lang="ko-KR" altLang="en-US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군집화를 통한 자치구별 보건 취약 유형 분류</a:t>
              </a:r>
              <a:endParaRPr kumimoji="1" lang="en-US" altLang="ko-KR" sz="12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  <a:p>
              <a:pPr marL="171450" indent="-171450" latinLnBrk="0">
                <a:lnSpc>
                  <a:spcPct val="200000"/>
                </a:lnSpc>
                <a:buFont typeface="Wingdings" panose="05000000000000000000" pitchFamily="2" charset="2"/>
                <a:buChar char="ü"/>
              </a:pPr>
              <a:r>
                <a:rPr kumimoji="1" lang="ko-KR" altLang="en-US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군집 결과 해석 및 유형 정의</a:t>
              </a:r>
              <a:endParaRPr kumimoji="1" lang="en-US" altLang="ko-KR" sz="12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  <a:p>
              <a:pPr marL="171450" indent="-171450" latinLnBrk="0">
                <a:lnSpc>
                  <a:spcPct val="150000"/>
                </a:lnSpc>
                <a:buFont typeface="Wingdings" panose="05000000000000000000" pitchFamily="2" charset="2"/>
                <a:buChar char="ü"/>
              </a:pPr>
              <a:r>
                <a:rPr kumimoji="1" lang="en-US" altLang="ko-KR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SHAP</a:t>
              </a:r>
              <a:r>
                <a:rPr kumimoji="1" lang="ko-KR" altLang="en-US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을 활용한 변수 영향도 및 원인 분석</a:t>
              </a:r>
              <a:endParaRPr kumimoji="1" lang="en-US" altLang="ko-KR" sz="12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D5D3B544-407F-4997-BB1C-BC6DEC9E990F}"/>
                </a:ext>
              </a:extLst>
            </p:cNvPr>
            <p:cNvSpPr txBox="1"/>
            <p:nvPr/>
          </p:nvSpPr>
          <p:spPr>
            <a:xfrm>
              <a:off x="9214359" y="3426399"/>
              <a:ext cx="2340263" cy="24468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algn="ctr" latinLnBrk="0">
                <a:lnSpc>
                  <a:spcPct val="150000"/>
                </a:lnSpc>
              </a:pPr>
              <a:r>
                <a:rPr kumimoji="1" lang="ko-KR" altLang="en-US" sz="12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군집화 및 설명 가능한 분석 수행</a:t>
              </a:r>
              <a:endParaRPr kumimoji="1" lang="en-US" altLang="ko-KR" sz="1200" b="1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endParaRPr>
            </a:p>
          </p:txBody>
        </p:sp>
        <p:grpSp>
          <p:nvGrpSpPr>
            <p:cNvPr id="93" name="그룹 92">
              <a:extLst>
                <a:ext uri="{FF2B5EF4-FFF2-40B4-BE49-F238E27FC236}">
                  <a16:creationId xmlns:a16="http://schemas.microsoft.com/office/drawing/2014/main" id="{D9299186-C964-4F97-A8F1-0D141552CE65}"/>
                </a:ext>
              </a:extLst>
            </p:cNvPr>
            <p:cNvGrpSpPr/>
            <p:nvPr/>
          </p:nvGrpSpPr>
          <p:grpSpPr>
            <a:xfrm>
              <a:off x="9984890" y="1297590"/>
              <a:ext cx="799200" cy="799200"/>
              <a:chOff x="9984890" y="1590198"/>
              <a:chExt cx="799200" cy="799200"/>
            </a:xfrm>
          </p:grpSpPr>
          <p:sp>
            <p:nvSpPr>
              <p:cNvPr id="72" name="타원 71">
                <a:extLst>
                  <a:ext uri="{FF2B5EF4-FFF2-40B4-BE49-F238E27FC236}">
                    <a16:creationId xmlns:a16="http://schemas.microsoft.com/office/drawing/2014/main" id="{98EBAEB2-6B4A-4A2E-8F52-F87999E85A74}"/>
                  </a:ext>
                </a:extLst>
              </p:cNvPr>
              <p:cNvSpPr/>
              <p:nvPr/>
            </p:nvSpPr>
            <p:spPr>
              <a:xfrm>
                <a:off x="9984890" y="1590198"/>
                <a:ext cx="799200" cy="799200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bg2">
                    <a:lumMod val="90000"/>
                  </a:schemeClr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92" name="그림 91">
                <a:extLst>
                  <a:ext uri="{FF2B5EF4-FFF2-40B4-BE49-F238E27FC236}">
                    <a16:creationId xmlns:a16="http://schemas.microsoft.com/office/drawing/2014/main" id="{CCB1443E-00A1-4B10-B4C6-1ECCA184C6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132490" y="1737798"/>
                <a:ext cx="504000" cy="504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23887583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2D20D06-D02C-C640-25B1-9C43F1F8C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BE86FF-4238-7FC4-49B4-276069037192}"/>
              </a:ext>
            </a:extLst>
          </p:cNvPr>
          <p:cNvSpPr txBox="1"/>
          <p:nvPr/>
        </p:nvSpPr>
        <p:spPr>
          <a:xfrm>
            <a:off x="516749" y="379988"/>
            <a:ext cx="4456348" cy="48936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6. </a:t>
            </a:r>
            <a:r>
              <a:rPr lang="ko-KR" altLang="en-US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보건 취약 유형 분석 모델 설계</a:t>
            </a:r>
            <a:endParaRPr lang="en-US" altLang="ko-KR" sz="2400" dirty="0">
              <a:latin typeface="a시월구일3" panose="02020600000000000000" pitchFamily="18" charset="-127"/>
              <a:ea typeface="a시월구일3" panose="02020600000000000000" pitchFamily="18" charset="-127"/>
              <a:cs typeface="+mj-cs"/>
            </a:endParaRP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2F882B10-2942-5670-0854-188FC9420B00}"/>
              </a:ext>
            </a:extLst>
          </p:cNvPr>
          <p:cNvSpPr/>
          <p:nvPr/>
        </p:nvSpPr>
        <p:spPr>
          <a:xfrm>
            <a:off x="198830" y="1160523"/>
            <a:ext cx="5516572" cy="307468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C30294-F656-F469-CE89-F93B59BB9CA9}"/>
              </a:ext>
            </a:extLst>
          </p:cNvPr>
          <p:cNvSpPr txBox="1"/>
          <p:nvPr/>
        </p:nvSpPr>
        <p:spPr>
          <a:xfrm>
            <a:off x="360213" y="1209171"/>
            <a:ext cx="1269578" cy="1692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r>
              <a:rPr kumimoji="1" lang="en-US" altLang="ko-KR" sz="11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bg1">
                    <a:lumMod val="7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rPr>
              <a:t>INPUT VARIABLES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E624B9-2522-3FC6-125E-F34EB020204E}"/>
              </a:ext>
            </a:extLst>
          </p:cNvPr>
          <p:cNvSpPr txBox="1"/>
          <p:nvPr/>
        </p:nvSpPr>
        <p:spPr>
          <a:xfrm>
            <a:off x="360213" y="1442251"/>
            <a:ext cx="1720856" cy="215444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r>
              <a:rPr kumimoji="1" lang="ko-KR" altLang="en-US" sz="14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rPr>
              <a:t>입력 변수 </a:t>
            </a:r>
            <a:r>
              <a:rPr kumimoji="1" lang="en-US" altLang="ko-KR" sz="14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rPr>
              <a:t>(Features)</a:t>
            </a:r>
          </a:p>
        </p:txBody>
      </p: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8E58711D-FC22-94D7-C5A4-7F1F0066786F}"/>
              </a:ext>
            </a:extLst>
          </p:cNvPr>
          <p:cNvGrpSpPr/>
          <p:nvPr/>
        </p:nvGrpSpPr>
        <p:grpSpPr>
          <a:xfrm>
            <a:off x="544783" y="1812588"/>
            <a:ext cx="2170016" cy="384276"/>
            <a:chOff x="516749" y="1764848"/>
            <a:chExt cx="2170016" cy="384276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195A571-4004-A25B-A1E5-80F9F4D2A91C}"/>
                </a:ext>
              </a:extLst>
            </p:cNvPr>
            <p:cNvSpPr txBox="1"/>
            <p:nvPr/>
          </p:nvSpPr>
          <p:spPr>
            <a:xfrm>
              <a:off x="965909" y="1780015"/>
              <a:ext cx="1720856" cy="353943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latinLnBrk="0"/>
              <a:r>
                <a:rPr kumimoji="1" lang="ko-KR" altLang="en-US" sz="1200" b="1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미세먼지 농도</a:t>
              </a:r>
              <a:endParaRPr kumimoji="1" lang="en-US" altLang="ko-KR" sz="1200" b="1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  <a:p>
              <a:pPr latinLnBrk="0"/>
              <a:r>
                <a:rPr kumimoji="1" lang="en-US" altLang="ko-KR" sz="1100" b="1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bg1">
                      <a:lumMod val="50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PM10 / PM2.5</a:t>
              </a:r>
              <a:endParaRPr kumimoji="1" lang="en-US" altLang="ko-KR" sz="1100" b="1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endParaRPr>
            </a:p>
          </p:txBody>
        </p: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E763408B-AA07-A61A-003D-6A2855BFF7EB}"/>
                </a:ext>
              </a:extLst>
            </p:cNvPr>
            <p:cNvGrpSpPr/>
            <p:nvPr/>
          </p:nvGrpSpPr>
          <p:grpSpPr>
            <a:xfrm>
              <a:off x="516749" y="1764848"/>
              <a:ext cx="384276" cy="384276"/>
              <a:chOff x="460502" y="1689138"/>
              <a:chExt cx="658835" cy="658835"/>
            </a:xfrm>
          </p:grpSpPr>
          <p:sp>
            <p:nvSpPr>
              <p:cNvPr id="11" name="타원 10">
                <a:extLst>
                  <a:ext uri="{FF2B5EF4-FFF2-40B4-BE49-F238E27FC236}">
                    <a16:creationId xmlns:a16="http://schemas.microsoft.com/office/drawing/2014/main" id="{F649FE1B-699C-56B6-3C7A-39E055CBD761}"/>
                  </a:ext>
                </a:extLst>
              </p:cNvPr>
              <p:cNvSpPr/>
              <p:nvPr/>
            </p:nvSpPr>
            <p:spPr>
              <a:xfrm>
                <a:off x="460502" y="1689138"/>
                <a:ext cx="658835" cy="658835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bg2">
                    <a:lumMod val="90000"/>
                  </a:schemeClr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12" name="그림 11">
                <a:extLst>
                  <a:ext uri="{FF2B5EF4-FFF2-40B4-BE49-F238E27FC236}">
                    <a16:creationId xmlns:a16="http://schemas.microsoft.com/office/drawing/2014/main" id="{14030A8E-76CA-A08E-56F6-32DEC637D2A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71745" y="1800381"/>
                <a:ext cx="436348" cy="436348"/>
              </a:xfrm>
              <a:prstGeom prst="rect">
                <a:avLst/>
              </a:prstGeom>
            </p:spPr>
          </p:pic>
        </p:grpSp>
      </p:grp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65C13872-9E27-D25E-6A65-9AB9F194AB3B}"/>
              </a:ext>
            </a:extLst>
          </p:cNvPr>
          <p:cNvGrpSpPr/>
          <p:nvPr/>
        </p:nvGrpSpPr>
        <p:grpSpPr>
          <a:xfrm>
            <a:off x="544783" y="2415938"/>
            <a:ext cx="2170016" cy="384276"/>
            <a:chOff x="516749" y="2375797"/>
            <a:chExt cx="2170016" cy="384276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2ED06B0-418F-68B7-659A-0846EF85B783}"/>
                </a:ext>
              </a:extLst>
            </p:cNvPr>
            <p:cNvSpPr txBox="1"/>
            <p:nvPr/>
          </p:nvSpPr>
          <p:spPr>
            <a:xfrm>
              <a:off x="965909" y="2390964"/>
              <a:ext cx="1720856" cy="353943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latinLnBrk="0"/>
              <a:r>
                <a:rPr kumimoji="1" lang="ko-KR" altLang="en-US" sz="1200" b="1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평균 기온</a:t>
              </a:r>
              <a:endParaRPr kumimoji="1" lang="en-US" altLang="ko-KR" sz="1200" b="1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  <a:p>
              <a:pPr latinLnBrk="0"/>
              <a:r>
                <a:rPr kumimoji="1" lang="ko-KR" altLang="en-US" sz="1100" b="1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bg1">
                      <a:lumMod val="50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일별 평균 기온</a:t>
              </a:r>
              <a:endParaRPr kumimoji="1" lang="en-US" altLang="ko-KR" sz="1100" b="1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endParaRPr>
            </a:p>
          </p:txBody>
        </p:sp>
        <p:grpSp>
          <p:nvGrpSpPr>
            <p:cNvPr id="28" name="그룹 27">
              <a:extLst>
                <a:ext uri="{FF2B5EF4-FFF2-40B4-BE49-F238E27FC236}">
                  <a16:creationId xmlns:a16="http://schemas.microsoft.com/office/drawing/2014/main" id="{EC08EAB1-B476-9CB5-3E78-47669414A212}"/>
                </a:ext>
              </a:extLst>
            </p:cNvPr>
            <p:cNvGrpSpPr/>
            <p:nvPr/>
          </p:nvGrpSpPr>
          <p:grpSpPr>
            <a:xfrm>
              <a:off x="516749" y="2375797"/>
              <a:ext cx="384276" cy="384276"/>
              <a:chOff x="516749" y="2375797"/>
              <a:chExt cx="384276" cy="384276"/>
            </a:xfrm>
          </p:grpSpPr>
          <p:sp>
            <p:nvSpPr>
              <p:cNvPr id="15" name="타원 14">
                <a:extLst>
                  <a:ext uri="{FF2B5EF4-FFF2-40B4-BE49-F238E27FC236}">
                    <a16:creationId xmlns:a16="http://schemas.microsoft.com/office/drawing/2014/main" id="{E3815F5F-2AFD-3F65-53C1-EE8BE997436D}"/>
                  </a:ext>
                </a:extLst>
              </p:cNvPr>
              <p:cNvSpPr/>
              <p:nvPr/>
            </p:nvSpPr>
            <p:spPr>
              <a:xfrm>
                <a:off x="516749" y="2375797"/>
                <a:ext cx="384276" cy="384276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bg2">
                    <a:lumMod val="90000"/>
                  </a:schemeClr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27" name="그림 26">
                <a:extLst>
                  <a:ext uri="{FF2B5EF4-FFF2-40B4-BE49-F238E27FC236}">
                    <a16:creationId xmlns:a16="http://schemas.microsoft.com/office/drawing/2014/main" id="{ABFEF434-C159-DF92-FF37-9C351BBD5E7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73511" y="2428286"/>
                <a:ext cx="279297" cy="279297"/>
              </a:xfrm>
              <a:prstGeom prst="rect">
                <a:avLst/>
              </a:prstGeom>
            </p:spPr>
          </p:pic>
        </p:grpSp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83DFFBA4-4EFC-33A2-89C5-E1616873B635}"/>
              </a:ext>
            </a:extLst>
          </p:cNvPr>
          <p:cNvGrpSpPr/>
          <p:nvPr/>
        </p:nvGrpSpPr>
        <p:grpSpPr>
          <a:xfrm>
            <a:off x="544783" y="3019288"/>
            <a:ext cx="2170016" cy="384276"/>
            <a:chOff x="516749" y="2975347"/>
            <a:chExt cx="2170016" cy="384276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D3EA06C-5564-E28A-3F3A-194ACB14038B}"/>
                </a:ext>
              </a:extLst>
            </p:cNvPr>
            <p:cNvSpPr txBox="1"/>
            <p:nvPr/>
          </p:nvSpPr>
          <p:spPr>
            <a:xfrm>
              <a:off x="965909" y="2990514"/>
              <a:ext cx="1720856" cy="353943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latinLnBrk="0"/>
              <a:r>
                <a:rPr kumimoji="1" lang="ko-KR" altLang="en-US" sz="1200" b="1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호흡기 질환 진료 건수</a:t>
              </a:r>
              <a:endParaRPr kumimoji="1" lang="en-US" altLang="ko-KR" sz="1200" b="1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  <a:p>
              <a:pPr latinLnBrk="0"/>
              <a:r>
                <a:rPr kumimoji="1" lang="ko-KR" altLang="en-US" sz="1100" b="1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bg1">
                      <a:lumMod val="50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건강보험 통계 데이터</a:t>
              </a:r>
              <a:endParaRPr kumimoji="1" lang="en-US" altLang="ko-KR" sz="1100" b="1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endParaRPr>
            </a:p>
          </p:txBody>
        </p:sp>
        <p:grpSp>
          <p:nvGrpSpPr>
            <p:cNvPr id="31" name="그룹 30">
              <a:extLst>
                <a:ext uri="{FF2B5EF4-FFF2-40B4-BE49-F238E27FC236}">
                  <a16:creationId xmlns:a16="http://schemas.microsoft.com/office/drawing/2014/main" id="{2192007C-20AB-839E-B80F-F15BD97B5983}"/>
                </a:ext>
              </a:extLst>
            </p:cNvPr>
            <p:cNvGrpSpPr/>
            <p:nvPr/>
          </p:nvGrpSpPr>
          <p:grpSpPr>
            <a:xfrm>
              <a:off x="516749" y="2975347"/>
              <a:ext cx="384276" cy="384276"/>
              <a:chOff x="516749" y="2975347"/>
              <a:chExt cx="384276" cy="384276"/>
            </a:xfrm>
          </p:grpSpPr>
          <p:sp>
            <p:nvSpPr>
              <p:cNvPr id="18" name="타원 17">
                <a:extLst>
                  <a:ext uri="{FF2B5EF4-FFF2-40B4-BE49-F238E27FC236}">
                    <a16:creationId xmlns:a16="http://schemas.microsoft.com/office/drawing/2014/main" id="{AC489491-ADA2-739D-8ED9-C99483D49C3B}"/>
                  </a:ext>
                </a:extLst>
              </p:cNvPr>
              <p:cNvSpPr/>
              <p:nvPr/>
            </p:nvSpPr>
            <p:spPr>
              <a:xfrm>
                <a:off x="516749" y="2975347"/>
                <a:ext cx="384276" cy="384276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bg2">
                    <a:lumMod val="90000"/>
                  </a:schemeClr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30" name="그림 29">
                <a:extLst>
                  <a:ext uri="{FF2B5EF4-FFF2-40B4-BE49-F238E27FC236}">
                    <a16:creationId xmlns:a16="http://schemas.microsoft.com/office/drawing/2014/main" id="{7BDBEA53-5CA8-ABA0-FADB-B79B337CB65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83299" y="3041897"/>
                <a:ext cx="251176" cy="251176"/>
              </a:xfrm>
              <a:prstGeom prst="rect">
                <a:avLst/>
              </a:prstGeom>
            </p:spPr>
          </p:pic>
        </p:grp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589CE3E-4F15-C166-7F77-E7EBF3956C3B}"/>
              </a:ext>
            </a:extLst>
          </p:cNvPr>
          <p:cNvGrpSpPr/>
          <p:nvPr/>
        </p:nvGrpSpPr>
        <p:grpSpPr>
          <a:xfrm>
            <a:off x="544783" y="3622636"/>
            <a:ext cx="2170016" cy="384276"/>
            <a:chOff x="516749" y="3574896"/>
            <a:chExt cx="2170016" cy="384276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EAB1163-2E4F-3209-C08B-4968E66455B2}"/>
                </a:ext>
              </a:extLst>
            </p:cNvPr>
            <p:cNvSpPr txBox="1"/>
            <p:nvPr/>
          </p:nvSpPr>
          <p:spPr>
            <a:xfrm>
              <a:off x="965909" y="3590063"/>
              <a:ext cx="1720856" cy="353943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latinLnBrk="0"/>
              <a:r>
                <a:rPr kumimoji="1" lang="ko-KR" altLang="en-US" sz="1200" b="1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인구 구조</a:t>
              </a:r>
              <a:endParaRPr kumimoji="1" lang="en-US" altLang="ko-KR" sz="1200" b="1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  <a:p>
              <a:pPr latinLnBrk="0"/>
              <a:r>
                <a:rPr kumimoji="1" lang="ko-KR" altLang="en-US" sz="1100" b="1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bg1">
                      <a:lumMod val="50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자치구별 등록 인구</a:t>
              </a:r>
              <a:endParaRPr kumimoji="1" lang="en-US" altLang="ko-KR" sz="1100" b="1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endParaRPr>
            </a:p>
          </p:txBody>
        </p:sp>
        <p:grpSp>
          <p:nvGrpSpPr>
            <p:cNvPr id="33" name="그룹 32">
              <a:extLst>
                <a:ext uri="{FF2B5EF4-FFF2-40B4-BE49-F238E27FC236}">
                  <a16:creationId xmlns:a16="http://schemas.microsoft.com/office/drawing/2014/main" id="{3490E708-2C30-3D9F-D828-7455DD7113AD}"/>
                </a:ext>
              </a:extLst>
            </p:cNvPr>
            <p:cNvGrpSpPr/>
            <p:nvPr/>
          </p:nvGrpSpPr>
          <p:grpSpPr>
            <a:xfrm>
              <a:off x="516749" y="3574896"/>
              <a:ext cx="384276" cy="384276"/>
              <a:chOff x="516749" y="3574896"/>
              <a:chExt cx="384276" cy="384276"/>
            </a:xfrm>
          </p:grpSpPr>
          <p:sp>
            <p:nvSpPr>
              <p:cNvPr id="21" name="타원 20">
                <a:extLst>
                  <a:ext uri="{FF2B5EF4-FFF2-40B4-BE49-F238E27FC236}">
                    <a16:creationId xmlns:a16="http://schemas.microsoft.com/office/drawing/2014/main" id="{12FED722-73BA-93A8-1838-C78FE332538D}"/>
                  </a:ext>
                </a:extLst>
              </p:cNvPr>
              <p:cNvSpPr/>
              <p:nvPr/>
            </p:nvSpPr>
            <p:spPr>
              <a:xfrm>
                <a:off x="516749" y="3574896"/>
                <a:ext cx="384276" cy="384276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bg2">
                    <a:lumMod val="90000"/>
                  </a:schemeClr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32" name="그래픽 31" descr="사용자 단색으로 채워진">
                <a:extLst>
                  <a:ext uri="{FF2B5EF4-FFF2-40B4-BE49-F238E27FC236}">
                    <a16:creationId xmlns:a16="http://schemas.microsoft.com/office/drawing/2014/main" id="{12554EC1-1ED3-85FB-D9E5-54A13480CF8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528142" y="3586289"/>
                <a:ext cx="361490" cy="361490"/>
              </a:xfrm>
              <a:prstGeom prst="rect">
                <a:avLst/>
              </a:prstGeom>
            </p:spPr>
          </p:pic>
        </p:grpSp>
      </p:grp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9B3D8F8C-35EF-9503-1FE5-4EB9422ADE38}"/>
              </a:ext>
            </a:extLst>
          </p:cNvPr>
          <p:cNvCxnSpPr/>
          <p:nvPr/>
        </p:nvCxnSpPr>
        <p:spPr>
          <a:xfrm>
            <a:off x="609667" y="2306401"/>
            <a:ext cx="3464587" cy="0"/>
          </a:xfrm>
          <a:prstGeom prst="line">
            <a:avLst/>
          </a:prstGeom>
          <a:ln w="12700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01DE68FD-2435-AC65-CCA6-083676145B47}"/>
              </a:ext>
            </a:extLst>
          </p:cNvPr>
          <p:cNvCxnSpPr/>
          <p:nvPr/>
        </p:nvCxnSpPr>
        <p:spPr>
          <a:xfrm>
            <a:off x="609667" y="2909751"/>
            <a:ext cx="3464587" cy="0"/>
          </a:xfrm>
          <a:prstGeom prst="line">
            <a:avLst/>
          </a:prstGeom>
          <a:ln w="12700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84DFD7DF-C067-1203-2EDD-06D0FAC4DD70}"/>
              </a:ext>
            </a:extLst>
          </p:cNvPr>
          <p:cNvCxnSpPr/>
          <p:nvPr/>
        </p:nvCxnSpPr>
        <p:spPr>
          <a:xfrm>
            <a:off x="609667" y="3513101"/>
            <a:ext cx="3464587" cy="0"/>
          </a:xfrm>
          <a:prstGeom prst="line">
            <a:avLst/>
          </a:prstGeom>
          <a:ln w="12700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A5C24EE7-88A5-CC75-D9B8-B86543875D11}"/>
              </a:ext>
            </a:extLst>
          </p:cNvPr>
          <p:cNvSpPr/>
          <p:nvPr/>
        </p:nvSpPr>
        <p:spPr>
          <a:xfrm>
            <a:off x="189616" y="4270043"/>
            <a:ext cx="5516572" cy="247910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6882364-4D99-4C57-0A5D-EEA6FDC0880C}"/>
              </a:ext>
            </a:extLst>
          </p:cNvPr>
          <p:cNvSpPr txBox="1"/>
          <p:nvPr/>
        </p:nvSpPr>
        <p:spPr>
          <a:xfrm>
            <a:off x="330137" y="4383808"/>
            <a:ext cx="920124" cy="1692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r>
              <a:rPr kumimoji="1" lang="en-US" altLang="ko-KR" sz="11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bg1">
                    <a:lumMod val="7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rPr>
              <a:t>ALGORITHMS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CE6805B-71BE-9D1A-98AA-4C0AE54C6313}"/>
              </a:ext>
            </a:extLst>
          </p:cNvPr>
          <p:cNvSpPr txBox="1"/>
          <p:nvPr/>
        </p:nvSpPr>
        <p:spPr>
          <a:xfrm>
            <a:off x="330137" y="4616888"/>
            <a:ext cx="705321" cy="215444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r>
              <a:rPr kumimoji="1" lang="ko-KR" altLang="en-US" sz="14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rPr>
              <a:t>알고리즘</a:t>
            </a:r>
            <a:endParaRPr kumimoji="1" lang="en-US" altLang="ko-KR" sz="1400" dirty="0">
              <a:ln w="12700">
                <a:solidFill>
                  <a:schemeClr val="tx1">
                    <a:alpha val="500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a시월구일3" panose="02020600000000000000" pitchFamily="18" charset="-127"/>
              <a:ea typeface="a시월구일3" panose="02020600000000000000" pitchFamily="18" charset="-127"/>
              <a:cs typeface="Pretendard" panose="02000503000000020004" pitchFamily="2" charset="-127"/>
            </a:endParaRP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85408DB6-FD84-97E8-6845-4DBCD8EA20E1}"/>
              </a:ext>
            </a:extLst>
          </p:cNvPr>
          <p:cNvSpPr/>
          <p:nvPr/>
        </p:nvSpPr>
        <p:spPr>
          <a:xfrm>
            <a:off x="1923565" y="5337763"/>
            <a:ext cx="3562835" cy="1140249"/>
          </a:xfrm>
          <a:prstGeom prst="roundRect">
            <a:avLst>
              <a:gd name="adj" fmla="val 8991"/>
            </a:avLst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873E85C-0146-9475-604F-4EB131FFF1D5}"/>
              </a:ext>
            </a:extLst>
          </p:cNvPr>
          <p:cNvGrpSpPr/>
          <p:nvPr/>
        </p:nvGrpSpPr>
        <p:grpSpPr>
          <a:xfrm>
            <a:off x="330138" y="5337763"/>
            <a:ext cx="1795032" cy="1140249"/>
            <a:chOff x="330137" y="5337763"/>
            <a:chExt cx="2219385" cy="1204656"/>
          </a:xfrm>
        </p:grpSpPr>
        <p:grpSp>
          <p:nvGrpSpPr>
            <p:cNvPr id="52" name="그룹 51">
              <a:extLst>
                <a:ext uri="{FF2B5EF4-FFF2-40B4-BE49-F238E27FC236}">
                  <a16:creationId xmlns:a16="http://schemas.microsoft.com/office/drawing/2014/main" id="{99D450AF-1A37-08BD-AF5D-F021EEB4308F}"/>
                </a:ext>
              </a:extLst>
            </p:cNvPr>
            <p:cNvGrpSpPr/>
            <p:nvPr/>
          </p:nvGrpSpPr>
          <p:grpSpPr>
            <a:xfrm>
              <a:off x="330137" y="5337763"/>
              <a:ext cx="2219385" cy="1204656"/>
              <a:chOff x="516749" y="5206771"/>
              <a:chExt cx="2219385" cy="1204656"/>
            </a:xfrm>
          </p:grpSpPr>
          <p:sp>
            <p:nvSpPr>
              <p:cNvPr id="45" name="사각형: 둥근 모서리 44">
                <a:extLst>
                  <a:ext uri="{FF2B5EF4-FFF2-40B4-BE49-F238E27FC236}">
                    <a16:creationId xmlns:a16="http://schemas.microsoft.com/office/drawing/2014/main" id="{3412768D-466A-5DD0-A048-E4FC7A9FBF53}"/>
                  </a:ext>
                </a:extLst>
              </p:cNvPr>
              <p:cNvSpPr/>
              <p:nvPr/>
            </p:nvSpPr>
            <p:spPr>
              <a:xfrm>
                <a:off x="516749" y="5206771"/>
                <a:ext cx="2219385" cy="1204656"/>
              </a:xfrm>
              <a:prstGeom prst="roundRect">
                <a:avLst>
                  <a:gd name="adj" fmla="val 7792"/>
                </a:avLst>
              </a:prstGeom>
              <a:solidFill>
                <a:schemeClr val="bg1"/>
              </a:solidFill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48" name="그림 47">
                <a:extLst>
                  <a:ext uri="{FF2B5EF4-FFF2-40B4-BE49-F238E27FC236}">
                    <a16:creationId xmlns:a16="http://schemas.microsoft.com/office/drawing/2014/main" id="{CCF6CAEE-0519-13D1-2614-DC974E8631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lum bright="70000" contrast="-70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388810" y="5333341"/>
                <a:ext cx="395376" cy="395375"/>
              </a:xfrm>
              <a:prstGeom prst="rect">
                <a:avLst/>
              </a:prstGeom>
            </p:spPr>
          </p:pic>
        </p:grp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E83BEF84-A4A5-EF31-DDD1-480D3EF0FF8D}"/>
                </a:ext>
              </a:extLst>
            </p:cNvPr>
            <p:cNvSpPr txBox="1"/>
            <p:nvPr/>
          </p:nvSpPr>
          <p:spPr>
            <a:xfrm>
              <a:off x="579401" y="6025565"/>
              <a:ext cx="1720856" cy="169277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algn="ctr" latinLnBrk="0"/>
              <a:r>
                <a:rPr kumimoji="1" lang="en-US" altLang="ko-KR" sz="1100" b="1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bg1">
                      <a:lumMod val="50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K-Means Clustering</a:t>
              </a:r>
            </a:p>
          </p:txBody>
        </p: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82D52A81-FC56-50A2-DA9C-075207376242}"/>
              </a:ext>
            </a:extLst>
          </p:cNvPr>
          <p:cNvSpPr txBox="1"/>
          <p:nvPr/>
        </p:nvSpPr>
        <p:spPr>
          <a:xfrm>
            <a:off x="360213" y="4931224"/>
            <a:ext cx="4919358" cy="16927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latinLnBrk="0"/>
            <a:r>
              <a:rPr kumimoji="1" lang="en-US" altLang="ko-KR" sz="11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rPr>
              <a:t>K-Means </a:t>
            </a:r>
            <a:r>
              <a:rPr kumimoji="1" lang="ko-KR" altLang="en-US" sz="11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rPr>
              <a:t>군집화를 활용</a:t>
            </a:r>
            <a:r>
              <a:rPr kumimoji="1" lang="ko-KR" altLang="en-US" sz="11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하여 자치구별 </a:t>
            </a:r>
            <a:r>
              <a:rPr kumimoji="1" lang="ko-KR" altLang="en-US" sz="11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rPr>
              <a:t>보건 취약 특성이 유사한 지역을 그룹화</a:t>
            </a:r>
            <a:endParaRPr kumimoji="1" lang="en-US" altLang="ko-KR" sz="1100" b="1" dirty="0">
              <a:ln w="12700">
                <a:solidFill>
                  <a:schemeClr val="tx1">
                    <a:alpha val="500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a시월구일3" panose="02020600000000000000" pitchFamily="18" charset="-127"/>
              <a:ea typeface="a시월구일3" panose="02020600000000000000" pitchFamily="18" charset="-127"/>
              <a:cs typeface="Pretendard" panose="02000503000000020004" pitchFamily="2" charset="-127"/>
            </a:endParaRPr>
          </a:p>
        </p:txBody>
      </p: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21A7641D-1951-958E-926A-6FA01A21B585}"/>
              </a:ext>
            </a:extLst>
          </p:cNvPr>
          <p:cNvGrpSpPr/>
          <p:nvPr/>
        </p:nvGrpSpPr>
        <p:grpSpPr>
          <a:xfrm>
            <a:off x="6147221" y="1163953"/>
            <a:ext cx="5913119" cy="2256837"/>
            <a:chOff x="6147221" y="1131560"/>
            <a:chExt cx="5913119" cy="2256837"/>
          </a:xfrm>
        </p:grpSpPr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28EE5417-CB3B-D39A-1A77-A91412E6C54A}"/>
                </a:ext>
              </a:extLst>
            </p:cNvPr>
            <p:cNvSpPr/>
            <p:nvPr/>
          </p:nvSpPr>
          <p:spPr>
            <a:xfrm>
              <a:off x="6147221" y="1131560"/>
              <a:ext cx="5913119" cy="225683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3122D9D8-B709-8ED3-D558-44FDC24880C4}"/>
                </a:ext>
              </a:extLst>
            </p:cNvPr>
            <p:cNvSpPr txBox="1"/>
            <p:nvPr/>
          </p:nvSpPr>
          <p:spPr>
            <a:xfrm>
              <a:off x="6256658" y="1249649"/>
              <a:ext cx="1240724" cy="16927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r>
                <a:rPr kumimoji="1" lang="en-US" altLang="ko-KR" sz="11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bg1">
                      <a:lumMod val="7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rPr>
                <a:t>OUTPUT CLASSES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2D23AEF5-9550-1518-A28D-2155A27C9759}"/>
                </a:ext>
              </a:extLst>
            </p:cNvPr>
            <p:cNvSpPr txBox="1"/>
            <p:nvPr/>
          </p:nvSpPr>
          <p:spPr>
            <a:xfrm>
              <a:off x="6256658" y="1482729"/>
              <a:ext cx="2335576" cy="21544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r>
                <a:rPr kumimoji="1" lang="ko-KR" altLang="en-US" sz="14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rPr>
                <a:t>자치구별 보건 취약 유형 도출</a:t>
              </a:r>
              <a:endParaRPr kumimoji="1" lang="en-US" altLang="ko-KR" sz="14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endParaRPr>
            </a:p>
          </p:txBody>
        </p:sp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3894FED8-8CB7-6CF4-D1CF-2901499E5E80}"/>
                </a:ext>
              </a:extLst>
            </p:cNvPr>
            <p:cNvSpPr/>
            <p:nvPr/>
          </p:nvSpPr>
          <p:spPr>
            <a:xfrm>
              <a:off x="6256658" y="2007917"/>
              <a:ext cx="1333287" cy="602939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0E1459BD-558F-4061-310F-107DEDDA0F70}"/>
                </a:ext>
              </a:extLst>
            </p:cNvPr>
            <p:cNvSpPr/>
            <p:nvPr/>
          </p:nvSpPr>
          <p:spPr>
            <a:xfrm>
              <a:off x="7711525" y="2007917"/>
              <a:ext cx="1333287" cy="602939"/>
            </a:xfrm>
            <a:prstGeom prst="roundRect">
              <a:avLst>
                <a:gd name="adj" fmla="val 0"/>
              </a:avLst>
            </a:prstGeom>
            <a:solidFill>
              <a:srgbClr val="F5F5F5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8B6FA03C-A07E-BC3F-ED05-96CBF68C076A}"/>
                </a:ext>
              </a:extLst>
            </p:cNvPr>
            <p:cNvSpPr/>
            <p:nvPr/>
          </p:nvSpPr>
          <p:spPr>
            <a:xfrm>
              <a:off x="9166392" y="2007917"/>
              <a:ext cx="1333287" cy="602939"/>
            </a:xfrm>
            <a:prstGeom prst="roundRect">
              <a:avLst>
                <a:gd name="adj" fmla="val 0"/>
              </a:avLst>
            </a:prstGeom>
            <a:solidFill>
              <a:srgbClr val="E0E0E0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3BE06D00-5A52-CBD3-B5D8-F463E7792190}"/>
                </a:ext>
              </a:extLst>
            </p:cNvPr>
            <p:cNvSpPr/>
            <p:nvPr/>
          </p:nvSpPr>
          <p:spPr>
            <a:xfrm>
              <a:off x="10621258" y="2007917"/>
              <a:ext cx="1333287" cy="602939"/>
            </a:xfrm>
            <a:prstGeom prst="roundRect">
              <a:avLst>
                <a:gd name="adj" fmla="val 0"/>
              </a:avLst>
            </a:prstGeom>
            <a:solidFill>
              <a:srgbClr val="333333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F1C2A39E-B901-DDA4-1C30-001150A9DA80}"/>
                </a:ext>
              </a:extLst>
            </p:cNvPr>
            <p:cNvSpPr txBox="1"/>
            <p:nvPr/>
          </p:nvSpPr>
          <p:spPr>
            <a:xfrm>
              <a:off x="6356474" y="2047001"/>
              <a:ext cx="1110615" cy="52168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algn="ctr" latinLnBrk="0">
                <a:lnSpc>
                  <a:spcPct val="150000"/>
                </a:lnSpc>
              </a:pPr>
              <a:r>
                <a:rPr kumimoji="1" lang="ko-KR" altLang="en-US" sz="1200" b="1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안전</a:t>
              </a:r>
              <a:endParaRPr kumimoji="1" lang="en-US" altLang="ko-KR" sz="1200" b="1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  <a:p>
              <a:pPr algn="ctr" latinLnBrk="0">
                <a:lnSpc>
                  <a:spcPct val="150000"/>
                </a:lnSpc>
              </a:pPr>
              <a:r>
                <a:rPr kumimoji="1" lang="en-US" altLang="ko-KR" sz="1200" b="1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bg2">
                      <a:lumMod val="50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Safe</a:t>
              </a:r>
              <a:endParaRPr kumimoji="1" lang="en-US" altLang="ko-KR" sz="1100" b="1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bg2">
                    <a:lumMod val="50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endParaRP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31B675CA-81CF-D64F-0631-0AC1AC49769E}"/>
                </a:ext>
              </a:extLst>
            </p:cNvPr>
            <p:cNvSpPr txBox="1"/>
            <p:nvPr/>
          </p:nvSpPr>
          <p:spPr>
            <a:xfrm>
              <a:off x="7822860" y="2047001"/>
              <a:ext cx="1110615" cy="50129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algn="ctr" latinLnBrk="0">
                <a:lnSpc>
                  <a:spcPct val="150000"/>
                </a:lnSpc>
              </a:pPr>
              <a:r>
                <a:rPr kumimoji="1" lang="ko-KR" altLang="en-US" sz="1200" b="1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보통</a:t>
              </a:r>
              <a:endParaRPr kumimoji="1" lang="en-US" altLang="ko-KR" sz="1200" b="1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  <a:p>
              <a:pPr algn="ctr" latinLnBrk="0">
                <a:lnSpc>
                  <a:spcPct val="150000"/>
                </a:lnSpc>
              </a:pPr>
              <a:r>
                <a:rPr kumimoji="1" lang="en-US" altLang="ko-KR" sz="11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bg2">
                      <a:lumMod val="50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rPr>
                <a:t>Moderate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536D20FE-F4BC-225B-E9AD-6B56C26D972A}"/>
                </a:ext>
              </a:extLst>
            </p:cNvPr>
            <p:cNvSpPr txBox="1"/>
            <p:nvPr/>
          </p:nvSpPr>
          <p:spPr>
            <a:xfrm>
              <a:off x="9266207" y="2047001"/>
              <a:ext cx="1110615" cy="52168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algn="ctr" latinLnBrk="0">
                <a:lnSpc>
                  <a:spcPct val="150000"/>
                </a:lnSpc>
              </a:pPr>
              <a:r>
                <a:rPr kumimoji="1" lang="ko-KR" altLang="en-US" sz="1200" b="1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민감</a:t>
              </a:r>
              <a:endParaRPr kumimoji="1" lang="en-US" altLang="ko-KR" sz="1200" b="1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  <a:p>
              <a:pPr algn="ctr" latinLnBrk="0">
                <a:lnSpc>
                  <a:spcPct val="150000"/>
                </a:lnSpc>
              </a:pPr>
              <a:r>
                <a:rPr kumimoji="1" lang="en-US" altLang="ko-KR" sz="1200" b="1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bg2">
                      <a:lumMod val="50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Sensitive</a:t>
              </a:r>
              <a:endParaRPr kumimoji="1" lang="en-US" altLang="ko-KR" sz="1100" b="1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bg2">
                    <a:lumMod val="50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endParaRP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E9E05B0-04C3-8148-0713-AB7F9B09B969}"/>
                </a:ext>
              </a:extLst>
            </p:cNvPr>
            <p:cNvSpPr txBox="1"/>
            <p:nvPr/>
          </p:nvSpPr>
          <p:spPr>
            <a:xfrm>
              <a:off x="10732593" y="2047001"/>
              <a:ext cx="1110615" cy="52168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algn="ctr" latinLnBrk="0">
                <a:lnSpc>
                  <a:spcPct val="150000"/>
                </a:lnSpc>
              </a:pPr>
              <a:r>
                <a:rPr kumimoji="1" lang="ko-KR" altLang="en-US" sz="1200" b="1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bg1"/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고위험</a:t>
              </a:r>
              <a:endParaRPr kumimoji="1" lang="en-US" altLang="ko-KR" sz="1200" b="1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bg1"/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  <a:p>
              <a:pPr algn="ctr" latinLnBrk="0">
                <a:lnSpc>
                  <a:spcPct val="150000"/>
                </a:lnSpc>
              </a:pPr>
              <a:r>
                <a:rPr kumimoji="1" lang="en-US" altLang="ko-KR" sz="1200" b="1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bg2">
                      <a:lumMod val="90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High Risk</a:t>
              </a:r>
              <a:endParaRPr kumimoji="1" lang="en-US" altLang="ko-KR" sz="1100" b="1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bg2">
                    <a:lumMod val="90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FF504FD0-06E6-3C2A-B4A7-025AABD986E4}"/>
                </a:ext>
              </a:extLst>
            </p:cNvPr>
            <p:cNvSpPr txBox="1"/>
            <p:nvPr/>
          </p:nvSpPr>
          <p:spPr>
            <a:xfrm>
              <a:off x="9372002" y="3006134"/>
              <a:ext cx="2688338" cy="18466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latinLnBrk="0"/>
              <a:r>
                <a:rPr kumimoji="1" lang="en-US" altLang="ko-KR" sz="1200" b="1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bg2">
                      <a:lumMod val="50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* </a:t>
              </a:r>
              <a:r>
                <a:rPr kumimoji="1" lang="ko-KR" altLang="en-US" sz="1200" b="1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bg2">
                      <a:lumMod val="50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환자 발생률 기준으로 위험 등급 산정</a:t>
              </a:r>
              <a:endParaRPr kumimoji="1" lang="en-US" altLang="ko-KR" sz="1100" b="1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bg2">
                    <a:lumMod val="50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endParaRPr>
            </a:p>
          </p:txBody>
        </p:sp>
      </p:grpSp>
      <p:pic>
        <p:nvPicPr>
          <p:cNvPr id="72" name="그림 71">
            <a:extLst>
              <a:ext uri="{FF2B5EF4-FFF2-40B4-BE49-F238E27FC236}">
                <a16:creationId xmlns:a16="http://schemas.microsoft.com/office/drawing/2014/main" id="{8BE41ACC-A67B-7C92-B6FA-E66A10E1F83D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5771069" y="3429000"/>
            <a:ext cx="344519" cy="344519"/>
          </a:xfrm>
          <a:prstGeom prst="rect">
            <a:avLst/>
          </a:prstGeom>
        </p:spPr>
      </p:pic>
      <p:grpSp>
        <p:nvGrpSpPr>
          <p:cNvPr id="82" name="그룹 81">
            <a:extLst>
              <a:ext uri="{FF2B5EF4-FFF2-40B4-BE49-F238E27FC236}">
                <a16:creationId xmlns:a16="http://schemas.microsoft.com/office/drawing/2014/main" id="{D7072E29-5B74-0658-1AEB-8E6B434AF0E1}"/>
              </a:ext>
            </a:extLst>
          </p:cNvPr>
          <p:cNvGrpSpPr/>
          <p:nvPr/>
        </p:nvGrpSpPr>
        <p:grpSpPr>
          <a:xfrm>
            <a:off x="6132513" y="3783675"/>
            <a:ext cx="5913119" cy="2256837"/>
            <a:chOff x="6195060" y="3634029"/>
            <a:chExt cx="5913119" cy="2256837"/>
          </a:xfrm>
        </p:grpSpPr>
        <p:sp>
          <p:nvSpPr>
            <p:cNvPr id="73" name="사각형: 둥근 모서리 72">
              <a:extLst>
                <a:ext uri="{FF2B5EF4-FFF2-40B4-BE49-F238E27FC236}">
                  <a16:creationId xmlns:a16="http://schemas.microsoft.com/office/drawing/2014/main" id="{DA880136-96A2-D3B2-BBEB-31B14AE7E36D}"/>
                </a:ext>
              </a:extLst>
            </p:cNvPr>
            <p:cNvSpPr/>
            <p:nvPr/>
          </p:nvSpPr>
          <p:spPr>
            <a:xfrm>
              <a:off x="6195060" y="3634029"/>
              <a:ext cx="5913119" cy="225683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CA1C7165-5321-36B4-2D03-26E4D2E7E7AD}"/>
                </a:ext>
              </a:extLst>
            </p:cNvPr>
            <p:cNvSpPr txBox="1"/>
            <p:nvPr/>
          </p:nvSpPr>
          <p:spPr>
            <a:xfrm>
              <a:off x="6304497" y="3756192"/>
              <a:ext cx="1567737" cy="16927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r>
                <a:rPr kumimoji="1" lang="en-US" altLang="ko-KR" sz="11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bg1">
                      <a:lumMod val="7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rPr>
                <a:t>EVALUATION METRICS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44015B01-51BC-90D6-4DFC-01F7C61C587E}"/>
                </a:ext>
              </a:extLst>
            </p:cNvPr>
            <p:cNvSpPr txBox="1"/>
            <p:nvPr/>
          </p:nvSpPr>
          <p:spPr>
            <a:xfrm>
              <a:off x="6304497" y="3989272"/>
              <a:ext cx="1168590" cy="21544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r>
                <a:rPr kumimoji="1" lang="ko-KR" altLang="en-US" sz="14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rPr>
                <a:t>모델 평가 지표</a:t>
              </a:r>
              <a:endParaRPr kumimoji="1" lang="en-US" altLang="ko-KR" sz="14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" panose="02000503000000020004" pitchFamily="2" charset="-127"/>
              </a:endParaRPr>
            </a:p>
          </p:txBody>
        </p:sp>
        <p:grpSp>
          <p:nvGrpSpPr>
            <p:cNvPr id="79" name="그룹 78">
              <a:extLst>
                <a:ext uri="{FF2B5EF4-FFF2-40B4-BE49-F238E27FC236}">
                  <a16:creationId xmlns:a16="http://schemas.microsoft.com/office/drawing/2014/main" id="{41286577-7790-F5E8-D749-86103DB653E8}"/>
                </a:ext>
              </a:extLst>
            </p:cNvPr>
            <p:cNvGrpSpPr/>
            <p:nvPr/>
          </p:nvGrpSpPr>
          <p:grpSpPr>
            <a:xfrm>
              <a:off x="6351176" y="4689764"/>
              <a:ext cx="1316579" cy="918587"/>
              <a:chOff x="6351176" y="4443256"/>
              <a:chExt cx="1316579" cy="918587"/>
            </a:xfrm>
          </p:grpSpPr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5D70267D-BA4E-DE63-7B56-CBC54AD7774F}"/>
                  </a:ext>
                </a:extLst>
              </p:cNvPr>
              <p:cNvSpPr/>
              <p:nvPr/>
            </p:nvSpPr>
            <p:spPr>
              <a:xfrm>
                <a:off x="6351176" y="4443256"/>
                <a:ext cx="1316579" cy="918587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10" name="그림 9">
                <a:extLst>
                  <a:ext uri="{FF2B5EF4-FFF2-40B4-BE49-F238E27FC236}">
                    <a16:creationId xmlns:a16="http://schemas.microsoft.com/office/drawing/2014/main" id="{6C5C1420-94B3-274A-CDAE-388C113697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883465" y="4553085"/>
                <a:ext cx="252000" cy="252000"/>
              </a:xfrm>
              <a:prstGeom prst="rect">
                <a:avLst/>
              </a:prstGeom>
            </p:spPr>
          </p:pic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85C2AC3-5C14-1BE9-39F6-053783ED54E7}"/>
                  </a:ext>
                </a:extLst>
              </p:cNvPr>
              <p:cNvSpPr txBox="1"/>
              <p:nvPr/>
            </p:nvSpPr>
            <p:spPr>
              <a:xfrm>
                <a:off x="6680048" y="4859924"/>
                <a:ext cx="658835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r>
                  <a:rPr kumimoji="1" lang="en-US" altLang="ko-KR" sz="1100" dirty="0">
                    <a:ln w="12700">
                      <a:solidFill>
                        <a:schemeClr val="tx1">
                          <a:alpha val="5000"/>
                        </a:schemeClr>
                      </a:solidFill>
                    </a:ln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시월구일3" panose="02020600000000000000" pitchFamily="18" charset="-127"/>
                    <a:ea typeface="a시월구일3" panose="02020600000000000000" pitchFamily="18" charset="-127"/>
                    <a:cs typeface="Pretendard" panose="02000503000000020004" pitchFamily="2" charset="-127"/>
                  </a:rPr>
                  <a:t>Accuracy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E1E7ADB-9C64-062A-97FA-CA1AD1F5C78F}"/>
                  </a:ext>
                </a:extLst>
              </p:cNvPr>
              <p:cNvSpPr txBox="1"/>
              <p:nvPr/>
            </p:nvSpPr>
            <p:spPr>
              <a:xfrm>
                <a:off x="6799472" y="5084040"/>
                <a:ext cx="419987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r>
                  <a:rPr kumimoji="1" lang="ko-KR" altLang="en-US" sz="1100" dirty="0">
                    <a:ln w="12700">
                      <a:solidFill>
                        <a:schemeClr val="tx1">
                          <a:alpha val="500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a시월구일3" panose="02020600000000000000" pitchFamily="18" charset="-127"/>
                    <a:ea typeface="a시월구일3" panose="02020600000000000000" pitchFamily="18" charset="-127"/>
                    <a:cs typeface="Pretendard" panose="02000503000000020004" pitchFamily="2" charset="-127"/>
                  </a:rPr>
                  <a:t>정확도</a:t>
                </a:r>
                <a:endParaRPr kumimoji="1" lang="en-US" altLang="ko-KR" sz="11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endParaRPr>
              </a:p>
            </p:txBody>
          </p:sp>
        </p:grpSp>
        <p:grpSp>
          <p:nvGrpSpPr>
            <p:cNvPr id="78" name="그룹 77">
              <a:extLst>
                <a:ext uri="{FF2B5EF4-FFF2-40B4-BE49-F238E27FC236}">
                  <a16:creationId xmlns:a16="http://schemas.microsoft.com/office/drawing/2014/main" id="{C9FD70DD-207D-7E3B-18AD-2BCAFDFBC3DC}"/>
                </a:ext>
              </a:extLst>
            </p:cNvPr>
            <p:cNvGrpSpPr/>
            <p:nvPr/>
          </p:nvGrpSpPr>
          <p:grpSpPr>
            <a:xfrm>
              <a:off x="7758940" y="4689764"/>
              <a:ext cx="1316579" cy="918587"/>
              <a:chOff x="7758940" y="4443256"/>
              <a:chExt cx="1316579" cy="918587"/>
            </a:xfrm>
          </p:grpSpPr>
          <p:sp>
            <p:nvSpPr>
              <p:cNvPr id="86" name="사각형: 둥근 모서리 85">
                <a:extLst>
                  <a:ext uri="{FF2B5EF4-FFF2-40B4-BE49-F238E27FC236}">
                    <a16:creationId xmlns:a16="http://schemas.microsoft.com/office/drawing/2014/main" id="{6590A49B-74A2-E1D9-DA47-5A99BCF1A60C}"/>
                  </a:ext>
                </a:extLst>
              </p:cNvPr>
              <p:cNvSpPr/>
              <p:nvPr/>
            </p:nvSpPr>
            <p:spPr>
              <a:xfrm>
                <a:off x="7758940" y="4443256"/>
                <a:ext cx="1316579" cy="918587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16" name="그림 15">
                <a:extLst>
                  <a:ext uri="{FF2B5EF4-FFF2-40B4-BE49-F238E27FC236}">
                    <a16:creationId xmlns:a16="http://schemas.microsoft.com/office/drawing/2014/main" id="{3306BDF7-5088-FE13-8324-77267D70D7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291229" y="4553085"/>
                <a:ext cx="252000" cy="252000"/>
              </a:xfrm>
              <a:prstGeom prst="rect">
                <a:avLst/>
              </a:prstGeom>
            </p:spPr>
          </p:pic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1BF085D2-A021-1DAF-DD10-8F8E6C7772DC}"/>
                  </a:ext>
                </a:extLst>
              </p:cNvPr>
              <p:cNvSpPr txBox="1"/>
              <p:nvPr/>
            </p:nvSpPr>
            <p:spPr>
              <a:xfrm>
                <a:off x="8091820" y="4859924"/>
                <a:ext cx="650819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r>
                  <a:rPr kumimoji="1" lang="en-US" altLang="ko-KR" sz="1100" dirty="0">
                    <a:ln w="12700">
                      <a:solidFill>
                        <a:schemeClr val="tx1">
                          <a:alpha val="5000"/>
                        </a:schemeClr>
                      </a:solidFill>
                    </a:ln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시월구일3" panose="02020600000000000000" pitchFamily="18" charset="-127"/>
                    <a:ea typeface="a시월구일3" panose="02020600000000000000" pitchFamily="18" charset="-127"/>
                    <a:cs typeface="Pretendard" panose="02000503000000020004" pitchFamily="2" charset="-127"/>
                  </a:rPr>
                  <a:t>Precision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09F7F7B4-2360-0376-42D4-2CEE8CC15888}"/>
                  </a:ext>
                </a:extLst>
              </p:cNvPr>
              <p:cNvSpPr txBox="1"/>
              <p:nvPr/>
            </p:nvSpPr>
            <p:spPr>
              <a:xfrm>
                <a:off x="8188000" y="5084040"/>
                <a:ext cx="458459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r>
                  <a:rPr kumimoji="1" lang="en-US" altLang="ko-KR" sz="1100" dirty="0">
                    <a:ln w="12700">
                      <a:solidFill>
                        <a:schemeClr val="tx1">
                          <a:alpha val="500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a시월구일3" panose="02020600000000000000" pitchFamily="18" charset="-127"/>
                    <a:ea typeface="a시월구일3" panose="02020600000000000000" pitchFamily="18" charset="-127"/>
                    <a:cs typeface="Pretendard" panose="02000503000000020004" pitchFamily="2" charset="-127"/>
                  </a:rPr>
                  <a:t> </a:t>
                </a:r>
                <a:r>
                  <a:rPr kumimoji="1" lang="ko-KR" altLang="en-US" sz="1100" dirty="0">
                    <a:ln w="12700">
                      <a:solidFill>
                        <a:schemeClr val="tx1">
                          <a:alpha val="500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a시월구일3" panose="02020600000000000000" pitchFamily="18" charset="-127"/>
                    <a:ea typeface="a시월구일3" panose="02020600000000000000" pitchFamily="18" charset="-127"/>
                    <a:cs typeface="Pretendard" panose="02000503000000020004" pitchFamily="2" charset="-127"/>
                  </a:rPr>
                  <a:t>정밀도</a:t>
                </a:r>
                <a:endParaRPr kumimoji="1" lang="en-US" altLang="ko-KR" sz="11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endParaRPr>
              </a:p>
            </p:txBody>
          </p:sp>
        </p:grpSp>
        <p:grpSp>
          <p:nvGrpSpPr>
            <p:cNvPr id="77" name="그룹 76">
              <a:extLst>
                <a:ext uri="{FF2B5EF4-FFF2-40B4-BE49-F238E27FC236}">
                  <a16:creationId xmlns:a16="http://schemas.microsoft.com/office/drawing/2014/main" id="{BD6E67F8-FB82-5DD8-C94E-FEBA2C679336}"/>
                </a:ext>
              </a:extLst>
            </p:cNvPr>
            <p:cNvGrpSpPr/>
            <p:nvPr/>
          </p:nvGrpSpPr>
          <p:grpSpPr>
            <a:xfrm>
              <a:off x="9166704" y="4689764"/>
              <a:ext cx="1316579" cy="918587"/>
              <a:chOff x="9166704" y="4443256"/>
              <a:chExt cx="1316579" cy="918587"/>
            </a:xfrm>
          </p:grpSpPr>
          <p:sp>
            <p:nvSpPr>
              <p:cNvPr id="87" name="사각형: 둥근 모서리 86">
                <a:extLst>
                  <a:ext uri="{FF2B5EF4-FFF2-40B4-BE49-F238E27FC236}">
                    <a16:creationId xmlns:a16="http://schemas.microsoft.com/office/drawing/2014/main" id="{AC38978A-E5BD-D6E3-23EC-1B79972B659C}"/>
                  </a:ext>
                </a:extLst>
              </p:cNvPr>
              <p:cNvSpPr/>
              <p:nvPr/>
            </p:nvSpPr>
            <p:spPr>
              <a:xfrm>
                <a:off x="9166704" y="4443256"/>
                <a:ext cx="1316579" cy="918587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19" name="그림 18">
                <a:extLst>
                  <a:ext uri="{FF2B5EF4-FFF2-40B4-BE49-F238E27FC236}">
                    <a16:creationId xmlns:a16="http://schemas.microsoft.com/office/drawing/2014/main" id="{2395BE94-1BC6-4BEE-1ECB-B27B9785101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698993" y="4553085"/>
                <a:ext cx="252000" cy="252000"/>
              </a:xfrm>
              <a:prstGeom prst="rect">
                <a:avLst/>
              </a:prstGeom>
            </p:spPr>
          </p:pic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2509CB0F-44A8-658D-3B09-21CF1FFFFAB2}"/>
                  </a:ext>
                </a:extLst>
              </p:cNvPr>
              <p:cNvSpPr txBox="1"/>
              <p:nvPr/>
            </p:nvSpPr>
            <p:spPr>
              <a:xfrm>
                <a:off x="9611794" y="4859924"/>
                <a:ext cx="426399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r>
                  <a:rPr kumimoji="1" lang="en-US" altLang="ko-KR" sz="1100" dirty="0">
                    <a:ln w="12700">
                      <a:solidFill>
                        <a:schemeClr val="tx1">
                          <a:alpha val="5000"/>
                        </a:schemeClr>
                      </a:solidFill>
                    </a:ln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시월구일3" panose="02020600000000000000" pitchFamily="18" charset="-127"/>
                    <a:ea typeface="a시월구일3" panose="02020600000000000000" pitchFamily="18" charset="-127"/>
                    <a:cs typeface="Pretendard" panose="02000503000000020004" pitchFamily="2" charset="-127"/>
                  </a:rPr>
                  <a:t>Recall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8DC9B20-751C-06CC-EF99-88653619E5C8}"/>
                  </a:ext>
                </a:extLst>
              </p:cNvPr>
              <p:cNvSpPr txBox="1"/>
              <p:nvPr/>
            </p:nvSpPr>
            <p:spPr>
              <a:xfrm>
                <a:off x="9614198" y="5084040"/>
                <a:ext cx="421590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r>
                  <a:rPr kumimoji="1" lang="ko-KR" altLang="en-US" sz="1100" dirty="0" err="1">
                    <a:ln w="12700">
                      <a:solidFill>
                        <a:schemeClr val="tx1">
                          <a:alpha val="500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a시월구일3" panose="02020600000000000000" pitchFamily="18" charset="-127"/>
                    <a:ea typeface="a시월구일3" panose="02020600000000000000" pitchFamily="18" charset="-127"/>
                    <a:cs typeface="Pretendard" panose="02000503000000020004" pitchFamily="2" charset="-127"/>
                  </a:rPr>
                  <a:t>재현율</a:t>
                </a:r>
                <a:endParaRPr kumimoji="1" lang="en-US" altLang="ko-KR" sz="11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endParaRPr>
              </a:p>
            </p:txBody>
          </p:sp>
        </p:grpSp>
        <p:grpSp>
          <p:nvGrpSpPr>
            <p:cNvPr id="76" name="그룹 75">
              <a:extLst>
                <a:ext uri="{FF2B5EF4-FFF2-40B4-BE49-F238E27FC236}">
                  <a16:creationId xmlns:a16="http://schemas.microsoft.com/office/drawing/2014/main" id="{D50A1568-12DB-2038-8E9D-4BD87F693776}"/>
                </a:ext>
              </a:extLst>
            </p:cNvPr>
            <p:cNvGrpSpPr/>
            <p:nvPr/>
          </p:nvGrpSpPr>
          <p:grpSpPr>
            <a:xfrm>
              <a:off x="10574468" y="4689764"/>
              <a:ext cx="1316579" cy="918587"/>
              <a:chOff x="10574468" y="4443256"/>
              <a:chExt cx="1316579" cy="918587"/>
            </a:xfrm>
          </p:grpSpPr>
          <p:sp>
            <p:nvSpPr>
              <p:cNvPr id="88" name="사각형: 둥근 모서리 87">
                <a:extLst>
                  <a:ext uri="{FF2B5EF4-FFF2-40B4-BE49-F238E27FC236}">
                    <a16:creationId xmlns:a16="http://schemas.microsoft.com/office/drawing/2014/main" id="{C179C226-B93F-C54B-FCDD-01B9AE19116E}"/>
                  </a:ext>
                </a:extLst>
              </p:cNvPr>
              <p:cNvSpPr/>
              <p:nvPr/>
            </p:nvSpPr>
            <p:spPr>
              <a:xfrm>
                <a:off x="10574468" y="4443256"/>
                <a:ext cx="1316579" cy="918587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867D128F-D4A2-7104-C07E-BD41A79F9D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106757" y="4553085"/>
                <a:ext cx="252000" cy="252000"/>
              </a:xfrm>
              <a:prstGeom prst="rect">
                <a:avLst/>
              </a:prstGeom>
            </p:spPr>
          </p:pic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CD84B91-7A59-9EF7-5C50-842ED38F340E}"/>
                  </a:ext>
                </a:extLst>
              </p:cNvPr>
              <p:cNvSpPr txBox="1"/>
              <p:nvPr/>
            </p:nvSpPr>
            <p:spPr>
              <a:xfrm>
                <a:off x="10920973" y="4859924"/>
                <a:ext cx="623569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r>
                  <a:rPr kumimoji="1" lang="en-US" altLang="ko-KR" sz="1100" dirty="0">
                    <a:ln w="12700">
                      <a:solidFill>
                        <a:schemeClr val="tx1">
                          <a:alpha val="5000"/>
                        </a:schemeClr>
                      </a:solidFill>
                    </a:ln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시월구일3" panose="02020600000000000000" pitchFamily="18" charset="-127"/>
                    <a:ea typeface="a시월구일3" panose="02020600000000000000" pitchFamily="18" charset="-127"/>
                    <a:cs typeface="Pretendard" panose="02000503000000020004" pitchFamily="2" charset="-127"/>
                  </a:rPr>
                  <a:t>F1-Score</a:t>
                </a:r>
              </a:p>
            </p:txBody>
          </p:sp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D85728C7-42E5-1611-336A-1196F889D8E8}"/>
                  </a:ext>
                </a:extLst>
              </p:cNvPr>
              <p:cNvSpPr txBox="1"/>
              <p:nvPr/>
            </p:nvSpPr>
            <p:spPr>
              <a:xfrm>
                <a:off x="10953835" y="5084040"/>
                <a:ext cx="557845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r>
                  <a:rPr kumimoji="1" lang="ko-KR" altLang="en-US" sz="1100" dirty="0">
                    <a:ln w="12700">
                      <a:solidFill>
                        <a:schemeClr val="tx1">
                          <a:alpha val="500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a시월구일3" panose="02020600000000000000" pitchFamily="18" charset="-127"/>
                    <a:ea typeface="a시월구일3" panose="02020600000000000000" pitchFamily="18" charset="-127"/>
                    <a:cs typeface="Pretendard" panose="02000503000000020004" pitchFamily="2" charset="-127"/>
                  </a:rPr>
                  <a:t>조화평균</a:t>
                </a:r>
                <a:endParaRPr kumimoji="1" lang="en-US" altLang="ko-KR" sz="11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endParaRPr>
              </a:p>
            </p:txBody>
          </p:sp>
        </p:grpSp>
      </p:grpSp>
      <p:sp>
        <p:nvSpPr>
          <p:cNvPr id="83" name="TextBox 82">
            <a:extLst>
              <a:ext uri="{FF2B5EF4-FFF2-40B4-BE49-F238E27FC236}">
                <a16:creationId xmlns:a16="http://schemas.microsoft.com/office/drawing/2014/main" id="{285A3477-D8FD-13E9-6389-68E4126F981C}"/>
              </a:ext>
            </a:extLst>
          </p:cNvPr>
          <p:cNvSpPr txBox="1"/>
          <p:nvPr/>
        </p:nvSpPr>
        <p:spPr>
          <a:xfrm>
            <a:off x="6256658" y="4455259"/>
            <a:ext cx="5683578" cy="16927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latinLnBrk="0"/>
            <a:r>
              <a:rPr kumimoji="1" lang="ko-KR" altLang="en-US" sz="11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분류 모델의 성능을 평가하기 위해 </a:t>
            </a:r>
            <a:r>
              <a:rPr kumimoji="1" lang="en-US" altLang="ko-KR" sz="11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Accuracy, Precision, Recall, F1-Score </a:t>
            </a:r>
            <a:r>
              <a:rPr kumimoji="1" lang="ko-KR" altLang="en-US" sz="11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지표를 사용</a:t>
            </a:r>
            <a:endParaRPr kumimoji="1" lang="en-US" altLang="ko-KR" sz="1100" dirty="0">
              <a:ln w="12700">
                <a:solidFill>
                  <a:schemeClr val="tx1">
                    <a:alpha val="500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a시월구일1" panose="02020600000000000000" pitchFamily="18" charset="-127"/>
              <a:ea typeface="a시월구일1" panose="02020600000000000000" pitchFamily="18" charset="-127"/>
              <a:cs typeface="Pretendard" panose="02000503000000020004" pitchFamily="2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7B89AA-E405-26B0-646C-11258393CC77}"/>
              </a:ext>
            </a:extLst>
          </p:cNvPr>
          <p:cNvSpPr txBox="1"/>
          <p:nvPr/>
        </p:nvSpPr>
        <p:spPr>
          <a:xfrm>
            <a:off x="2216355" y="5541826"/>
            <a:ext cx="2782152" cy="73212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latinLnBrk="0">
              <a:lnSpc>
                <a:spcPct val="150000"/>
              </a:lnSpc>
            </a:pPr>
            <a:r>
              <a:rPr kumimoji="1" lang="en-US" altLang="ko-KR" sz="11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• K-Means </a:t>
            </a:r>
            <a:r>
              <a:rPr kumimoji="1" lang="ko-KR" altLang="en-US" sz="11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군집화 적용  </a:t>
            </a:r>
          </a:p>
          <a:p>
            <a:pPr latinLnBrk="0">
              <a:lnSpc>
                <a:spcPct val="150000"/>
              </a:lnSpc>
            </a:pPr>
            <a:r>
              <a:rPr kumimoji="1" lang="en-US" altLang="ko-KR" sz="11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• </a:t>
            </a:r>
            <a:r>
              <a:rPr kumimoji="1" lang="ko-KR" altLang="en-US" sz="11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자치구 간 유사도 기반 유형 분류  </a:t>
            </a:r>
          </a:p>
          <a:p>
            <a:pPr latinLnBrk="0">
              <a:lnSpc>
                <a:spcPct val="150000"/>
              </a:lnSpc>
            </a:pPr>
            <a:r>
              <a:rPr kumimoji="1" lang="en-US" altLang="ko-KR" sz="11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• </a:t>
            </a:r>
            <a:r>
              <a:rPr kumimoji="1" lang="ko-KR" altLang="en-US" sz="11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군집 개수</a:t>
            </a:r>
            <a:r>
              <a:rPr kumimoji="1" lang="en-US" altLang="ko-KR" sz="11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(K) </a:t>
            </a:r>
            <a:r>
              <a:rPr kumimoji="1" lang="ko-KR" altLang="en-US" sz="11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설정 및 최적화</a:t>
            </a:r>
            <a:endParaRPr kumimoji="1" lang="en-US" altLang="ko-KR" sz="1100" b="1" dirty="0">
              <a:ln w="12700">
                <a:solidFill>
                  <a:schemeClr val="tx1">
                    <a:alpha val="500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a시월구일1" panose="02020600000000000000" pitchFamily="18" charset="-127"/>
              <a:ea typeface="a시월구일1" panose="02020600000000000000" pitchFamily="18" charset="-127"/>
              <a:cs typeface="Pretendard" panose="02000503000000020004" pitchFamily="2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A00C352-1EAC-5C70-7BA1-60A87B02792F}"/>
              </a:ext>
            </a:extLst>
          </p:cNvPr>
          <p:cNvSpPr/>
          <p:nvPr/>
        </p:nvSpPr>
        <p:spPr>
          <a:xfrm>
            <a:off x="5998464" y="930740"/>
            <a:ext cx="6339840" cy="57680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수정전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894827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1454</TotalTime>
  <Words>539</Words>
  <Application>Microsoft Office PowerPoint</Application>
  <PresentationFormat>와이드스크린</PresentationFormat>
  <Paragraphs>122</Paragraphs>
  <Slides>7</Slides>
  <Notes>0</Notes>
  <HiddenSlides>1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4" baseType="lpstr">
      <vt:lpstr>a말머리3</vt:lpstr>
      <vt:lpstr>a시월구일1</vt:lpstr>
      <vt:lpstr>a시월구일3</vt:lpstr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성욱 진</dc:creator>
  <cp:lastModifiedBy>성욱 진</cp:lastModifiedBy>
  <cp:revision>36</cp:revision>
  <dcterms:created xsi:type="dcterms:W3CDTF">2026-03-15T03:06:37Z</dcterms:created>
  <dcterms:modified xsi:type="dcterms:W3CDTF">2026-03-19T05:52:40Z</dcterms:modified>
</cp:coreProperties>
</file>